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4680565-DCD9-0106-D897-F5117AFBBF73}">
          <p14:sldIdLst>
            <p14:sldId id="256"/>
          </p14:sldIdLst>
        </p14:section>
        <p14:section name="Problem" id="{AA8C45D0-8959-4337-2D48-882C0634B60F}">
          <p14:sldIdLst>
            <p14:sldId id="257"/>
          </p14:sldIdLst>
        </p14:section>
        <p14:section name="Need" id="{986B706D-BF22-CC04-4D89-45E9072DE3C0}">
          <p14:sldIdLst>
            <p14:sldId id="258"/>
          </p14:sldIdLst>
        </p14:section>
        <p14:section name="Why Quadruped" id="{3EA4185A-BCFA-4177-49BA-826DCA8562B7}">
          <p14:sldIdLst>
            <p14:sldId id="259"/>
          </p14:sldIdLst>
        </p14:section>
        <p14:section name="Technical Design" id="{6EA5EB59-E9D7-E29B-5D0C-BBD2956DCDD8}">
          <p14:sldIdLst>
            <p14:sldId id="260"/>
            <p14:sldId id="261"/>
            <p14:sldId id="262"/>
            <p14:sldId id="263"/>
          </p14:sldIdLst>
        </p14:section>
        <p14:section name="Working Prototype" id="{79BDD3CD-BF20-2317-1271-0B4F01093574}">
          <p14:sldIdLst>
            <p14:sldId id="264"/>
            <p14:sldId id="265"/>
          </p14:sldIdLst>
        </p14:section>
        <p14:section name="Purposeful Upgrade" id="{C1C81944-32E2-7153-303B-CED878865687}">
          <p14:sldIdLst>
            <p14:sldId id="266"/>
          </p14:sldIdLst>
        </p14:section>
        <p14:section name="Applications" id="{FE2BAD8A-4F90-B75D-D473-31309F85E5FE}">
          <p14:sldIdLst>
            <p14:sldId id="267"/>
          </p14:sldIdLst>
        </p14:section>
        <p14:section name="Feasibility" id="{BB302051-E10A-39C5-D7D3-F144BD52C46F}">
          <p14:sldIdLst>
            <p14:sldId id="268"/>
          </p14:sldIdLst>
        </p14:section>
        <p14:section name="Roadmap" id="{A0372B1E-29E3-008E-1655-F2A836433CE9}">
          <p14:sldIdLst>
            <p14:sldId id="269"/>
          </p14:sldIdLst>
        </p14:section>
        <p14:section name="Closing" id="{460626C1-7AD7-BCBA-B046-19605B01BCE4}">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88" d="100"/>
          <a:sy n="88" d="100"/>
        </p:scale>
        <p:origin x="46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770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ARYAN: Good morning, everyone. We are Team PLUTON from ROBOCLUB, MES Wadia College of Engineering. I am Aryan Pawar.
UNMESHA: And I am Unmesha Dasgude. Today we present PLUTO, also called RoboDog: a 12-servo quadruped robotics platform we built as a serious engineering base for remote inspection. We will show what works today, and clearly mark what we propose next.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ARYAN: Think about spaces where it is risky, slow or impractical for a person to go first: confined industrial areas, damaged infrastructure, sites after an incident.
UNMESHA: In each case the real problem is information. People must decide what to do, but they decide without knowing what is ahead. Sending a person in just to look is often the most costly way to learn.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UNMESHA: What is needed is a way to extend human reach. The robot goes first and reports back.
ARYAN: Our philosophy is strict human-in-the-loop. The operator sends a command, the robot moves, something is observed and information comes back, and then the human decides the next command. The robot never decides for us. Observation and information return are what our proposed upgrades will add.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ARYAN: We want to be honest here. Wheels are simpler, and on smooth ground they are hard to beat.
UNMESHA: Legs trade simplicity for individual foot placement: each foot lands where the controller chooses rather than rolling continuously. For PLUTO that means 12 actuators to coordinate and more to calibrate. We chose it as an engineering challenge and as a base for future rough-ground work, which is a proposal, not something we have demonstrated.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UNMESHA: This is the whole control chain. A voice command is picked up by the VC02 module. It tells the Arduino Uno which routine to run. The Arduino talks over I2C to the PCA9685 servo driver, which drives all 12 servos. Joints move, and the robot performs the action.
ARYAN: Each block has one clear job, which keeps the system understandable and easy to extend.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ARYAN: PLUTO has four legs with three servo-driven joints each, so twelve degrees of freedom in total.
UNMESHA: Any single servo is simple. The difficulty is that every step needs all twelve joints to be at the right position at the right time. That is why our motion routines are stored as joint positions with timing, and why calibration matters. Joint names are still being confirmed by the team.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UNMESHA: The Arduino Uno is the main controller. It holds the motion routines and decides which one to run. We chose it because it is accessible and well understood, which suits a student platform.
ARYAN: The PCA9685 generates the servo signals for up to 16 channels over I2C, so the Arduino does not have to. The VC02 recognises a fixed set of predefined voice commands. It is not conversational, and we do not claim that it 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ARYAN: Walking uses an alternating diagonal gait. Left Front and Right Back move together, then Right Front and Left Back.
UNMESHA: While one diagonal pair swings forward, the other pair is on the ground. The bars show this timing. It is a programmed sequence of joint positions and timing on a controlled surface. It is not an adaptive gait, and we have no balancing or terrain sensing today.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ARYAN: This is the current prototype: four legs, twelve servos, a 3D-printed structure and an Arduino Uno as the controller.
UNMESHA: It performs five programmed routines: stand, sit, walk, bow and handshake. Each is a stored sequence of joint positions and timing. We have not measured speed, payload or battery life, so we do not quote numbers. The dimensions on screen are still to be confirmed.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UNMESHA: Here is the prototype responding to its predefined voice commands.
ARYAN: Watch for the sequence: a command is spoken, the VC02 recognises it, and the robot performs the matching routine. These are programmed motions, not decisions made by the robot. [Play demo video 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ARYAN: Everything on this slide is proposed. None of it is installed today.
UNMESHA: A camera and LED illumination would let the operator see. Proximity sensing and temperature sensing add other readings. A wireless link would carry video and sensor data back. Later, a Raspberry Pi could handle processing, sensor fusion and computer vision. A camera could connect through that link, and the platform is modular so we can add one module at a time.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UNMESHA: These are potential future uses, not current capabilities. Each card names the upgrade it would need.
ARYAN: For example, infrastructure inspection would need the camera and lighting. Environmental monitoring would need temperature sensing and a wireless link. Today PLUTO can do none of these tasks, and we do not claim otherwise.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ARYAN: Feasibility rests on what is true. Locomotion and voice control already work. The upgrades are modular, so we add them one at a time. And because a human stays in the loop, full autonomy is not required.
UNMESHA: The challenges are honest ones: servo power demand, mechanical reliability and calibration, protecting the electronics from the environment, and communication range. We plan to address them phase by phase.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UNMESHA: Phase 1, Mobility and Control, is current: the platform you have just seen.
ARYAN: Phase 2, Sensing and Communication, is proposed: camera, proximity, LED, temperature and a wireless link. Phase 3, Perception and Semi-Autonomy, is future research with a Raspberry Pi. Even then, the human decides.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ARYAN: To close: PLUTO is a working 12-servo quadruped platform, built to extend human reach while the human keeps the decisions.
UNMESHA: Our contribution is not inventing quadruped robotics or voice recognition. It is integrating voice interaction, 12-actuator coordination and embedded control on a modular platform. Next, we plan to build sensing and communication. Thank you. We are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UDL">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6350">
            <a:solidFill>
              <a:srgbClr val="12203A"/>
            </a:solidFill>
            <a:prstDash val="solid"/>
          </a:ln>
        </p:spPr>
      </p:sp>
      <p:sp>
        <p:nvSpPr>
          <p:cNvPr id="3" name="Shape 1"/>
          <p:cNvSpPr/>
          <p:nvPr/>
        </p:nvSpPr>
        <p:spPr>
          <a:xfrm>
            <a:off x="457200" y="0"/>
            <a:ext cx="0" cy="6858000"/>
          </a:xfrm>
          <a:prstGeom prst="line">
            <a:avLst/>
          </a:prstGeom>
          <a:noFill/>
          <a:ln w="6350">
            <a:solidFill>
              <a:srgbClr val="12203A"/>
            </a:solidFill>
            <a:prstDash val="solid"/>
          </a:ln>
        </p:spPr>
      </p:sp>
      <p:sp>
        <p:nvSpPr>
          <p:cNvPr id="4" name="Shape 2"/>
          <p:cNvSpPr/>
          <p:nvPr/>
        </p:nvSpPr>
        <p:spPr>
          <a:xfrm>
            <a:off x="914400" y="0"/>
            <a:ext cx="0" cy="6858000"/>
          </a:xfrm>
          <a:prstGeom prst="line">
            <a:avLst/>
          </a:prstGeom>
          <a:noFill/>
          <a:ln w="6350">
            <a:solidFill>
              <a:srgbClr val="12203A"/>
            </a:solidFill>
            <a:prstDash val="solid"/>
          </a:ln>
        </p:spPr>
      </p:sp>
      <p:sp>
        <p:nvSpPr>
          <p:cNvPr id="5" name="Shape 3"/>
          <p:cNvSpPr/>
          <p:nvPr/>
        </p:nvSpPr>
        <p:spPr>
          <a:xfrm>
            <a:off x="1371600" y="0"/>
            <a:ext cx="0" cy="6858000"/>
          </a:xfrm>
          <a:prstGeom prst="line">
            <a:avLst/>
          </a:prstGeom>
          <a:noFill/>
          <a:ln w="6350">
            <a:solidFill>
              <a:srgbClr val="12203A"/>
            </a:solidFill>
            <a:prstDash val="solid"/>
          </a:ln>
        </p:spPr>
      </p:sp>
      <p:sp>
        <p:nvSpPr>
          <p:cNvPr id="6" name="Shape 4"/>
          <p:cNvSpPr/>
          <p:nvPr/>
        </p:nvSpPr>
        <p:spPr>
          <a:xfrm>
            <a:off x="1828800" y="0"/>
            <a:ext cx="0" cy="6858000"/>
          </a:xfrm>
          <a:prstGeom prst="line">
            <a:avLst/>
          </a:prstGeom>
          <a:noFill/>
          <a:ln w="6350">
            <a:solidFill>
              <a:srgbClr val="12203A"/>
            </a:solidFill>
            <a:prstDash val="solid"/>
          </a:ln>
        </p:spPr>
      </p:sp>
      <p:sp>
        <p:nvSpPr>
          <p:cNvPr id="7" name="Shape 5"/>
          <p:cNvSpPr/>
          <p:nvPr/>
        </p:nvSpPr>
        <p:spPr>
          <a:xfrm>
            <a:off x="2286000" y="0"/>
            <a:ext cx="0" cy="6858000"/>
          </a:xfrm>
          <a:prstGeom prst="line">
            <a:avLst/>
          </a:prstGeom>
          <a:noFill/>
          <a:ln w="6350">
            <a:solidFill>
              <a:srgbClr val="12203A"/>
            </a:solidFill>
            <a:prstDash val="solid"/>
          </a:ln>
        </p:spPr>
      </p:sp>
      <p:sp>
        <p:nvSpPr>
          <p:cNvPr id="8" name="Shape 6"/>
          <p:cNvSpPr/>
          <p:nvPr/>
        </p:nvSpPr>
        <p:spPr>
          <a:xfrm>
            <a:off x="2743200" y="0"/>
            <a:ext cx="0" cy="6858000"/>
          </a:xfrm>
          <a:prstGeom prst="line">
            <a:avLst/>
          </a:prstGeom>
          <a:noFill/>
          <a:ln w="6350">
            <a:solidFill>
              <a:srgbClr val="12203A"/>
            </a:solidFill>
            <a:prstDash val="solid"/>
          </a:ln>
        </p:spPr>
      </p:sp>
      <p:sp>
        <p:nvSpPr>
          <p:cNvPr id="9" name="Shape 7"/>
          <p:cNvSpPr/>
          <p:nvPr/>
        </p:nvSpPr>
        <p:spPr>
          <a:xfrm>
            <a:off x="3200400" y="0"/>
            <a:ext cx="0" cy="6858000"/>
          </a:xfrm>
          <a:prstGeom prst="line">
            <a:avLst/>
          </a:prstGeom>
          <a:noFill/>
          <a:ln w="6350">
            <a:solidFill>
              <a:srgbClr val="12203A"/>
            </a:solidFill>
            <a:prstDash val="solid"/>
          </a:ln>
        </p:spPr>
      </p:sp>
      <p:sp>
        <p:nvSpPr>
          <p:cNvPr id="10" name="Shape 8"/>
          <p:cNvSpPr/>
          <p:nvPr/>
        </p:nvSpPr>
        <p:spPr>
          <a:xfrm>
            <a:off x="3657600" y="0"/>
            <a:ext cx="0" cy="6858000"/>
          </a:xfrm>
          <a:prstGeom prst="line">
            <a:avLst/>
          </a:prstGeom>
          <a:noFill/>
          <a:ln w="6350">
            <a:solidFill>
              <a:srgbClr val="12203A"/>
            </a:solidFill>
            <a:prstDash val="solid"/>
          </a:ln>
        </p:spPr>
      </p:sp>
      <p:sp>
        <p:nvSpPr>
          <p:cNvPr id="11" name="Shape 9"/>
          <p:cNvSpPr/>
          <p:nvPr/>
        </p:nvSpPr>
        <p:spPr>
          <a:xfrm>
            <a:off x="4114800" y="0"/>
            <a:ext cx="0" cy="6858000"/>
          </a:xfrm>
          <a:prstGeom prst="line">
            <a:avLst/>
          </a:prstGeom>
          <a:noFill/>
          <a:ln w="6350">
            <a:solidFill>
              <a:srgbClr val="12203A"/>
            </a:solidFill>
            <a:prstDash val="solid"/>
          </a:ln>
        </p:spPr>
      </p:sp>
      <p:sp>
        <p:nvSpPr>
          <p:cNvPr id="12" name="Shape 10"/>
          <p:cNvSpPr/>
          <p:nvPr/>
        </p:nvSpPr>
        <p:spPr>
          <a:xfrm>
            <a:off x="4572000" y="0"/>
            <a:ext cx="0" cy="6858000"/>
          </a:xfrm>
          <a:prstGeom prst="line">
            <a:avLst/>
          </a:prstGeom>
          <a:noFill/>
          <a:ln w="6350">
            <a:solidFill>
              <a:srgbClr val="12203A"/>
            </a:solidFill>
            <a:prstDash val="solid"/>
          </a:ln>
        </p:spPr>
      </p:sp>
      <p:sp>
        <p:nvSpPr>
          <p:cNvPr id="13" name="Shape 11"/>
          <p:cNvSpPr/>
          <p:nvPr/>
        </p:nvSpPr>
        <p:spPr>
          <a:xfrm>
            <a:off x="5029200" y="0"/>
            <a:ext cx="0" cy="6858000"/>
          </a:xfrm>
          <a:prstGeom prst="line">
            <a:avLst/>
          </a:prstGeom>
          <a:noFill/>
          <a:ln w="6350">
            <a:solidFill>
              <a:srgbClr val="12203A"/>
            </a:solidFill>
            <a:prstDash val="solid"/>
          </a:ln>
        </p:spPr>
      </p:sp>
      <p:sp>
        <p:nvSpPr>
          <p:cNvPr id="14" name="Shape 12"/>
          <p:cNvSpPr/>
          <p:nvPr/>
        </p:nvSpPr>
        <p:spPr>
          <a:xfrm>
            <a:off x="5486400" y="0"/>
            <a:ext cx="0" cy="6858000"/>
          </a:xfrm>
          <a:prstGeom prst="line">
            <a:avLst/>
          </a:prstGeom>
          <a:noFill/>
          <a:ln w="6350">
            <a:solidFill>
              <a:srgbClr val="12203A"/>
            </a:solidFill>
            <a:prstDash val="solid"/>
          </a:ln>
        </p:spPr>
      </p:sp>
      <p:sp>
        <p:nvSpPr>
          <p:cNvPr id="15" name="Shape 13"/>
          <p:cNvSpPr/>
          <p:nvPr/>
        </p:nvSpPr>
        <p:spPr>
          <a:xfrm>
            <a:off x="5943600" y="0"/>
            <a:ext cx="0" cy="6858000"/>
          </a:xfrm>
          <a:prstGeom prst="line">
            <a:avLst/>
          </a:prstGeom>
          <a:noFill/>
          <a:ln w="6350">
            <a:solidFill>
              <a:srgbClr val="12203A"/>
            </a:solidFill>
            <a:prstDash val="solid"/>
          </a:ln>
        </p:spPr>
      </p:sp>
      <p:sp>
        <p:nvSpPr>
          <p:cNvPr id="16" name="Shape 14"/>
          <p:cNvSpPr/>
          <p:nvPr/>
        </p:nvSpPr>
        <p:spPr>
          <a:xfrm>
            <a:off x="6400800" y="0"/>
            <a:ext cx="0" cy="6858000"/>
          </a:xfrm>
          <a:prstGeom prst="line">
            <a:avLst/>
          </a:prstGeom>
          <a:noFill/>
          <a:ln w="6350">
            <a:solidFill>
              <a:srgbClr val="12203A"/>
            </a:solidFill>
            <a:prstDash val="solid"/>
          </a:ln>
        </p:spPr>
      </p:sp>
      <p:sp>
        <p:nvSpPr>
          <p:cNvPr id="17" name="Shape 15"/>
          <p:cNvSpPr/>
          <p:nvPr/>
        </p:nvSpPr>
        <p:spPr>
          <a:xfrm>
            <a:off x="6858000" y="0"/>
            <a:ext cx="0" cy="6858000"/>
          </a:xfrm>
          <a:prstGeom prst="line">
            <a:avLst/>
          </a:prstGeom>
          <a:noFill/>
          <a:ln w="6350">
            <a:solidFill>
              <a:srgbClr val="12203A"/>
            </a:solidFill>
            <a:prstDash val="solid"/>
          </a:ln>
        </p:spPr>
      </p:sp>
      <p:sp>
        <p:nvSpPr>
          <p:cNvPr id="18" name="Shape 16"/>
          <p:cNvSpPr/>
          <p:nvPr/>
        </p:nvSpPr>
        <p:spPr>
          <a:xfrm>
            <a:off x="7315200" y="0"/>
            <a:ext cx="0" cy="6858000"/>
          </a:xfrm>
          <a:prstGeom prst="line">
            <a:avLst/>
          </a:prstGeom>
          <a:noFill/>
          <a:ln w="6350">
            <a:solidFill>
              <a:srgbClr val="12203A"/>
            </a:solidFill>
            <a:prstDash val="solid"/>
          </a:ln>
        </p:spPr>
      </p:sp>
      <p:sp>
        <p:nvSpPr>
          <p:cNvPr id="19" name="Shape 17"/>
          <p:cNvSpPr/>
          <p:nvPr/>
        </p:nvSpPr>
        <p:spPr>
          <a:xfrm>
            <a:off x="7772400" y="0"/>
            <a:ext cx="0" cy="6858000"/>
          </a:xfrm>
          <a:prstGeom prst="line">
            <a:avLst/>
          </a:prstGeom>
          <a:noFill/>
          <a:ln w="6350">
            <a:solidFill>
              <a:srgbClr val="12203A"/>
            </a:solidFill>
            <a:prstDash val="solid"/>
          </a:ln>
        </p:spPr>
      </p:sp>
      <p:sp>
        <p:nvSpPr>
          <p:cNvPr id="20" name="Shape 18"/>
          <p:cNvSpPr/>
          <p:nvPr/>
        </p:nvSpPr>
        <p:spPr>
          <a:xfrm>
            <a:off x="8229600" y="0"/>
            <a:ext cx="0" cy="6858000"/>
          </a:xfrm>
          <a:prstGeom prst="line">
            <a:avLst/>
          </a:prstGeom>
          <a:noFill/>
          <a:ln w="6350">
            <a:solidFill>
              <a:srgbClr val="12203A"/>
            </a:solidFill>
            <a:prstDash val="solid"/>
          </a:ln>
        </p:spPr>
      </p:sp>
      <p:sp>
        <p:nvSpPr>
          <p:cNvPr id="21" name="Shape 19"/>
          <p:cNvSpPr/>
          <p:nvPr/>
        </p:nvSpPr>
        <p:spPr>
          <a:xfrm>
            <a:off x="8686800" y="0"/>
            <a:ext cx="0" cy="6858000"/>
          </a:xfrm>
          <a:prstGeom prst="line">
            <a:avLst/>
          </a:prstGeom>
          <a:noFill/>
          <a:ln w="6350">
            <a:solidFill>
              <a:srgbClr val="12203A"/>
            </a:solidFill>
            <a:prstDash val="solid"/>
          </a:ln>
        </p:spPr>
      </p:sp>
      <p:sp>
        <p:nvSpPr>
          <p:cNvPr id="22" name="Shape 20"/>
          <p:cNvSpPr/>
          <p:nvPr/>
        </p:nvSpPr>
        <p:spPr>
          <a:xfrm>
            <a:off x="9144000" y="0"/>
            <a:ext cx="0" cy="6858000"/>
          </a:xfrm>
          <a:prstGeom prst="line">
            <a:avLst/>
          </a:prstGeom>
          <a:noFill/>
          <a:ln w="6350">
            <a:solidFill>
              <a:srgbClr val="12203A"/>
            </a:solidFill>
            <a:prstDash val="solid"/>
          </a:ln>
        </p:spPr>
      </p:sp>
      <p:sp>
        <p:nvSpPr>
          <p:cNvPr id="23" name="Shape 21"/>
          <p:cNvSpPr/>
          <p:nvPr/>
        </p:nvSpPr>
        <p:spPr>
          <a:xfrm>
            <a:off x="9601200" y="0"/>
            <a:ext cx="0" cy="6858000"/>
          </a:xfrm>
          <a:prstGeom prst="line">
            <a:avLst/>
          </a:prstGeom>
          <a:noFill/>
          <a:ln w="6350">
            <a:solidFill>
              <a:srgbClr val="12203A"/>
            </a:solidFill>
            <a:prstDash val="solid"/>
          </a:ln>
        </p:spPr>
      </p:sp>
      <p:sp>
        <p:nvSpPr>
          <p:cNvPr id="24" name="Shape 22"/>
          <p:cNvSpPr/>
          <p:nvPr/>
        </p:nvSpPr>
        <p:spPr>
          <a:xfrm>
            <a:off x="10058400" y="0"/>
            <a:ext cx="0" cy="6858000"/>
          </a:xfrm>
          <a:prstGeom prst="line">
            <a:avLst/>
          </a:prstGeom>
          <a:noFill/>
          <a:ln w="6350">
            <a:solidFill>
              <a:srgbClr val="12203A"/>
            </a:solidFill>
            <a:prstDash val="solid"/>
          </a:ln>
        </p:spPr>
      </p:sp>
      <p:sp>
        <p:nvSpPr>
          <p:cNvPr id="25" name="Shape 23"/>
          <p:cNvSpPr/>
          <p:nvPr/>
        </p:nvSpPr>
        <p:spPr>
          <a:xfrm>
            <a:off x="10515600" y="0"/>
            <a:ext cx="0" cy="6858000"/>
          </a:xfrm>
          <a:prstGeom prst="line">
            <a:avLst/>
          </a:prstGeom>
          <a:noFill/>
          <a:ln w="6350">
            <a:solidFill>
              <a:srgbClr val="12203A"/>
            </a:solidFill>
            <a:prstDash val="solid"/>
          </a:ln>
        </p:spPr>
      </p:sp>
      <p:sp>
        <p:nvSpPr>
          <p:cNvPr id="26" name="Shape 24"/>
          <p:cNvSpPr/>
          <p:nvPr/>
        </p:nvSpPr>
        <p:spPr>
          <a:xfrm>
            <a:off x="10972800" y="0"/>
            <a:ext cx="0" cy="6858000"/>
          </a:xfrm>
          <a:prstGeom prst="line">
            <a:avLst/>
          </a:prstGeom>
          <a:noFill/>
          <a:ln w="6350">
            <a:solidFill>
              <a:srgbClr val="12203A"/>
            </a:solidFill>
            <a:prstDash val="solid"/>
          </a:ln>
        </p:spPr>
      </p:sp>
      <p:sp>
        <p:nvSpPr>
          <p:cNvPr id="27" name="Shape 25"/>
          <p:cNvSpPr/>
          <p:nvPr/>
        </p:nvSpPr>
        <p:spPr>
          <a:xfrm>
            <a:off x="11430000" y="0"/>
            <a:ext cx="0" cy="6858000"/>
          </a:xfrm>
          <a:prstGeom prst="line">
            <a:avLst/>
          </a:prstGeom>
          <a:noFill/>
          <a:ln w="6350">
            <a:solidFill>
              <a:srgbClr val="12203A"/>
            </a:solidFill>
            <a:prstDash val="solid"/>
          </a:ln>
        </p:spPr>
      </p:sp>
      <p:sp>
        <p:nvSpPr>
          <p:cNvPr id="28" name="Shape 26"/>
          <p:cNvSpPr/>
          <p:nvPr/>
        </p:nvSpPr>
        <p:spPr>
          <a:xfrm>
            <a:off x="11887200" y="0"/>
            <a:ext cx="0" cy="6858000"/>
          </a:xfrm>
          <a:prstGeom prst="line">
            <a:avLst/>
          </a:prstGeom>
          <a:noFill/>
          <a:ln w="6350">
            <a:solidFill>
              <a:srgbClr val="12203A"/>
            </a:solidFill>
            <a:prstDash val="solid"/>
          </a:ln>
        </p:spPr>
      </p:sp>
      <p:sp>
        <p:nvSpPr>
          <p:cNvPr id="29" name="Shape 27"/>
          <p:cNvSpPr/>
          <p:nvPr/>
        </p:nvSpPr>
        <p:spPr>
          <a:xfrm>
            <a:off x="0" y="0"/>
            <a:ext cx="12188952" cy="0"/>
          </a:xfrm>
          <a:prstGeom prst="line">
            <a:avLst/>
          </a:prstGeom>
          <a:noFill/>
          <a:ln w="6350">
            <a:solidFill>
              <a:srgbClr val="12203A"/>
            </a:solidFill>
            <a:prstDash val="solid"/>
          </a:ln>
        </p:spPr>
      </p:sp>
      <p:sp>
        <p:nvSpPr>
          <p:cNvPr id="30" name="Shape 28"/>
          <p:cNvSpPr/>
          <p:nvPr/>
        </p:nvSpPr>
        <p:spPr>
          <a:xfrm>
            <a:off x="0" y="457200"/>
            <a:ext cx="12188952" cy="0"/>
          </a:xfrm>
          <a:prstGeom prst="line">
            <a:avLst/>
          </a:prstGeom>
          <a:noFill/>
          <a:ln w="6350">
            <a:solidFill>
              <a:srgbClr val="12203A"/>
            </a:solidFill>
            <a:prstDash val="solid"/>
          </a:ln>
        </p:spPr>
      </p:sp>
      <p:sp>
        <p:nvSpPr>
          <p:cNvPr id="31" name="Shape 29"/>
          <p:cNvSpPr/>
          <p:nvPr/>
        </p:nvSpPr>
        <p:spPr>
          <a:xfrm>
            <a:off x="0" y="914400"/>
            <a:ext cx="12188952" cy="0"/>
          </a:xfrm>
          <a:prstGeom prst="line">
            <a:avLst/>
          </a:prstGeom>
          <a:noFill/>
          <a:ln w="6350">
            <a:solidFill>
              <a:srgbClr val="12203A"/>
            </a:solidFill>
            <a:prstDash val="solid"/>
          </a:ln>
        </p:spPr>
      </p:sp>
      <p:sp>
        <p:nvSpPr>
          <p:cNvPr id="32" name="Shape 30"/>
          <p:cNvSpPr/>
          <p:nvPr/>
        </p:nvSpPr>
        <p:spPr>
          <a:xfrm>
            <a:off x="0" y="1371600"/>
            <a:ext cx="12188952" cy="0"/>
          </a:xfrm>
          <a:prstGeom prst="line">
            <a:avLst/>
          </a:prstGeom>
          <a:noFill/>
          <a:ln w="6350">
            <a:solidFill>
              <a:srgbClr val="12203A"/>
            </a:solidFill>
            <a:prstDash val="solid"/>
          </a:ln>
        </p:spPr>
      </p:sp>
      <p:sp>
        <p:nvSpPr>
          <p:cNvPr id="33" name="Shape 31"/>
          <p:cNvSpPr/>
          <p:nvPr/>
        </p:nvSpPr>
        <p:spPr>
          <a:xfrm>
            <a:off x="0" y="1828800"/>
            <a:ext cx="12188952" cy="0"/>
          </a:xfrm>
          <a:prstGeom prst="line">
            <a:avLst/>
          </a:prstGeom>
          <a:noFill/>
          <a:ln w="6350">
            <a:solidFill>
              <a:srgbClr val="12203A"/>
            </a:solidFill>
            <a:prstDash val="solid"/>
          </a:ln>
        </p:spPr>
      </p:sp>
      <p:sp>
        <p:nvSpPr>
          <p:cNvPr id="34" name="Shape 32"/>
          <p:cNvSpPr/>
          <p:nvPr/>
        </p:nvSpPr>
        <p:spPr>
          <a:xfrm>
            <a:off x="0" y="2286000"/>
            <a:ext cx="12188952" cy="0"/>
          </a:xfrm>
          <a:prstGeom prst="line">
            <a:avLst/>
          </a:prstGeom>
          <a:noFill/>
          <a:ln w="6350">
            <a:solidFill>
              <a:srgbClr val="12203A"/>
            </a:solidFill>
            <a:prstDash val="solid"/>
          </a:ln>
        </p:spPr>
      </p:sp>
      <p:sp>
        <p:nvSpPr>
          <p:cNvPr id="35" name="Shape 33"/>
          <p:cNvSpPr/>
          <p:nvPr/>
        </p:nvSpPr>
        <p:spPr>
          <a:xfrm>
            <a:off x="0" y="2743200"/>
            <a:ext cx="12188952" cy="0"/>
          </a:xfrm>
          <a:prstGeom prst="line">
            <a:avLst/>
          </a:prstGeom>
          <a:noFill/>
          <a:ln w="6350">
            <a:solidFill>
              <a:srgbClr val="12203A"/>
            </a:solidFill>
            <a:prstDash val="solid"/>
          </a:ln>
        </p:spPr>
      </p:sp>
      <p:sp>
        <p:nvSpPr>
          <p:cNvPr id="36" name="Shape 34"/>
          <p:cNvSpPr/>
          <p:nvPr/>
        </p:nvSpPr>
        <p:spPr>
          <a:xfrm>
            <a:off x="0" y="3200400"/>
            <a:ext cx="12188952" cy="0"/>
          </a:xfrm>
          <a:prstGeom prst="line">
            <a:avLst/>
          </a:prstGeom>
          <a:noFill/>
          <a:ln w="6350">
            <a:solidFill>
              <a:srgbClr val="12203A"/>
            </a:solidFill>
            <a:prstDash val="solid"/>
          </a:ln>
        </p:spPr>
      </p:sp>
      <p:sp>
        <p:nvSpPr>
          <p:cNvPr id="37" name="Shape 35"/>
          <p:cNvSpPr/>
          <p:nvPr/>
        </p:nvSpPr>
        <p:spPr>
          <a:xfrm>
            <a:off x="0" y="3657600"/>
            <a:ext cx="12188952" cy="0"/>
          </a:xfrm>
          <a:prstGeom prst="line">
            <a:avLst/>
          </a:prstGeom>
          <a:noFill/>
          <a:ln w="6350">
            <a:solidFill>
              <a:srgbClr val="12203A"/>
            </a:solidFill>
            <a:prstDash val="solid"/>
          </a:ln>
        </p:spPr>
      </p:sp>
      <p:sp>
        <p:nvSpPr>
          <p:cNvPr id="38" name="Shape 36"/>
          <p:cNvSpPr/>
          <p:nvPr/>
        </p:nvSpPr>
        <p:spPr>
          <a:xfrm>
            <a:off x="0" y="4114800"/>
            <a:ext cx="12188952" cy="0"/>
          </a:xfrm>
          <a:prstGeom prst="line">
            <a:avLst/>
          </a:prstGeom>
          <a:noFill/>
          <a:ln w="6350">
            <a:solidFill>
              <a:srgbClr val="12203A"/>
            </a:solidFill>
            <a:prstDash val="solid"/>
          </a:ln>
        </p:spPr>
      </p:sp>
      <p:sp>
        <p:nvSpPr>
          <p:cNvPr id="39" name="Shape 37"/>
          <p:cNvSpPr/>
          <p:nvPr/>
        </p:nvSpPr>
        <p:spPr>
          <a:xfrm>
            <a:off x="0" y="4572000"/>
            <a:ext cx="12188952" cy="0"/>
          </a:xfrm>
          <a:prstGeom prst="line">
            <a:avLst/>
          </a:prstGeom>
          <a:noFill/>
          <a:ln w="6350">
            <a:solidFill>
              <a:srgbClr val="12203A"/>
            </a:solidFill>
            <a:prstDash val="solid"/>
          </a:ln>
        </p:spPr>
      </p:sp>
      <p:sp>
        <p:nvSpPr>
          <p:cNvPr id="40" name="Shape 38"/>
          <p:cNvSpPr/>
          <p:nvPr/>
        </p:nvSpPr>
        <p:spPr>
          <a:xfrm>
            <a:off x="0" y="5029200"/>
            <a:ext cx="12188952" cy="0"/>
          </a:xfrm>
          <a:prstGeom prst="line">
            <a:avLst/>
          </a:prstGeom>
          <a:noFill/>
          <a:ln w="6350">
            <a:solidFill>
              <a:srgbClr val="12203A"/>
            </a:solidFill>
            <a:prstDash val="solid"/>
          </a:ln>
        </p:spPr>
      </p:sp>
      <p:sp>
        <p:nvSpPr>
          <p:cNvPr id="41" name="Shape 39"/>
          <p:cNvSpPr/>
          <p:nvPr/>
        </p:nvSpPr>
        <p:spPr>
          <a:xfrm>
            <a:off x="0" y="5486400"/>
            <a:ext cx="12188952" cy="0"/>
          </a:xfrm>
          <a:prstGeom prst="line">
            <a:avLst/>
          </a:prstGeom>
          <a:noFill/>
          <a:ln w="6350">
            <a:solidFill>
              <a:srgbClr val="12203A"/>
            </a:solidFill>
            <a:prstDash val="solid"/>
          </a:ln>
        </p:spPr>
      </p:sp>
      <p:sp>
        <p:nvSpPr>
          <p:cNvPr id="42" name="Shape 40"/>
          <p:cNvSpPr/>
          <p:nvPr/>
        </p:nvSpPr>
        <p:spPr>
          <a:xfrm>
            <a:off x="0" y="5943600"/>
            <a:ext cx="12188952" cy="0"/>
          </a:xfrm>
          <a:prstGeom prst="line">
            <a:avLst/>
          </a:prstGeom>
          <a:noFill/>
          <a:ln w="6350">
            <a:solidFill>
              <a:srgbClr val="12203A"/>
            </a:solidFill>
            <a:prstDash val="solid"/>
          </a:ln>
        </p:spPr>
      </p:sp>
      <p:sp>
        <p:nvSpPr>
          <p:cNvPr id="43" name="Shape 41"/>
          <p:cNvSpPr/>
          <p:nvPr/>
        </p:nvSpPr>
        <p:spPr>
          <a:xfrm>
            <a:off x="0" y="6400800"/>
            <a:ext cx="12188952" cy="0"/>
          </a:xfrm>
          <a:prstGeom prst="line">
            <a:avLst/>
          </a:prstGeom>
          <a:noFill/>
          <a:ln w="6350">
            <a:solidFill>
              <a:srgbClr val="12203A"/>
            </a:solidFill>
            <a:prstDash val="solid"/>
          </a:ln>
        </p:spPr>
      </p:sp>
      <p:sp>
        <p:nvSpPr>
          <p:cNvPr id="44" name="Shape 42"/>
          <p:cNvSpPr/>
          <p:nvPr/>
        </p:nvSpPr>
        <p:spPr>
          <a:xfrm>
            <a:off x="0" y="6858000"/>
            <a:ext cx="12188952" cy="0"/>
          </a:xfrm>
          <a:prstGeom prst="line">
            <a:avLst/>
          </a:prstGeom>
          <a:noFill/>
          <a:ln w="6350">
            <a:solidFill>
              <a:srgbClr val="12203A"/>
            </a:solidFill>
            <a:prstDash val="solid"/>
          </a:ln>
        </p:spPr>
      </p:sp>
      <p:sp>
        <p:nvSpPr>
          <p:cNvPr id="45" name="Shape 43"/>
          <p:cNvSpPr/>
          <p:nvPr/>
        </p:nvSpPr>
        <p:spPr>
          <a:xfrm>
            <a:off x="548640" y="6400800"/>
            <a:ext cx="11091672" cy="0"/>
          </a:xfrm>
          <a:prstGeom prst="line">
            <a:avLst/>
          </a:prstGeom>
          <a:noFill/>
          <a:ln w="9525">
            <a:solidFill>
              <a:srgbClr val="2EA8FF"/>
            </a:solidFill>
            <a:prstDash val="solid"/>
          </a:ln>
        </p:spPr>
      </p:sp>
      <p:sp>
        <p:nvSpPr>
          <p:cNvPr id="46" name="Shape 44"/>
          <p:cNvSpPr/>
          <p:nvPr/>
        </p:nvSpPr>
        <p:spPr>
          <a:xfrm>
            <a:off x="4434840" y="548640"/>
            <a:ext cx="0" cy="5669280"/>
          </a:xfrm>
          <a:prstGeom prst="line">
            <a:avLst/>
          </a:prstGeom>
          <a:noFill/>
          <a:ln w="12700">
            <a:solidFill>
              <a:srgbClr val="1D3552"/>
            </a:solidFill>
            <a:prstDash val="solid"/>
          </a:ln>
        </p:spPr>
      </p:sp>
      <p:sp>
        <p:nvSpPr>
          <p:cNvPr id="47" name="Text 45"/>
          <p:cNvSpPr/>
          <p:nvPr/>
        </p:nvSpPr>
        <p:spPr>
          <a:xfrm>
            <a:off x="548640" y="6446520"/>
            <a:ext cx="8229600" cy="274320"/>
          </a:xfrm>
          <a:prstGeom prst="rect">
            <a:avLst/>
          </a:prstGeom>
          <a:noFill/>
          <a:ln/>
        </p:spPr>
        <p:txBody>
          <a:bodyPr wrap="square" lIns="0" tIns="0" rIns="0" bIns="0" rtlCol="0" anchor="ctr"/>
          <a:lstStyle/>
          <a:p>
            <a:pPr marL="0" indent="0">
              <a:buNone/>
            </a:pPr>
            <a:r>
              <a:rPr lang="en-US" sz="900" kern="0" spc="200" dirty="0">
                <a:solidFill>
                  <a:srgbClr val="8FA3BC"/>
                </a:solidFill>
              </a:rPr>
              <a:t>PLUTO  /  ROBODOG   ·   TEAM PLUTON   ·   ROBOCLUB, MES WADIA COLLEGE OF ENGINEERING</a:t>
            </a:r>
            <a:endParaRPr lang="en-US" sz="900" dirty="0"/>
          </a:p>
        </p:txBody>
      </p:sp>
      <p:sp>
        <p:nvSpPr>
          <p:cNvPr id="48" name="Text 46"/>
          <p:cNvSpPr>
            <a:spLocks noGrp="1"/>
          </p:cNvSpPr>
          <p:nvPr>
            <p:ph type="body" idx="146" hasCustomPrompt="1"/>
          </p:nvPr>
        </p:nvSpPr>
        <p:spPr>
          <a:xfrm>
            <a:off x="548640" y="457200"/>
            <a:ext cx="3657600" cy="274320"/>
          </a:xfrm>
          <a:prstGeom prst="rect">
            <a:avLst/>
          </a:prstGeom>
          <a:noFill/>
          <a:ln/>
        </p:spPr>
        <p:txBody>
          <a:bodyPr wrap="square" rtlCol="0"/>
          <a:lstStyle>
            <a:lvl1pPr marL="0" indent="0">
              <a:buNone/>
              <a:defRPr lang="en-US" sz="1100" b="1" kern="0" spc="400" dirty="0">
                <a:solidFill>
                  <a:srgbClr val="2EA8FF"/>
                </a:solidFill>
                <a:latin typeface="Calibri" pitchFamily="34" charset="0"/>
                <a:ea typeface="Calibri" pitchFamily="34" charset="-122"/>
                <a:cs typeface="Calibri" pitchFamily="34" charset="-120"/>
              </a:defRPr>
            </a:lvl1pPr>
          </a:lstStyle>
          <a:p>
            <a:pPr marL="0" indent="0">
              <a:buNone/>
            </a:pPr>
            <a:endParaRPr lang="en-US" sz="1100" dirty="0"/>
          </a:p>
        </p:txBody>
      </p:sp>
      <p:sp>
        <p:nvSpPr>
          <p:cNvPr id="49" name="Text 46"/>
          <p:cNvSpPr>
            <a:spLocks noGrp="1"/>
          </p:cNvSpPr>
          <p:nvPr>
            <p:ph type="title" idx="147" hasCustomPrompt="1"/>
          </p:nvPr>
        </p:nvSpPr>
        <p:spPr>
          <a:xfrm>
            <a:off x="548640" y="777240"/>
            <a:ext cx="3749040" cy="1463040"/>
          </a:xfrm>
          <a:prstGeom prst="rect">
            <a:avLst/>
          </a:prstGeom>
          <a:noFill/>
          <a:ln/>
        </p:spPr>
        <p:txBody>
          <a:bodyPr wrap="square" rtlCol="0"/>
          <a:lstStyle>
            <a:lvl1pPr marL="0" indent="0" algn="l">
              <a:buNone/>
              <a:defRPr lang="en-US" sz="3000" b="1" kern="0" spc="100" dirty="0">
                <a:solidFill>
                  <a:srgbClr val="E6EEF8"/>
                </a:solidFill>
              </a:defRPr>
            </a:lvl1pPr>
          </a:lstStyle>
          <a:p>
            <a:pPr marL="0" indent="0" algn="l">
              <a:buNone/>
            </a:pPr>
            <a:endParaRPr lang="en-US" sz="3000" dirty="0"/>
          </a:p>
        </p:txBody>
      </p:sp>
      <p:sp>
        <p:nvSpPr>
          <p:cNvPr id="50" name="Text 46"/>
          <p:cNvSpPr>
            <a:spLocks noGrp="1"/>
          </p:cNvSpPr>
          <p:nvPr>
            <p:ph type="body" idx="148" hasCustomPrompt="1"/>
          </p:nvPr>
        </p:nvSpPr>
        <p:spPr>
          <a:xfrm>
            <a:off x="548640" y="2377440"/>
            <a:ext cx="3657600" cy="868680"/>
          </a:xfrm>
          <a:prstGeom prst="rect">
            <a:avLst/>
          </a:prstGeom>
          <a:noFill/>
          <a:ln/>
        </p:spPr>
        <p:txBody>
          <a:bodyPr wrap="square" rtlCol="0"/>
          <a:lstStyle>
            <a:lvl1pPr marL="0" indent="0">
              <a:buNone/>
              <a:defRPr lang="en-US" sz="1400" b="1" dirty="0">
                <a:solidFill>
                  <a:srgbClr val="2EA8FF"/>
                </a:solidFill>
                <a:latin typeface="Calibri" pitchFamily="34" charset="0"/>
                <a:ea typeface="Calibri" pitchFamily="34" charset="-122"/>
                <a:cs typeface="Calibri" pitchFamily="34" charset="-120"/>
              </a:defRPr>
            </a:lvl1pPr>
          </a:lstStyle>
          <a:p>
            <a:pPr marL="0" indent="0">
              <a:buNone/>
            </a:pPr>
            <a:endParaRPr lang="en-US" sz="1400" dirty="0"/>
          </a:p>
        </p:txBody>
      </p:sp>
      <p:sp>
        <p:nvSpPr>
          <p:cNvPr id="51" name="Text 46"/>
          <p:cNvSpPr>
            <a:spLocks noGrp="1"/>
          </p:cNvSpPr>
          <p:nvPr>
            <p:ph type="body" idx="149" hasCustomPrompt="1"/>
          </p:nvPr>
        </p:nvSpPr>
        <p:spPr>
          <a:xfrm>
            <a:off x="548640" y="3337560"/>
            <a:ext cx="3657600" cy="2834640"/>
          </a:xfrm>
          <a:prstGeom prst="rect">
            <a:avLst/>
          </a:prstGeom>
          <a:noFill/>
          <a:ln/>
        </p:spPr>
        <p:txBody>
          <a:bodyPr wrap="square" rtlCol="0"/>
          <a:lstStyle>
            <a:lvl1pPr marL="0" indent="0">
              <a:buNone/>
              <a:defRPr lang="en-US" sz="1300" dirty="0">
                <a:solidFill>
                  <a:srgbClr val="8FA3BC"/>
                </a:solidFill>
                <a:latin typeface="Calibri" pitchFamily="34" charset="0"/>
                <a:ea typeface="Calibri" pitchFamily="34" charset="-122"/>
                <a:cs typeface="Calibri" pitchFamily="34" charset="-120"/>
              </a:defRPr>
            </a:lvl1pPr>
          </a:lstStyle>
          <a:p>
            <a:pPr marL="0" indent="0">
              <a:buNone/>
            </a:pPr>
            <a:endParaRPr lang="en-US" sz="1300" dirty="0"/>
          </a:p>
        </p:txBody>
      </p:sp>
      <p:sp>
        <p:nvSpPr>
          <p:cNvPr id="52"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UDTITLE">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6350">
            <a:solidFill>
              <a:srgbClr val="12203A"/>
            </a:solidFill>
            <a:prstDash val="solid"/>
          </a:ln>
        </p:spPr>
      </p:sp>
      <p:sp>
        <p:nvSpPr>
          <p:cNvPr id="3" name="Shape 1"/>
          <p:cNvSpPr/>
          <p:nvPr/>
        </p:nvSpPr>
        <p:spPr>
          <a:xfrm>
            <a:off x="457200" y="0"/>
            <a:ext cx="0" cy="6858000"/>
          </a:xfrm>
          <a:prstGeom prst="line">
            <a:avLst/>
          </a:prstGeom>
          <a:noFill/>
          <a:ln w="6350">
            <a:solidFill>
              <a:srgbClr val="12203A"/>
            </a:solidFill>
            <a:prstDash val="solid"/>
          </a:ln>
        </p:spPr>
      </p:sp>
      <p:sp>
        <p:nvSpPr>
          <p:cNvPr id="4" name="Shape 2"/>
          <p:cNvSpPr/>
          <p:nvPr/>
        </p:nvSpPr>
        <p:spPr>
          <a:xfrm>
            <a:off x="914400" y="0"/>
            <a:ext cx="0" cy="6858000"/>
          </a:xfrm>
          <a:prstGeom prst="line">
            <a:avLst/>
          </a:prstGeom>
          <a:noFill/>
          <a:ln w="6350">
            <a:solidFill>
              <a:srgbClr val="12203A"/>
            </a:solidFill>
            <a:prstDash val="solid"/>
          </a:ln>
        </p:spPr>
      </p:sp>
      <p:sp>
        <p:nvSpPr>
          <p:cNvPr id="5" name="Shape 3"/>
          <p:cNvSpPr/>
          <p:nvPr/>
        </p:nvSpPr>
        <p:spPr>
          <a:xfrm>
            <a:off x="1371600" y="0"/>
            <a:ext cx="0" cy="6858000"/>
          </a:xfrm>
          <a:prstGeom prst="line">
            <a:avLst/>
          </a:prstGeom>
          <a:noFill/>
          <a:ln w="6350">
            <a:solidFill>
              <a:srgbClr val="12203A"/>
            </a:solidFill>
            <a:prstDash val="solid"/>
          </a:ln>
        </p:spPr>
      </p:sp>
      <p:sp>
        <p:nvSpPr>
          <p:cNvPr id="6" name="Shape 4"/>
          <p:cNvSpPr/>
          <p:nvPr/>
        </p:nvSpPr>
        <p:spPr>
          <a:xfrm>
            <a:off x="1828800" y="0"/>
            <a:ext cx="0" cy="6858000"/>
          </a:xfrm>
          <a:prstGeom prst="line">
            <a:avLst/>
          </a:prstGeom>
          <a:noFill/>
          <a:ln w="6350">
            <a:solidFill>
              <a:srgbClr val="12203A"/>
            </a:solidFill>
            <a:prstDash val="solid"/>
          </a:ln>
        </p:spPr>
      </p:sp>
      <p:sp>
        <p:nvSpPr>
          <p:cNvPr id="7" name="Shape 5"/>
          <p:cNvSpPr/>
          <p:nvPr/>
        </p:nvSpPr>
        <p:spPr>
          <a:xfrm>
            <a:off x="2286000" y="0"/>
            <a:ext cx="0" cy="6858000"/>
          </a:xfrm>
          <a:prstGeom prst="line">
            <a:avLst/>
          </a:prstGeom>
          <a:noFill/>
          <a:ln w="6350">
            <a:solidFill>
              <a:srgbClr val="12203A"/>
            </a:solidFill>
            <a:prstDash val="solid"/>
          </a:ln>
        </p:spPr>
      </p:sp>
      <p:sp>
        <p:nvSpPr>
          <p:cNvPr id="8" name="Shape 6"/>
          <p:cNvSpPr/>
          <p:nvPr/>
        </p:nvSpPr>
        <p:spPr>
          <a:xfrm>
            <a:off x="2743200" y="0"/>
            <a:ext cx="0" cy="6858000"/>
          </a:xfrm>
          <a:prstGeom prst="line">
            <a:avLst/>
          </a:prstGeom>
          <a:noFill/>
          <a:ln w="6350">
            <a:solidFill>
              <a:srgbClr val="12203A"/>
            </a:solidFill>
            <a:prstDash val="solid"/>
          </a:ln>
        </p:spPr>
      </p:sp>
      <p:sp>
        <p:nvSpPr>
          <p:cNvPr id="9" name="Shape 7"/>
          <p:cNvSpPr/>
          <p:nvPr/>
        </p:nvSpPr>
        <p:spPr>
          <a:xfrm>
            <a:off x="3200400" y="0"/>
            <a:ext cx="0" cy="6858000"/>
          </a:xfrm>
          <a:prstGeom prst="line">
            <a:avLst/>
          </a:prstGeom>
          <a:noFill/>
          <a:ln w="6350">
            <a:solidFill>
              <a:srgbClr val="12203A"/>
            </a:solidFill>
            <a:prstDash val="solid"/>
          </a:ln>
        </p:spPr>
      </p:sp>
      <p:sp>
        <p:nvSpPr>
          <p:cNvPr id="10" name="Shape 8"/>
          <p:cNvSpPr/>
          <p:nvPr/>
        </p:nvSpPr>
        <p:spPr>
          <a:xfrm>
            <a:off x="3657600" y="0"/>
            <a:ext cx="0" cy="6858000"/>
          </a:xfrm>
          <a:prstGeom prst="line">
            <a:avLst/>
          </a:prstGeom>
          <a:noFill/>
          <a:ln w="6350">
            <a:solidFill>
              <a:srgbClr val="12203A"/>
            </a:solidFill>
            <a:prstDash val="solid"/>
          </a:ln>
        </p:spPr>
      </p:sp>
      <p:sp>
        <p:nvSpPr>
          <p:cNvPr id="11" name="Shape 9"/>
          <p:cNvSpPr/>
          <p:nvPr/>
        </p:nvSpPr>
        <p:spPr>
          <a:xfrm>
            <a:off x="4114800" y="0"/>
            <a:ext cx="0" cy="6858000"/>
          </a:xfrm>
          <a:prstGeom prst="line">
            <a:avLst/>
          </a:prstGeom>
          <a:noFill/>
          <a:ln w="6350">
            <a:solidFill>
              <a:srgbClr val="12203A"/>
            </a:solidFill>
            <a:prstDash val="solid"/>
          </a:ln>
        </p:spPr>
      </p:sp>
      <p:sp>
        <p:nvSpPr>
          <p:cNvPr id="12" name="Shape 10"/>
          <p:cNvSpPr/>
          <p:nvPr/>
        </p:nvSpPr>
        <p:spPr>
          <a:xfrm>
            <a:off x="4572000" y="0"/>
            <a:ext cx="0" cy="6858000"/>
          </a:xfrm>
          <a:prstGeom prst="line">
            <a:avLst/>
          </a:prstGeom>
          <a:noFill/>
          <a:ln w="6350">
            <a:solidFill>
              <a:srgbClr val="12203A"/>
            </a:solidFill>
            <a:prstDash val="solid"/>
          </a:ln>
        </p:spPr>
      </p:sp>
      <p:sp>
        <p:nvSpPr>
          <p:cNvPr id="13" name="Shape 11"/>
          <p:cNvSpPr/>
          <p:nvPr/>
        </p:nvSpPr>
        <p:spPr>
          <a:xfrm>
            <a:off x="5029200" y="0"/>
            <a:ext cx="0" cy="6858000"/>
          </a:xfrm>
          <a:prstGeom prst="line">
            <a:avLst/>
          </a:prstGeom>
          <a:noFill/>
          <a:ln w="6350">
            <a:solidFill>
              <a:srgbClr val="12203A"/>
            </a:solidFill>
            <a:prstDash val="solid"/>
          </a:ln>
        </p:spPr>
      </p:sp>
      <p:sp>
        <p:nvSpPr>
          <p:cNvPr id="14" name="Shape 12"/>
          <p:cNvSpPr/>
          <p:nvPr/>
        </p:nvSpPr>
        <p:spPr>
          <a:xfrm>
            <a:off x="5486400" y="0"/>
            <a:ext cx="0" cy="6858000"/>
          </a:xfrm>
          <a:prstGeom prst="line">
            <a:avLst/>
          </a:prstGeom>
          <a:noFill/>
          <a:ln w="6350">
            <a:solidFill>
              <a:srgbClr val="12203A"/>
            </a:solidFill>
            <a:prstDash val="solid"/>
          </a:ln>
        </p:spPr>
      </p:sp>
      <p:sp>
        <p:nvSpPr>
          <p:cNvPr id="15" name="Shape 13"/>
          <p:cNvSpPr/>
          <p:nvPr/>
        </p:nvSpPr>
        <p:spPr>
          <a:xfrm>
            <a:off x="5943600" y="0"/>
            <a:ext cx="0" cy="6858000"/>
          </a:xfrm>
          <a:prstGeom prst="line">
            <a:avLst/>
          </a:prstGeom>
          <a:noFill/>
          <a:ln w="6350">
            <a:solidFill>
              <a:srgbClr val="12203A"/>
            </a:solidFill>
            <a:prstDash val="solid"/>
          </a:ln>
        </p:spPr>
      </p:sp>
      <p:sp>
        <p:nvSpPr>
          <p:cNvPr id="16" name="Shape 14"/>
          <p:cNvSpPr/>
          <p:nvPr/>
        </p:nvSpPr>
        <p:spPr>
          <a:xfrm>
            <a:off x="6400800" y="0"/>
            <a:ext cx="0" cy="6858000"/>
          </a:xfrm>
          <a:prstGeom prst="line">
            <a:avLst/>
          </a:prstGeom>
          <a:noFill/>
          <a:ln w="6350">
            <a:solidFill>
              <a:srgbClr val="12203A"/>
            </a:solidFill>
            <a:prstDash val="solid"/>
          </a:ln>
        </p:spPr>
      </p:sp>
      <p:sp>
        <p:nvSpPr>
          <p:cNvPr id="17" name="Shape 15"/>
          <p:cNvSpPr/>
          <p:nvPr/>
        </p:nvSpPr>
        <p:spPr>
          <a:xfrm>
            <a:off x="6858000" y="0"/>
            <a:ext cx="0" cy="6858000"/>
          </a:xfrm>
          <a:prstGeom prst="line">
            <a:avLst/>
          </a:prstGeom>
          <a:noFill/>
          <a:ln w="6350">
            <a:solidFill>
              <a:srgbClr val="12203A"/>
            </a:solidFill>
            <a:prstDash val="solid"/>
          </a:ln>
        </p:spPr>
      </p:sp>
      <p:sp>
        <p:nvSpPr>
          <p:cNvPr id="18" name="Shape 16"/>
          <p:cNvSpPr/>
          <p:nvPr/>
        </p:nvSpPr>
        <p:spPr>
          <a:xfrm>
            <a:off x="7315200" y="0"/>
            <a:ext cx="0" cy="6858000"/>
          </a:xfrm>
          <a:prstGeom prst="line">
            <a:avLst/>
          </a:prstGeom>
          <a:noFill/>
          <a:ln w="6350">
            <a:solidFill>
              <a:srgbClr val="12203A"/>
            </a:solidFill>
            <a:prstDash val="solid"/>
          </a:ln>
        </p:spPr>
      </p:sp>
      <p:sp>
        <p:nvSpPr>
          <p:cNvPr id="19" name="Shape 17"/>
          <p:cNvSpPr/>
          <p:nvPr/>
        </p:nvSpPr>
        <p:spPr>
          <a:xfrm>
            <a:off x="7772400" y="0"/>
            <a:ext cx="0" cy="6858000"/>
          </a:xfrm>
          <a:prstGeom prst="line">
            <a:avLst/>
          </a:prstGeom>
          <a:noFill/>
          <a:ln w="6350">
            <a:solidFill>
              <a:srgbClr val="12203A"/>
            </a:solidFill>
            <a:prstDash val="solid"/>
          </a:ln>
        </p:spPr>
      </p:sp>
      <p:sp>
        <p:nvSpPr>
          <p:cNvPr id="20" name="Shape 18"/>
          <p:cNvSpPr/>
          <p:nvPr/>
        </p:nvSpPr>
        <p:spPr>
          <a:xfrm>
            <a:off x="8229600" y="0"/>
            <a:ext cx="0" cy="6858000"/>
          </a:xfrm>
          <a:prstGeom prst="line">
            <a:avLst/>
          </a:prstGeom>
          <a:noFill/>
          <a:ln w="6350">
            <a:solidFill>
              <a:srgbClr val="12203A"/>
            </a:solidFill>
            <a:prstDash val="solid"/>
          </a:ln>
        </p:spPr>
      </p:sp>
      <p:sp>
        <p:nvSpPr>
          <p:cNvPr id="21" name="Shape 19"/>
          <p:cNvSpPr/>
          <p:nvPr/>
        </p:nvSpPr>
        <p:spPr>
          <a:xfrm>
            <a:off x="8686800" y="0"/>
            <a:ext cx="0" cy="6858000"/>
          </a:xfrm>
          <a:prstGeom prst="line">
            <a:avLst/>
          </a:prstGeom>
          <a:noFill/>
          <a:ln w="6350">
            <a:solidFill>
              <a:srgbClr val="12203A"/>
            </a:solidFill>
            <a:prstDash val="solid"/>
          </a:ln>
        </p:spPr>
      </p:sp>
      <p:sp>
        <p:nvSpPr>
          <p:cNvPr id="22" name="Shape 20"/>
          <p:cNvSpPr/>
          <p:nvPr/>
        </p:nvSpPr>
        <p:spPr>
          <a:xfrm>
            <a:off x="9144000" y="0"/>
            <a:ext cx="0" cy="6858000"/>
          </a:xfrm>
          <a:prstGeom prst="line">
            <a:avLst/>
          </a:prstGeom>
          <a:noFill/>
          <a:ln w="6350">
            <a:solidFill>
              <a:srgbClr val="12203A"/>
            </a:solidFill>
            <a:prstDash val="solid"/>
          </a:ln>
        </p:spPr>
      </p:sp>
      <p:sp>
        <p:nvSpPr>
          <p:cNvPr id="23" name="Shape 21"/>
          <p:cNvSpPr/>
          <p:nvPr/>
        </p:nvSpPr>
        <p:spPr>
          <a:xfrm>
            <a:off x="9601200" y="0"/>
            <a:ext cx="0" cy="6858000"/>
          </a:xfrm>
          <a:prstGeom prst="line">
            <a:avLst/>
          </a:prstGeom>
          <a:noFill/>
          <a:ln w="6350">
            <a:solidFill>
              <a:srgbClr val="12203A"/>
            </a:solidFill>
            <a:prstDash val="solid"/>
          </a:ln>
        </p:spPr>
      </p:sp>
      <p:sp>
        <p:nvSpPr>
          <p:cNvPr id="24" name="Shape 22"/>
          <p:cNvSpPr/>
          <p:nvPr/>
        </p:nvSpPr>
        <p:spPr>
          <a:xfrm>
            <a:off x="10058400" y="0"/>
            <a:ext cx="0" cy="6858000"/>
          </a:xfrm>
          <a:prstGeom prst="line">
            <a:avLst/>
          </a:prstGeom>
          <a:noFill/>
          <a:ln w="6350">
            <a:solidFill>
              <a:srgbClr val="12203A"/>
            </a:solidFill>
            <a:prstDash val="solid"/>
          </a:ln>
        </p:spPr>
      </p:sp>
      <p:sp>
        <p:nvSpPr>
          <p:cNvPr id="25" name="Shape 23"/>
          <p:cNvSpPr/>
          <p:nvPr/>
        </p:nvSpPr>
        <p:spPr>
          <a:xfrm>
            <a:off x="10515600" y="0"/>
            <a:ext cx="0" cy="6858000"/>
          </a:xfrm>
          <a:prstGeom prst="line">
            <a:avLst/>
          </a:prstGeom>
          <a:noFill/>
          <a:ln w="6350">
            <a:solidFill>
              <a:srgbClr val="12203A"/>
            </a:solidFill>
            <a:prstDash val="solid"/>
          </a:ln>
        </p:spPr>
      </p:sp>
      <p:sp>
        <p:nvSpPr>
          <p:cNvPr id="26" name="Shape 24"/>
          <p:cNvSpPr/>
          <p:nvPr/>
        </p:nvSpPr>
        <p:spPr>
          <a:xfrm>
            <a:off x="10972800" y="0"/>
            <a:ext cx="0" cy="6858000"/>
          </a:xfrm>
          <a:prstGeom prst="line">
            <a:avLst/>
          </a:prstGeom>
          <a:noFill/>
          <a:ln w="6350">
            <a:solidFill>
              <a:srgbClr val="12203A"/>
            </a:solidFill>
            <a:prstDash val="solid"/>
          </a:ln>
        </p:spPr>
      </p:sp>
      <p:sp>
        <p:nvSpPr>
          <p:cNvPr id="27" name="Shape 25"/>
          <p:cNvSpPr/>
          <p:nvPr/>
        </p:nvSpPr>
        <p:spPr>
          <a:xfrm>
            <a:off x="11430000" y="0"/>
            <a:ext cx="0" cy="6858000"/>
          </a:xfrm>
          <a:prstGeom prst="line">
            <a:avLst/>
          </a:prstGeom>
          <a:noFill/>
          <a:ln w="6350">
            <a:solidFill>
              <a:srgbClr val="12203A"/>
            </a:solidFill>
            <a:prstDash val="solid"/>
          </a:ln>
        </p:spPr>
      </p:sp>
      <p:sp>
        <p:nvSpPr>
          <p:cNvPr id="28" name="Shape 26"/>
          <p:cNvSpPr/>
          <p:nvPr/>
        </p:nvSpPr>
        <p:spPr>
          <a:xfrm>
            <a:off x="11887200" y="0"/>
            <a:ext cx="0" cy="6858000"/>
          </a:xfrm>
          <a:prstGeom prst="line">
            <a:avLst/>
          </a:prstGeom>
          <a:noFill/>
          <a:ln w="6350">
            <a:solidFill>
              <a:srgbClr val="12203A"/>
            </a:solidFill>
            <a:prstDash val="solid"/>
          </a:ln>
        </p:spPr>
      </p:sp>
      <p:sp>
        <p:nvSpPr>
          <p:cNvPr id="29" name="Shape 27"/>
          <p:cNvSpPr/>
          <p:nvPr/>
        </p:nvSpPr>
        <p:spPr>
          <a:xfrm>
            <a:off x="0" y="0"/>
            <a:ext cx="12188952" cy="0"/>
          </a:xfrm>
          <a:prstGeom prst="line">
            <a:avLst/>
          </a:prstGeom>
          <a:noFill/>
          <a:ln w="6350">
            <a:solidFill>
              <a:srgbClr val="12203A"/>
            </a:solidFill>
            <a:prstDash val="solid"/>
          </a:ln>
        </p:spPr>
      </p:sp>
      <p:sp>
        <p:nvSpPr>
          <p:cNvPr id="30" name="Shape 28"/>
          <p:cNvSpPr/>
          <p:nvPr/>
        </p:nvSpPr>
        <p:spPr>
          <a:xfrm>
            <a:off x="0" y="457200"/>
            <a:ext cx="12188952" cy="0"/>
          </a:xfrm>
          <a:prstGeom prst="line">
            <a:avLst/>
          </a:prstGeom>
          <a:noFill/>
          <a:ln w="6350">
            <a:solidFill>
              <a:srgbClr val="12203A"/>
            </a:solidFill>
            <a:prstDash val="solid"/>
          </a:ln>
        </p:spPr>
      </p:sp>
      <p:sp>
        <p:nvSpPr>
          <p:cNvPr id="31" name="Shape 29"/>
          <p:cNvSpPr/>
          <p:nvPr/>
        </p:nvSpPr>
        <p:spPr>
          <a:xfrm>
            <a:off x="0" y="914400"/>
            <a:ext cx="12188952" cy="0"/>
          </a:xfrm>
          <a:prstGeom prst="line">
            <a:avLst/>
          </a:prstGeom>
          <a:noFill/>
          <a:ln w="6350">
            <a:solidFill>
              <a:srgbClr val="12203A"/>
            </a:solidFill>
            <a:prstDash val="solid"/>
          </a:ln>
        </p:spPr>
      </p:sp>
      <p:sp>
        <p:nvSpPr>
          <p:cNvPr id="32" name="Shape 30"/>
          <p:cNvSpPr/>
          <p:nvPr/>
        </p:nvSpPr>
        <p:spPr>
          <a:xfrm>
            <a:off x="0" y="1371600"/>
            <a:ext cx="12188952" cy="0"/>
          </a:xfrm>
          <a:prstGeom prst="line">
            <a:avLst/>
          </a:prstGeom>
          <a:noFill/>
          <a:ln w="6350">
            <a:solidFill>
              <a:srgbClr val="12203A"/>
            </a:solidFill>
            <a:prstDash val="solid"/>
          </a:ln>
        </p:spPr>
      </p:sp>
      <p:sp>
        <p:nvSpPr>
          <p:cNvPr id="33" name="Shape 31"/>
          <p:cNvSpPr/>
          <p:nvPr/>
        </p:nvSpPr>
        <p:spPr>
          <a:xfrm>
            <a:off x="0" y="1828800"/>
            <a:ext cx="12188952" cy="0"/>
          </a:xfrm>
          <a:prstGeom prst="line">
            <a:avLst/>
          </a:prstGeom>
          <a:noFill/>
          <a:ln w="6350">
            <a:solidFill>
              <a:srgbClr val="12203A"/>
            </a:solidFill>
            <a:prstDash val="solid"/>
          </a:ln>
        </p:spPr>
      </p:sp>
      <p:sp>
        <p:nvSpPr>
          <p:cNvPr id="34" name="Shape 32"/>
          <p:cNvSpPr/>
          <p:nvPr/>
        </p:nvSpPr>
        <p:spPr>
          <a:xfrm>
            <a:off x="0" y="2286000"/>
            <a:ext cx="12188952" cy="0"/>
          </a:xfrm>
          <a:prstGeom prst="line">
            <a:avLst/>
          </a:prstGeom>
          <a:noFill/>
          <a:ln w="6350">
            <a:solidFill>
              <a:srgbClr val="12203A"/>
            </a:solidFill>
            <a:prstDash val="solid"/>
          </a:ln>
        </p:spPr>
      </p:sp>
      <p:sp>
        <p:nvSpPr>
          <p:cNvPr id="35" name="Shape 33"/>
          <p:cNvSpPr/>
          <p:nvPr/>
        </p:nvSpPr>
        <p:spPr>
          <a:xfrm>
            <a:off x="0" y="2743200"/>
            <a:ext cx="12188952" cy="0"/>
          </a:xfrm>
          <a:prstGeom prst="line">
            <a:avLst/>
          </a:prstGeom>
          <a:noFill/>
          <a:ln w="6350">
            <a:solidFill>
              <a:srgbClr val="12203A"/>
            </a:solidFill>
            <a:prstDash val="solid"/>
          </a:ln>
        </p:spPr>
      </p:sp>
      <p:sp>
        <p:nvSpPr>
          <p:cNvPr id="36" name="Shape 34"/>
          <p:cNvSpPr/>
          <p:nvPr/>
        </p:nvSpPr>
        <p:spPr>
          <a:xfrm>
            <a:off x="0" y="3200400"/>
            <a:ext cx="12188952" cy="0"/>
          </a:xfrm>
          <a:prstGeom prst="line">
            <a:avLst/>
          </a:prstGeom>
          <a:noFill/>
          <a:ln w="6350">
            <a:solidFill>
              <a:srgbClr val="12203A"/>
            </a:solidFill>
            <a:prstDash val="solid"/>
          </a:ln>
        </p:spPr>
      </p:sp>
      <p:sp>
        <p:nvSpPr>
          <p:cNvPr id="37" name="Shape 35"/>
          <p:cNvSpPr/>
          <p:nvPr/>
        </p:nvSpPr>
        <p:spPr>
          <a:xfrm>
            <a:off x="0" y="3657600"/>
            <a:ext cx="12188952" cy="0"/>
          </a:xfrm>
          <a:prstGeom prst="line">
            <a:avLst/>
          </a:prstGeom>
          <a:noFill/>
          <a:ln w="6350">
            <a:solidFill>
              <a:srgbClr val="12203A"/>
            </a:solidFill>
            <a:prstDash val="solid"/>
          </a:ln>
        </p:spPr>
      </p:sp>
      <p:sp>
        <p:nvSpPr>
          <p:cNvPr id="38" name="Shape 36"/>
          <p:cNvSpPr/>
          <p:nvPr/>
        </p:nvSpPr>
        <p:spPr>
          <a:xfrm>
            <a:off x="0" y="4114800"/>
            <a:ext cx="12188952" cy="0"/>
          </a:xfrm>
          <a:prstGeom prst="line">
            <a:avLst/>
          </a:prstGeom>
          <a:noFill/>
          <a:ln w="6350">
            <a:solidFill>
              <a:srgbClr val="12203A"/>
            </a:solidFill>
            <a:prstDash val="solid"/>
          </a:ln>
        </p:spPr>
      </p:sp>
      <p:sp>
        <p:nvSpPr>
          <p:cNvPr id="39" name="Shape 37"/>
          <p:cNvSpPr/>
          <p:nvPr/>
        </p:nvSpPr>
        <p:spPr>
          <a:xfrm>
            <a:off x="0" y="4572000"/>
            <a:ext cx="12188952" cy="0"/>
          </a:xfrm>
          <a:prstGeom prst="line">
            <a:avLst/>
          </a:prstGeom>
          <a:noFill/>
          <a:ln w="6350">
            <a:solidFill>
              <a:srgbClr val="12203A"/>
            </a:solidFill>
            <a:prstDash val="solid"/>
          </a:ln>
        </p:spPr>
      </p:sp>
      <p:sp>
        <p:nvSpPr>
          <p:cNvPr id="40" name="Shape 38"/>
          <p:cNvSpPr/>
          <p:nvPr/>
        </p:nvSpPr>
        <p:spPr>
          <a:xfrm>
            <a:off x="0" y="5029200"/>
            <a:ext cx="12188952" cy="0"/>
          </a:xfrm>
          <a:prstGeom prst="line">
            <a:avLst/>
          </a:prstGeom>
          <a:noFill/>
          <a:ln w="6350">
            <a:solidFill>
              <a:srgbClr val="12203A"/>
            </a:solidFill>
            <a:prstDash val="solid"/>
          </a:ln>
        </p:spPr>
      </p:sp>
      <p:sp>
        <p:nvSpPr>
          <p:cNvPr id="41" name="Shape 39"/>
          <p:cNvSpPr/>
          <p:nvPr/>
        </p:nvSpPr>
        <p:spPr>
          <a:xfrm>
            <a:off x="0" y="5486400"/>
            <a:ext cx="12188952" cy="0"/>
          </a:xfrm>
          <a:prstGeom prst="line">
            <a:avLst/>
          </a:prstGeom>
          <a:noFill/>
          <a:ln w="6350">
            <a:solidFill>
              <a:srgbClr val="12203A"/>
            </a:solidFill>
            <a:prstDash val="solid"/>
          </a:ln>
        </p:spPr>
      </p:sp>
      <p:sp>
        <p:nvSpPr>
          <p:cNvPr id="42" name="Shape 40"/>
          <p:cNvSpPr/>
          <p:nvPr/>
        </p:nvSpPr>
        <p:spPr>
          <a:xfrm>
            <a:off x="0" y="5943600"/>
            <a:ext cx="12188952" cy="0"/>
          </a:xfrm>
          <a:prstGeom prst="line">
            <a:avLst/>
          </a:prstGeom>
          <a:noFill/>
          <a:ln w="6350">
            <a:solidFill>
              <a:srgbClr val="12203A"/>
            </a:solidFill>
            <a:prstDash val="solid"/>
          </a:ln>
        </p:spPr>
      </p:sp>
      <p:sp>
        <p:nvSpPr>
          <p:cNvPr id="43" name="Shape 41"/>
          <p:cNvSpPr/>
          <p:nvPr/>
        </p:nvSpPr>
        <p:spPr>
          <a:xfrm>
            <a:off x="0" y="6400800"/>
            <a:ext cx="12188952" cy="0"/>
          </a:xfrm>
          <a:prstGeom prst="line">
            <a:avLst/>
          </a:prstGeom>
          <a:noFill/>
          <a:ln w="6350">
            <a:solidFill>
              <a:srgbClr val="12203A"/>
            </a:solidFill>
            <a:prstDash val="solid"/>
          </a:ln>
        </p:spPr>
      </p:sp>
      <p:sp>
        <p:nvSpPr>
          <p:cNvPr id="44" name="Shape 42"/>
          <p:cNvSpPr/>
          <p:nvPr/>
        </p:nvSpPr>
        <p:spPr>
          <a:xfrm>
            <a:off x="0" y="6858000"/>
            <a:ext cx="12188952" cy="0"/>
          </a:xfrm>
          <a:prstGeom prst="line">
            <a:avLst/>
          </a:prstGeom>
          <a:noFill/>
          <a:ln w="6350">
            <a:solidFill>
              <a:srgbClr val="12203A"/>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223760" y="1005840"/>
            <a:ext cx="4754880" cy="4754880"/>
          </a:xfrm>
          <a:prstGeom prst="ellipse">
            <a:avLst/>
          </a:prstGeom>
          <a:ln w="6350">
            <a:solidFill>
              <a:srgbClr val="2EA8FF"/>
            </a:solidFill>
            <a:prstDash val="solid"/>
          </a:ln>
        </p:spPr>
      </p:sp>
      <p:sp>
        <p:nvSpPr>
          <p:cNvPr id="3" name="Shape 1"/>
          <p:cNvSpPr/>
          <p:nvPr/>
        </p:nvSpPr>
        <p:spPr>
          <a:xfrm>
            <a:off x="7772400" y="1554480"/>
            <a:ext cx="3657600" cy="3657600"/>
          </a:xfrm>
          <a:prstGeom prst="ellipse">
            <a:avLst/>
          </a:prstGeom>
          <a:ln w="9525">
            <a:solidFill>
              <a:srgbClr val="5FB8B0"/>
            </a:solidFill>
            <a:prstDash val="dash"/>
          </a:ln>
        </p:spPr>
      </p:sp>
      <p:sp>
        <p:nvSpPr>
          <p:cNvPr id="4" name="Shape 2"/>
          <p:cNvSpPr/>
          <p:nvPr/>
        </p:nvSpPr>
        <p:spPr>
          <a:xfrm>
            <a:off x="8321040" y="2103120"/>
            <a:ext cx="2560320" cy="2560320"/>
          </a:xfrm>
          <a:prstGeom prst="ellipse">
            <a:avLst/>
          </a:prstGeom>
          <a:ln w="9525">
            <a:solidFill>
              <a:srgbClr val="2EA8FF"/>
            </a:solidFill>
            <a:prstDash val="solid"/>
          </a:ln>
        </p:spPr>
      </p:sp>
      <p:sp>
        <p:nvSpPr>
          <p:cNvPr id="5" name="Shape 3"/>
          <p:cNvSpPr/>
          <p:nvPr/>
        </p:nvSpPr>
        <p:spPr>
          <a:xfrm>
            <a:off x="6949440" y="3383280"/>
            <a:ext cx="5303520" cy="0"/>
          </a:xfrm>
          <a:prstGeom prst="line">
            <a:avLst/>
          </a:prstGeom>
          <a:noFill/>
          <a:ln w="6350">
            <a:solidFill>
              <a:srgbClr val="2EA8FF"/>
            </a:solidFill>
            <a:prstDash val="dash"/>
          </a:ln>
        </p:spPr>
      </p:sp>
      <p:sp>
        <p:nvSpPr>
          <p:cNvPr id="6" name="Shape 4"/>
          <p:cNvSpPr/>
          <p:nvPr/>
        </p:nvSpPr>
        <p:spPr>
          <a:xfrm>
            <a:off x="9601200" y="731520"/>
            <a:ext cx="0" cy="5303520"/>
          </a:xfrm>
          <a:prstGeom prst="line">
            <a:avLst/>
          </a:prstGeom>
          <a:noFill/>
          <a:ln w="6350">
            <a:solidFill>
              <a:srgbClr val="2EA8FF"/>
            </a:solidFill>
            <a:prstDash val="dash"/>
          </a:ln>
        </p:spPr>
      </p:sp>
      <p:sp>
        <p:nvSpPr>
          <p:cNvPr id="8" name="Text 6"/>
          <p:cNvSpPr txBox="1"/>
          <p:nvPr/>
        </p:nvSpPr>
        <p:spPr>
          <a:xfrm>
            <a:off x="548640" y="914400"/>
            <a:ext cx="7315200" cy="274320"/>
          </a:xfrm>
          <a:prstGeom prst="rect">
            <a:avLst/>
          </a:prstGeom>
          <a:noFill/>
          <a:ln/>
        </p:spPr>
        <p:txBody>
          <a:bodyPr wrap="square" lIns="0" tIns="0" rIns="0" bIns="0" rtlCol="0" anchor="t"/>
          <a:lstStyle/>
          <a:p>
            <a:pPr marL="0" indent="0">
              <a:buNone/>
            </a:pPr>
            <a:r>
              <a:rPr lang="en-US" sz="1200" b="1" kern="0" spc="300" dirty="0">
                <a:solidFill>
                  <a:srgbClr val="2EA8FF"/>
                </a:solidFill>
                <a:latin typeface="Calibri" pitchFamily="34" charset="0"/>
                <a:ea typeface="Calibri" pitchFamily="34" charset="-122"/>
                <a:cs typeface="Calibri" pitchFamily="34" charset="-120"/>
              </a:rPr>
              <a:t>MES WADIA COLLEGE OF ENGINEERING  ×  ROBOCLUB  (TEAM PLUTON)</a:t>
            </a:r>
            <a:endParaRPr lang="en-US" sz="1200" dirty="0"/>
          </a:p>
        </p:txBody>
      </p:sp>
      <p:sp>
        <p:nvSpPr>
          <p:cNvPr id="9" name="Text 7"/>
          <p:cNvSpPr txBox="1"/>
          <p:nvPr/>
        </p:nvSpPr>
        <p:spPr>
          <a:xfrm>
            <a:off x="548640" y="1234440"/>
            <a:ext cx="6858000" cy="1417320"/>
          </a:xfrm>
          <a:prstGeom prst="rect">
            <a:avLst/>
          </a:prstGeom>
          <a:noFill/>
          <a:ln/>
        </p:spPr>
        <p:txBody>
          <a:bodyPr wrap="square" lIns="0" tIns="0" rIns="0" bIns="0" rtlCol="0" anchor="t"/>
          <a:lstStyle/>
          <a:p>
            <a:pPr marL="0" indent="0">
              <a:buNone/>
            </a:pPr>
            <a:r>
              <a:rPr lang="en-US" sz="9600" b="1" dirty="0">
                <a:solidFill>
                  <a:srgbClr val="E6EEF8"/>
                </a:solidFill>
                <a:latin typeface="Arial Narrow" pitchFamily="34" charset="0"/>
                <a:ea typeface="Arial Narrow" pitchFamily="34" charset="-122"/>
                <a:cs typeface="Arial Narrow" pitchFamily="34" charset="-120"/>
              </a:rPr>
              <a:t>PLUTO</a:t>
            </a:r>
            <a:endParaRPr lang="en-US" sz="9600" dirty="0"/>
          </a:p>
        </p:txBody>
      </p:sp>
      <p:sp>
        <p:nvSpPr>
          <p:cNvPr id="10" name="Text 8"/>
          <p:cNvSpPr txBox="1"/>
          <p:nvPr/>
        </p:nvSpPr>
        <p:spPr>
          <a:xfrm>
            <a:off x="548640" y="2743200"/>
            <a:ext cx="6858000" cy="411480"/>
          </a:xfrm>
          <a:prstGeom prst="rect">
            <a:avLst/>
          </a:prstGeom>
          <a:noFill/>
          <a:ln/>
        </p:spPr>
        <p:txBody>
          <a:bodyPr wrap="square" lIns="0" tIns="0" rIns="0" bIns="0" rtlCol="0" anchor="t"/>
          <a:lstStyle/>
          <a:p>
            <a:pPr marL="0" indent="0">
              <a:buNone/>
            </a:pPr>
            <a:r>
              <a:rPr lang="en-US" sz="2000" b="1" kern="0" spc="300" dirty="0">
                <a:solidFill>
                  <a:srgbClr val="2EA8FF"/>
                </a:solidFill>
                <a:latin typeface="Arial Narrow" pitchFamily="34" charset="0"/>
                <a:ea typeface="Arial Narrow" pitchFamily="34" charset="-122"/>
                <a:cs typeface="Arial Narrow" pitchFamily="34" charset="-120"/>
              </a:rPr>
              <a:t>ROBODOG  · </a:t>
            </a:r>
            <a:r>
              <a:rPr lang="en-US" sz="2000" b="1" kern="0" spc="300" dirty="0" smtClean="0">
                <a:solidFill>
                  <a:srgbClr val="2EA8FF"/>
                </a:solidFill>
                <a:latin typeface="Arial Narrow" pitchFamily="34" charset="0"/>
                <a:ea typeface="Arial Narrow" pitchFamily="34" charset="-122"/>
                <a:cs typeface="Arial Narrow" pitchFamily="34" charset="-120"/>
              </a:rPr>
              <a:t>  </a:t>
            </a:r>
            <a:r>
              <a:rPr lang="en-US" sz="2000" b="1" kern="0" spc="300" dirty="0">
                <a:solidFill>
                  <a:srgbClr val="2EA8FF"/>
                </a:solidFill>
                <a:latin typeface="Arial Narrow" pitchFamily="34" charset="0"/>
                <a:ea typeface="Arial Narrow" pitchFamily="34" charset="-122"/>
                <a:cs typeface="Arial Narrow" pitchFamily="34" charset="-120"/>
              </a:rPr>
              <a:t>QUADRUPED PLATFORM</a:t>
            </a:r>
            <a:endParaRPr lang="en-US" sz="2000" dirty="0"/>
          </a:p>
        </p:txBody>
      </p:sp>
      <p:sp>
        <p:nvSpPr>
          <p:cNvPr id="11" name="Text 9"/>
          <p:cNvSpPr txBox="1"/>
          <p:nvPr/>
        </p:nvSpPr>
        <p:spPr>
          <a:xfrm>
            <a:off x="548640" y="3337560"/>
            <a:ext cx="6217920" cy="1005840"/>
          </a:xfrm>
          <a:prstGeom prst="rect">
            <a:avLst/>
          </a:prstGeom>
          <a:noFill/>
          <a:ln/>
        </p:spPr>
        <p:txBody>
          <a:bodyPr wrap="square" lIns="0" tIns="0" rIns="0" bIns="0" rtlCol="0" anchor="t"/>
          <a:lstStyle/>
          <a:p>
            <a:pPr marL="0" indent="0">
              <a:buNone/>
            </a:pPr>
            <a:r>
              <a:rPr lang="en-US" sz="1600" dirty="0">
                <a:solidFill>
                  <a:srgbClr val="8FA3BC"/>
                </a:solidFill>
                <a:latin typeface="Calibri" pitchFamily="34" charset="0"/>
                <a:ea typeface="Calibri" pitchFamily="34" charset="-122"/>
                <a:cs typeface="Calibri" pitchFamily="34" charset="-120"/>
              </a:rPr>
              <a:t>A voice-commanded, 12-servo quadruped built as a modular student platform for remote inspection and reconnaissance, with the human always in the loop.</a:t>
            </a:r>
            <a:endParaRPr lang="en-US" sz="1600" dirty="0"/>
          </a:p>
        </p:txBody>
      </p:sp>
      <p:sp>
        <p:nvSpPr>
          <p:cNvPr id="12" name="Shape 10"/>
          <p:cNvSpPr/>
          <p:nvPr/>
        </p:nvSpPr>
        <p:spPr>
          <a:xfrm>
            <a:off x="548640" y="4572000"/>
            <a:ext cx="3840480" cy="0"/>
          </a:xfrm>
          <a:prstGeom prst="line">
            <a:avLst/>
          </a:prstGeom>
          <a:noFill/>
          <a:ln w="15875">
            <a:solidFill>
              <a:srgbClr val="2EA8FF"/>
            </a:solidFill>
            <a:prstDash val="solid"/>
          </a:ln>
        </p:spPr>
      </p:sp>
      <p:sp>
        <p:nvSpPr>
          <p:cNvPr id="13" name="Text 11"/>
          <p:cNvSpPr txBox="1"/>
          <p:nvPr/>
        </p:nvSpPr>
        <p:spPr>
          <a:xfrm>
            <a:off x="548640" y="4709160"/>
            <a:ext cx="6400800" cy="320040"/>
          </a:xfrm>
          <a:prstGeom prst="rect">
            <a:avLst/>
          </a:prstGeom>
          <a:noFill/>
          <a:ln/>
        </p:spPr>
        <p:txBody>
          <a:bodyPr wrap="square" lIns="0" tIns="0" rIns="0" bIns="0" rtlCol="0" anchor="t"/>
          <a:lstStyle/>
          <a:p>
            <a:pPr marL="0" indent="0">
              <a:buNone/>
            </a:pPr>
            <a:r>
              <a:rPr lang="en-US" sz="1500" b="1" dirty="0">
                <a:solidFill>
                  <a:srgbClr val="E6EEF8"/>
                </a:solidFill>
                <a:latin typeface="Calibri" pitchFamily="34" charset="0"/>
                <a:ea typeface="Calibri" pitchFamily="34" charset="-122"/>
                <a:cs typeface="Calibri" pitchFamily="34" charset="-120"/>
              </a:rPr>
              <a:t>Aryan Pawar  ·  Unmesha Dasgude</a:t>
            </a:r>
            <a:endParaRPr lang="en-US" sz="1500" dirty="0"/>
          </a:p>
        </p:txBody>
      </p:sp>
      <p:sp>
        <p:nvSpPr>
          <p:cNvPr id="14" name="Text 12"/>
          <p:cNvSpPr txBox="1"/>
          <p:nvPr/>
        </p:nvSpPr>
        <p:spPr>
          <a:xfrm>
            <a:off x="548640" y="5074920"/>
            <a:ext cx="7315200" cy="274320"/>
          </a:xfrm>
          <a:prstGeom prst="rect">
            <a:avLst/>
          </a:prstGeom>
          <a:noFill/>
          <a:ln/>
        </p:spPr>
        <p:txBody>
          <a:bodyPr wrap="square" lIns="0" tIns="0" rIns="0" bIns="0" rtlCol="0" anchor="t"/>
          <a:lstStyle/>
          <a:p>
            <a:pPr marL="0" indent="0">
              <a:buNone/>
            </a:pPr>
            <a:r>
              <a:rPr lang="en-US" sz="1200" dirty="0" smtClean="0">
                <a:solidFill>
                  <a:srgbClr val="C9A24B"/>
                </a:solidFill>
                <a:latin typeface="Calibri" pitchFamily="34" charset="0"/>
                <a:ea typeface="Calibri" pitchFamily="34" charset="-122"/>
                <a:cs typeface="Calibri" pitchFamily="34" charset="-120"/>
              </a:rPr>
              <a:t>MES </a:t>
            </a:r>
            <a:r>
              <a:rPr lang="en-US" sz="1200" dirty="0">
                <a:solidFill>
                  <a:srgbClr val="C9A24B"/>
                </a:solidFill>
                <a:latin typeface="Calibri" pitchFamily="34" charset="0"/>
                <a:ea typeface="Calibri" pitchFamily="34" charset="-122"/>
                <a:cs typeface="Calibri" pitchFamily="34" charset="-120"/>
              </a:rPr>
              <a:t>Wadia College of </a:t>
            </a:r>
            <a:r>
              <a:rPr lang="en-US" sz="1200" dirty="0" smtClean="0">
                <a:solidFill>
                  <a:srgbClr val="C9A24B"/>
                </a:solidFill>
                <a:latin typeface="Calibri" pitchFamily="34" charset="0"/>
                <a:ea typeface="Calibri" pitchFamily="34" charset="-122"/>
                <a:cs typeface="Calibri" pitchFamily="34" charset="-120"/>
              </a:rPr>
              <a:t>Engineering</a:t>
            </a:r>
            <a:endParaRPr lang="en-US" sz="1200" dirty="0"/>
          </a:p>
        </p:txBody>
      </p:sp>
      <p:sp>
        <p:nvSpPr>
          <p:cNvPr id="15" name="Text 13"/>
          <p:cNvSpPr txBox="1"/>
          <p:nvPr/>
        </p:nvSpPr>
        <p:spPr>
          <a:xfrm>
            <a:off x="548640" y="5394960"/>
            <a:ext cx="6400800" cy="274320"/>
          </a:xfrm>
          <a:prstGeom prst="rect">
            <a:avLst/>
          </a:prstGeom>
          <a:noFill/>
          <a:ln/>
        </p:spPr>
        <p:txBody>
          <a:bodyPr wrap="square" lIns="0" tIns="0" rIns="0" bIns="0" rtlCol="0" anchor="t"/>
          <a:lstStyle/>
          <a:p>
            <a:pPr marL="0" indent="0">
              <a:buNone/>
            </a:pPr>
            <a:r>
              <a:rPr lang="en-US" sz="1100" dirty="0">
                <a:solidFill>
                  <a:srgbClr val="8FA3BC"/>
                </a:solidFill>
                <a:latin typeface="Calibri" pitchFamily="34" charset="0"/>
                <a:ea typeface="Calibri" pitchFamily="34" charset="-122"/>
                <a:cs typeface="Calibri" pitchFamily="34" charset="-120"/>
              </a:rPr>
              <a:t>Virtual Robotics Project Presentation Competition</a:t>
            </a:r>
            <a:endParaRPr lang="en-US" sz="11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01  PROBLEM</a:t>
            </a:r>
            <a:endParaRPr lang="en-US" sz="1100" dirty="0"/>
          </a:p>
        </p:txBody>
      </p:sp>
      <p:sp>
        <p:nvSpPr>
          <p:cNvPr id="3" name="Text 46"/>
          <p:cNvSpPr>
            <a:spLocks noGrp="1"/>
          </p:cNvSpPr>
          <p:nvPr>
            <p:ph type="title" idx="147" hasCustomPrompt="1"/>
          </p:nvPr>
        </p:nvSpPr>
        <p:spPr>
          <a:xfrm>
            <a:off x="548640" y="777240"/>
            <a:ext cx="3749040" cy="1463040"/>
          </a:xfrm>
          <a:prstGeom prst="rect">
            <a:avLst/>
          </a:prstGeom>
          <a:noFill/>
          <a:ln/>
        </p:spPr>
        <p:txBody>
          <a:bodyPr wrap="square" lIns="0" tIns="0" rIns="0" bIns="0" rtlCol="0" anchor="t"/>
          <a:lstStyle/>
          <a:p>
            <a:pPr marL="0" indent="0" algn="l">
              <a:buNone/>
            </a:pPr>
            <a:r>
              <a:rPr lang="en-US" sz="3000" b="1" kern="0" spc="100" dirty="0">
                <a:solidFill>
                  <a:srgbClr val="E6EEF8"/>
                </a:solidFill>
              </a:rPr>
              <a:t>SOME PLACES ARE HARD TO SEE INTO</a:t>
            </a:r>
            <a:endParaRPr lang="en-US" sz="3000" dirty="0"/>
          </a:p>
        </p:txBody>
      </p:sp>
      <p:sp>
        <p:nvSpPr>
          <p:cNvPr id="4" name="Text 46"/>
          <p:cNvSpPr>
            <a:spLocks noGrp="1"/>
          </p:cNvSpPr>
          <p:nvPr>
            <p:ph type="body" idx="148" hasCustomPrompt="1"/>
          </p:nvPr>
        </p:nvSpPr>
        <p:spPr>
          <a:xfrm>
            <a:off x="548640" y="1796716"/>
            <a:ext cx="3657600" cy="1906604"/>
          </a:xfrm>
          <a:prstGeom prst="rect">
            <a:avLst/>
          </a:prstGeom>
          <a:noFill/>
          <a:ln/>
        </p:spPr>
        <p:txBody>
          <a:bodyPr wrap="square" lIns="0" tIns="0" rIns="0" bIns="0" rtlCol="0" anchor="t"/>
          <a:lstStyle/>
          <a:p>
            <a:endParaRPr lang="en-US" sz="1800" dirty="0" smtClean="0"/>
          </a:p>
          <a:p>
            <a:r>
              <a:rPr lang="en-US" sz="1800" dirty="0" smtClean="0"/>
              <a:t>Some places are too tight , too risky , too urgent to just walk into </a:t>
            </a:r>
          </a:p>
          <a:p>
            <a:endParaRPr lang="en-US" sz="1800" dirty="0" smtClean="0"/>
          </a:p>
          <a:p>
            <a:r>
              <a:rPr lang="en-US" sz="1800" dirty="0" smtClean="0"/>
              <a:t>Sending a person only to look can be dangerous</a:t>
            </a:r>
            <a:endParaRPr lang="en-US" sz="1800" dirty="0"/>
          </a:p>
        </p:txBody>
      </p:sp>
      <p:sp>
        <p:nvSpPr>
          <p:cNvPr id="5" name="Text 46"/>
          <p:cNvSpPr>
            <a:spLocks noGrp="1"/>
          </p:cNvSpPr>
          <p:nvPr>
            <p:ph type="body" idx="149" hasCustomPrompt="1"/>
          </p:nvPr>
        </p:nvSpPr>
        <p:spPr>
          <a:xfrm>
            <a:off x="401053" y="3914274"/>
            <a:ext cx="3805187" cy="2257926"/>
          </a:xfrm>
          <a:prstGeom prst="rect">
            <a:avLst/>
          </a:prstGeom>
          <a:noFill/>
          <a:ln/>
        </p:spPr>
        <p:txBody>
          <a:bodyPr wrap="square" lIns="0" tIns="0" rIns="0" bIns="0" rtlCol="0" anchor="t"/>
          <a:lstStyle/>
          <a:p>
            <a:pPr marL="0" indent="0">
              <a:spcAft>
                <a:spcPts val="900"/>
              </a:spcAft>
              <a:buNone/>
            </a:pPr>
            <a:r>
              <a:rPr lang="en-US" sz="1600" dirty="0">
                <a:solidFill>
                  <a:srgbClr val="8FA3BC"/>
                </a:solidFill>
              </a:rPr>
              <a:t>Confined, hazardous or time-critical spaces are hard to assess from the outside.</a:t>
            </a:r>
            <a:endParaRPr lang="en-US" sz="1600" dirty="0"/>
          </a:p>
          <a:p>
            <a:pPr marL="0" indent="0">
              <a:spcAft>
                <a:spcPts val="900"/>
              </a:spcAft>
              <a:buNone/>
            </a:pPr>
            <a:r>
              <a:rPr lang="en-US" sz="1600" dirty="0">
                <a:solidFill>
                  <a:srgbClr val="8FA3BC"/>
                </a:solidFill>
              </a:rPr>
              <a:t>Sending a person in just to look is </a:t>
            </a:r>
            <a:r>
              <a:rPr lang="en-US" sz="1600" dirty="0" smtClean="0"/>
              <a:t>risky and could be fatal sometimes</a:t>
            </a:r>
            <a:endParaRPr lang="en-US" sz="1600" dirty="0"/>
          </a:p>
          <a:p>
            <a:pPr marL="0" indent="0">
              <a:spcAft>
                <a:spcPts val="900"/>
              </a:spcAft>
              <a:buNone/>
            </a:pPr>
            <a:r>
              <a:rPr lang="en-US" sz="1600" dirty="0">
                <a:solidFill>
                  <a:srgbClr val="8FA3BC"/>
                </a:solidFill>
              </a:rPr>
              <a:t>The </a:t>
            </a:r>
            <a:r>
              <a:rPr lang="en-US" sz="1600" dirty="0" smtClean="0">
                <a:solidFill>
                  <a:srgbClr val="8FA3BC"/>
                </a:solidFill>
              </a:rPr>
              <a:t>real issue is of human life risk which </a:t>
            </a:r>
            <a:endParaRPr lang="en-US" sz="1600" dirty="0"/>
          </a:p>
        </p:txBody>
      </p:sp>
      <p:sp>
        <p:nvSpPr>
          <p:cNvPr id="7" name="Shape 4"/>
          <p:cNvSpPr/>
          <p:nvPr/>
        </p:nvSpPr>
        <p:spPr>
          <a:xfrm>
            <a:off x="4663440" y="731520"/>
            <a:ext cx="3383280" cy="2560320"/>
          </a:xfrm>
          <a:prstGeom prst="rect">
            <a:avLst/>
          </a:prstGeom>
          <a:solidFill>
            <a:srgbClr val="101C30"/>
          </a:solidFill>
          <a:ln w="12700">
            <a:solidFill>
              <a:srgbClr val="2EA8FF"/>
            </a:solidFill>
            <a:prstDash val="solid"/>
          </a:ln>
        </p:spPr>
      </p:sp>
      <p:sp>
        <p:nvSpPr>
          <p:cNvPr id="8" name="Text 5"/>
          <p:cNvSpPr txBox="1"/>
          <p:nvPr/>
        </p:nvSpPr>
        <p:spPr>
          <a:xfrm>
            <a:off x="4937760" y="960120"/>
            <a:ext cx="914400" cy="548640"/>
          </a:xfrm>
          <a:prstGeom prst="rect">
            <a:avLst/>
          </a:prstGeom>
          <a:noFill/>
          <a:ln/>
        </p:spPr>
        <p:txBody>
          <a:bodyPr wrap="square" lIns="0" tIns="0" rIns="0" bIns="0" rtlCol="0" anchor="t"/>
          <a:lstStyle/>
          <a:p>
            <a:pPr marL="0" indent="0">
              <a:buNone/>
            </a:pPr>
            <a:r>
              <a:rPr lang="en-US" sz="3000" b="1" dirty="0">
                <a:solidFill>
                  <a:srgbClr val="2EA8FF"/>
                </a:solidFill>
                <a:latin typeface="Arial Narrow" pitchFamily="34" charset="0"/>
                <a:ea typeface="Arial Narrow" pitchFamily="34" charset="-122"/>
                <a:cs typeface="Arial Narrow" pitchFamily="34" charset="-120"/>
              </a:rPr>
              <a:t>01</a:t>
            </a:r>
            <a:endParaRPr lang="en-US" sz="3000" dirty="0"/>
          </a:p>
        </p:txBody>
      </p:sp>
      <p:sp>
        <p:nvSpPr>
          <p:cNvPr id="9" name="Text 6"/>
          <p:cNvSpPr txBox="1"/>
          <p:nvPr/>
        </p:nvSpPr>
        <p:spPr>
          <a:xfrm>
            <a:off x="4937760" y="1600200"/>
            <a:ext cx="2834640" cy="365760"/>
          </a:xfrm>
          <a:prstGeom prst="rect">
            <a:avLst/>
          </a:prstGeom>
          <a:noFill/>
          <a:ln/>
        </p:spPr>
        <p:txBody>
          <a:bodyPr wrap="square" lIns="0" tIns="0" rIns="0" bIns="0" rtlCol="0" anchor="t"/>
          <a:lstStyle/>
          <a:p>
            <a:pPr marL="0" indent="0">
              <a:buNone/>
            </a:pPr>
            <a:r>
              <a:rPr lang="en-US" sz="2000" b="1" kern="0" spc="200" dirty="0" smtClean="0">
                <a:solidFill>
                  <a:srgbClr val="E6EEF8"/>
                </a:solidFill>
                <a:latin typeface="Arial Narrow" pitchFamily="34" charset="0"/>
              </a:rPr>
              <a:t>NARROW PATCHES</a:t>
            </a:r>
            <a:endParaRPr lang="en-US" sz="2000" dirty="0"/>
          </a:p>
        </p:txBody>
      </p:sp>
      <p:sp>
        <p:nvSpPr>
          <p:cNvPr id="10" name="Text 7"/>
          <p:cNvSpPr txBox="1"/>
          <p:nvPr/>
        </p:nvSpPr>
        <p:spPr>
          <a:xfrm>
            <a:off x="4937760" y="2103120"/>
            <a:ext cx="2834640" cy="1005840"/>
          </a:xfrm>
          <a:prstGeom prst="rect">
            <a:avLst/>
          </a:prstGeom>
          <a:noFill/>
          <a:ln/>
        </p:spPr>
        <p:txBody>
          <a:bodyPr wrap="square" lIns="0" tIns="0" rIns="0" bIns="0" rtlCol="0" anchor="t"/>
          <a:lstStyle/>
          <a:p>
            <a:pPr marL="0" indent="0">
              <a:buNone/>
            </a:pPr>
            <a:r>
              <a:rPr lang="en-US" sz="1700" dirty="0">
                <a:solidFill>
                  <a:srgbClr val="8FA3BC"/>
                </a:solidFill>
                <a:latin typeface="Calibri" pitchFamily="34" charset="0"/>
                <a:ea typeface="Calibri" pitchFamily="34" charset="-122"/>
                <a:cs typeface="Calibri" pitchFamily="34" charset="-120"/>
              </a:rPr>
              <a:t>Narrow or enclosed spaces that are awkward for a person to enter and look around.</a:t>
            </a:r>
            <a:endParaRPr lang="en-US" sz="1700" dirty="0"/>
          </a:p>
        </p:txBody>
      </p:sp>
      <p:sp>
        <p:nvSpPr>
          <p:cNvPr id="11" name="Shape 8"/>
          <p:cNvSpPr/>
          <p:nvPr/>
        </p:nvSpPr>
        <p:spPr>
          <a:xfrm>
            <a:off x="8229600" y="731520"/>
            <a:ext cx="3383280" cy="2560320"/>
          </a:xfrm>
          <a:prstGeom prst="rect">
            <a:avLst/>
          </a:prstGeom>
          <a:solidFill>
            <a:srgbClr val="101C30"/>
          </a:solidFill>
          <a:ln w="12700">
            <a:solidFill>
              <a:srgbClr val="2EA8FF"/>
            </a:solidFill>
            <a:prstDash val="solid"/>
          </a:ln>
        </p:spPr>
      </p:sp>
      <p:sp>
        <p:nvSpPr>
          <p:cNvPr id="12" name="Text 9"/>
          <p:cNvSpPr txBox="1"/>
          <p:nvPr/>
        </p:nvSpPr>
        <p:spPr>
          <a:xfrm>
            <a:off x="8503920" y="960120"/>
            <a:ext cx="914400" cy="548640"/>
          </a:xfrm>
          <a:prstGeom prst="rect">
            <a:avLst/>
          </a:prstGeom>
          <a:noFill/>
          <a:ln/>
        </p:spPr>
        <p:txBody>
          <a:bodyPr wrap="square" lIns="0" tIns="0" rIns="0" bIns="0" rtlCol="0" anchor="t"/>
          <a:lstStyle/>
          <a:p>
            <a:pPr marL="0" indent="0">
              <a:buNone/>
            </a:pPr>
            <a:r>
              <a:rPr lang="en-US" sz="3000" b="1" dirty="0">
                <a:solidFill>
                  <a:srgbClr val="2EA8FF"/>
                </a:solidFill>
                <a:latin typeface="Arial Narrow" pitchFamily="34" charset="0"/>
                <a:ea typeface="Arial Narrow" pitchFamily="34" charset="-122"/>
                <a:cs typeface="Arial Narrow" pitchFamily="34" charset="-120"/>
              </a:rPr>
              <a:t>02</a:t>
            </a:r>
            <a:endParaRPr lang="en-US" sz="3000" dirty="0"/>
          </a:p>
        </p:txBody>
      </p:sp>
      <p:sp>
        <p:nvSpPr>
          <p:cNvPr id="13" name="Text 10"/>
          <p:cNvSpPr txBox="1"/>
          <p:nvPr/>
        </p:nvSpPr>
        <p:spPr>
          <a:xfrm>
            <a:off x="8503920" y="1600200"/>
            <a:ext cx="2834640" cy="365760"/>
          </a:xfrm>
          <a:prstGeom prst="rect">
            <a:avLst/>
          </a:prstGeom>
          <a:noFill/>
          <a:ln/>
        </p:spPr>
        <p:txBody>
          <a:bodyPr wrap="square" lIns="0" tIns="0" rIns="0" bIns="0" rtlCol="0" anchor="t"/>
          <a:lstStyle/>
          <a:p>
            <a:pPr marL="0" indent="0">
              <a:buNone/>
            </a:pPr>
            <a:r>
              <a:rPr lang="en-US" sz="2000" b="1" kern="0" spc="200" dirty="0">
                <a:solidFill>
                  <a:srgbClr val="E6EEF8"/>
                </a:solidFill>
                <a:latin typeface="Arial Narrow" pitchFamily="34" charset="0"/>
                <a:ea typeface="Arial Narrow" pitchFamily="34" charset="-122"/>
                <a:cs typeface="Arial Narrow" pitchFamily="34" charset="-120"/>
              </a:rPr>
              <a:t>HAZARDOUS</a:t>
            </a:r>
            <a:endParaRPr lang="en-US" sz="2000" dirty="0"/>
          </a:p>
        </p:txBody>
      </p:sp>
      <p:sp>
        <p:nvSpPr>
          <p:cNvPr id="14" name="Text 11"/>
          <p:cNvSpPr txBox="1"/>
          <p:nvPr/>
        </p:nvSpPr>
        <p:spPr>
          <a:xfrm>
            <a:off x="8503920" y="2103120"/>
            <a:ext cx="2834640" cy="1005840"/>
          </a:xfrm>
          <a:prstGeom prst="rect">
            <a:avLst/>
          </a:prstGeom>
          <a:noFill/>
          <a:ln/>
        </p:spPr>
        <p:txBody>
          <a:bodyPr wrap="square" lIns="0" tIns="0" rIns="0" bIns="0" rtlCol="0" anchor="t"/>
          <a:lstStyle/>
          <a:p>
            <a:pPr marL="0" indent="0">
              <a:buNone/>
            </a:pPr>
            <a:r>
              <a:rPr lang="en-US" sz="1700" dirty="0">
                <a:solidFill>
                  <a:srgbClr val="8FA3BC"/>
                </a:solidFill>
                <a:latin typeface="Calibri" pitchFamily="34" charset="0"/>
                <a:ea typeface="Calibri" pitchFamily="34" charset="-122"/>
                <a:cs typeface="Calibri" pitchFamily="34" charset="-120"/>
              </a:rPr>
              <a:t>Conditions that are uncertain or unsafe to check in person.</a:t>
            </a:r>
            <a:endParaRPr lang="en-US" sz="1700" dirty="0"/>
          </a:p>
        </p:txBody>
      </p:sp>
      <p:sp>
        <p:nvSpPr>
          <p:cNvPr id="15" name="Shape 12"/>
          <p:cNvSpPr/>
          <p:nvPr/>
        </p:nvSpPr>
        <p:spPr>
          <a:xfrm>
            <a:off x="4663440" y="3474720"/>
            <a:ext cx="3383280" cy="2560320"/>
          </a:xfrm>
          <a:prstGeom prst="rect">
            <a:avLst/>
          </a:prstGeom>
          <a:solidFill>
            <a:srgbClr val="101C30"/>
          </a:solidFill>
          <a:ln w="12700">
            <a:solidFill>
              <a:srgbClr val="2EA8FF"/>
            </a:solidFill>
            <a:prstDash val="solid"/>
          </a:ln>
        </p:spPr>
      </p:sp>
      <p:sp>
        <p:nvSpPr>
          <p:cNvPr id="16" name="Text 13"/>
          <p:cNvSpPr txBox="1"/>
          <p:nvPr/>
        </p:nvSpPr>
        <p:spPr>
          <a:xfrm>
            <a:off x="4937760" y="3703320"/>
            <a:ext cx="914400" cy="548640"/>
          </a:xfrm>
          <a:prstGeom prst="rect">
            <a:avLst/>
          </a:prstGeom>
          <a:noFill/>
          <a:ln/>
        </p:spPr>
        <p:txBody>
          <a:bodyPr wrap="square" lIns="0" tIns="0" rIns="0" bIns="0" rtlCol="0" anchor="t"/>
          <a:lstStyle/>
          <a:p>
            <a:pPr marL="0" indent="0">
              <a:buNone/>
            </a:pPr>
            <a:r>
              <a:rPr lang="en-US" sz="3000" b="1" dirty="0">
                <a:solidFill>
                  <a:srgbClr val="2EA8FF"/>
                </a:solidFill>
                <a:latin typeface="Arial Narrow" pitchFamily="34" charset="0"/>
                <a:ea typeface="Arial Narrow" pitchFamily="34" charset="-122"/>
                <a:cs typeface="Arial Narrow" pitchFamily="34" charset="-120"/>
              </a:rPr>
              <a:t>03</a:t>
            </a:r>
            <a:endParaRPr lang="en-US" sz="3000" dirty="0"/>
          </a:p>
        </p:txBody>
      </p:sp>
      <p:sp>
        <p:nvSpPr>
          <p:cNvPr id="17" name="Text 14"/>
          <p:cNvSpPr txBox="1"/>
          <p:nvPr/>
        </p:nvSpPr>
        <p:spPr>
          <a:xfrm>
            <a:off x="4937760" y="4329363"/>
            <a:ext cx="2834640" cy="530994"/>
          </a:xfrm>
          <a:prstGeom prst="rect">
            <a:avLst/>
          </a:prstGeom>
          <a:noFill/>
          <a:ln/>
        </p:spPr>
        <p:txBody>
          <a:bodyPr wrap="square" lIns="0" tIns="0" rIns="0" bIns="0" rtlCol="0" anchor="t"/>
          <a:lstStyle/>
          <a:p>
            <a:pPr marL="0" indent="0">
              <a:buNone/>
            </a:pPr>
            <a:r>
              <a:rPr lang="en-US" b="1" kern="0" spc="200" dirty="0" smtClean="0">
                <a:solidFill>
                  <a:srgbClr val="E6EEF8"/>
                </a:solidFill>
                <a:latin typeface="Arial Narrow" pitchFamily="34" charset="0"/>
              </a:rPr>
              <a:t>INACCESSIBLE ZONES</a:t>
            </a:r>
            <a:endParaRPr lang="en-US" dirty="0"/>
          </a:p>
        </p:txBody>
      </p:sp>
      <p:sp>
        <p:nvSpPr>
          <p:cNvPr id="18" name="Text 15"/>
          <p:cNvSpPr txBox="1"/>
          <p:nvPr/>
        </p:nvSpPr>
        <p:spPr>
          <a:xfrm>
            <a:off x="4937760" y="4937760"/>
            <a:ext cx="2834640" cy="914399"/>
          </a:xfrm>
          <a:prstGeom prst="rect">
            <a:avLst/>
          </a:prstGeom>
          <a:noFill/>
          <a:ln/>
        </p:spPr>
        <p:txBody>
          <a:bodyPr wrap="square" lIns="0" tIns="0" rIns="0" bIns="0" rtlCol="0" anchor="t"/>
          <a:lstStyle/>
          <a:p>
            <a:pPr marL="0" indent="0">
              <a:buNone/>
            </a:pPr>
            <a:r>
              <a:rPr lang="en-US" sz="1600" dirty="0">
                <a:solidFill>
                  <a:srgbClr val="8FA3BC"/>
                </a:solidFill>
                <a:latin typeface="Calibri" pitchFamily="34" charset="0"/>
                <a:ea typeface="Calibri" pitchFamily="34" charset="-122"/>
                <a:cs typeface="Calibri" pitchFamily="34" charset="-120"/>
              </a:rPr>
              <a:t>Decisions that need a view of the situation quickly.</a:t>
            </a:r>
            <a:endParaRPr lang="en-US" sz="1600" dirty="0"/>
          </a:p>
        </p:txBody>
      </p:sp>
      <p:sp>
        <p:nvSpPr>
          <p:cNvPr id="19" name="Shape 16"/>
          <p:cNvSpPr/>
          <p:nvPr/>
        </p:nvSpPr>
        <p:spPr>
          <a:xfrm>
            <a:off x="8229600" y="3474720"/>
            <a:ext cx="3383280" cy="2560320"/>
          </a:xfrm>
          <a:prstGeom prst="rect">
            <a:avLst/>
          </a:prstGeom>
          <a:solidFill>
            <a:srgbClr val="101C30"/>
          </a:solidFill>
          <a:ln w="12700">
            <a:solidFill>
              <a:srgbClr val="2EA8FF"/>
            </a:solidFill>
            <a:prstDash val="solid"/>
          </a:ln>
        </p:spPr>
      </p:sp>
      <p:sp>
        <p:nvSpPr>
          <p:cNvPr id="20" name="Text 17"/>
          <p:cNvSpPr txBox="1"/>
          <p:nvPr/>
        </p:nvSpPr>
        <p:spPr>
          <a:xfrm>
            <a:off x="8503920" y="3703320"/>
            <a:ext cx="914400" cy="548640"/>
          </a:xfrm>
          <a:prstGeom prst="rect">
            <a:avLst/>
          </a:prstGeom>
          <a:noFill/>
          <a:ln/>
        </p:spPr>
        <p:txBody>
          <a:bodyPr wrap="square" lIns="0" tIns="0" rIns="0" bIns="0" rtlCol="0" anchor="t"/>
          <a:lstStyle/>
          <a:p>
            <a:pPr marL="0" indent="0">
              <a:buNone/>
            </a:pPr>
            <a:r>
              <a:rPr lang="en-US" sz="3000" b="1" dirty="0">
                <a:solidFill>
                  <a:srgbClr val="2EA8FF"/>
                </a:solidFill>
                <a:latin typeface="Arial Narrow" pitchFamily="34" charset="0"/>
                <a:ea typeface="Arial Narrow" pitchFamily="34" charset="-122"/>
                <a:cs typeface="Arial Narrow" pitchFamily="34" charset="-120"/>
              </a:rPr>
              <a:t>04</a:t>
            </a:r>
            <a:endParaRPr lang="en-US" sz="3000" dirty="0"/>
          </a:p>
        </p:txBody>
      </p:sp>
      <p:sp>
        <p:nvSpPr>
          <p:cNvPr id="21" name="Text 18"/>
          <p:cNvSpPr txBox="1"/>
          <p:nvPr/>
        </p:nvSpPr>
        <p:spPr>
          <a:xfrm>
            <a:off x="8503920" y="4294071"/>
            <a:ext cx="2834640" cy="548640"/>
          </a:xfrm>
          <a:prstGeom prst="rect">
            <a:avLst/>
          </a:prstGeom>
          <a:noFill/>
          <a:ln/>
        </p:spPr>
        <p:txBody>
          <a:bodyPr wrap="square" lIns="0" tIns="0" rIns="0" bIns="0" rtlCol="0" anchor="t"/>
          <a:lstStyle/>
          <a:p>
            <a:pPr marL="0" indent="0">
              <a:buNone/>
            </a:pPr>
            <a:r>
              <a:rPr lang="en-US" sz="2000" b="1" kern="0" spc="200" dirty="0">
                <a:solidFill>
                  <a:srgbClr val="E6EEF8"/>
                </a:solidFill>
                <a:latin typeface="Arial Narrow" pitchFamily="34" charset="0"/>
                <a:ea typeface="Arial Narrow" pitchFamily="34" charset="-122"/>
                <a:cs typeface="Arial Narrow" pitchFamily="34" charset="-120"/>
              </a:rPr>
              <a:t>UNKNOWN</a:t>
            </a:r>
            <a:endParaRPr lang="en-US" sz="2000" dirty="0"/>
          </a:p>
        </p:txBody>
      </p:sp>
      <p:sp>
        <p:nvSpPr>
          <p:cNvPr id="22" name="Text 19"/>
          <p:cNvSpPr txBox="1"/>
          <p:nvPr/>
        </p:nvSpPr>
        <p:spPr>
          <a:xfrm>
            <a:off x="8503920" y="4846320"/>
            <a:ext cx="2834640" cy="1005840"/>
          </a:xfrm>
          <a:prstGeom prst="rect">
            <a:avLst/>
          </a:prstGeom>
          <a:noFill/>
          <a:ln/>
        </p:spPr>
        <p:txBody>
          <a:bodyPr wrap="square" lIns="0" tIns="0" rIns="0" bIns="0" rtlCol="0" anchor="t"/>
          <a:lstStyle/>
          <a:p>
            <a:pPr marL="0" indent="0">
              <a:buNone/>
            </a:pPr>
            <a:r>
              <a:rPr lang="en-US" sz="1700" dirty="0">
                <a:solidFill>
                  <a:srgbClr val="8FA3BC"/>
                </a:solidFill>
                <a:latin typeface="Calibri" pitchFamily="34" charset="0"/>
                <a:ea typeface="Calibri" pitchFamily="34" charset="-122"/>
                <a:cs typeface="Calibri" pitchFamily="34" charset="-120"/>
              </a:rPr>
              <a:t>No picture of the space until someone is already inside it.</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2</a:t>
            </a:fld>
            <a:endParaRPr lang="en-US"/>
          </a:p>
        </p:txBody>
      </p:sp>
      <p:sp>
        <p:nvSpPr>
          <p:cNvPr id="23" name="TextBox 22"/>
          <p:cNvSpPr txBox="1"/>
          <p:nvPr/>
        </p:nvSpPr>
        <p:spPr>
          <a:xfrm>
            <a:off x="274320" y="1600200"/>
            <a:ext cx="4114800" cy="369332"/>
          </a:xfrm>
          <a:prstGeom prst="rect">
            <a:avLst/>
          </a:prstGeom>
          <a:noFill/>
        </p:spPr>
        <p:txBody>
          <a:bodyPr wrap="square" rtlCol="0">
            <a:spAutoFit/>
          </a:bodyPr>
          <a:lstStyle/>
          <a:p>
            <a:r>
              <a:rPr lang="en-IN" dirty="0" smtClean="0">
                <a:solidFill>
                  <a:schemeClr val="accent1">
                    <a:lumMod val="75000"/>
                  </a:schemeClr>
                </a:solidFill>
              </a:rPr>
              <a:t>--------------------------------------------------------</a:t>
            </a:r>
            <a:endParaRPr lang="en-IN"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02  NEED</a:t>
            </a:r>
            <a:endParaRPr lang="en-US" sz="1100" dirty="0"/>
          </a:p>
        </p:txBody>
      </p:sp>
      <p:sp>
        <p:nvSpPr>
          <p:cNvPr id="3" name="Text 46"/>
          <p:cNvSpPr>
            <a:spLocks noGrp="1"/>
          </p:cNvSpPr>
          <p:nvPr>
            <p:ph type="title" idx="147" hasCustomPrompt="1"/>
          </p:nvPr>
        </p:nvSpPr>
        <p:spPr>
          <a:xfrm>
            <a:off x="548640" y="914400"/>
            <a:ext cx="3749040" cy="1325880"/>
          </a:xfrm>
          <a:prstGeom prst="rect">
            <a:avLst/>
          </a:prstGeom>
          <a:noFill/>
          <a:ln/>
        </p:spPr>
        <p:txBody>
          <a:bodyPr wrap="square" lIns="0" tIns="0" rIns="0" bIns="0" rtlCol="0" anchor="t"/>
          <a:lstStyle/>
          <a:p>
            <a:pPr marL="0" indent="0" algn="l">
              <a:buNone/>
            </a:pPr>
            <a:r>
              <a:rPr lang="en-US" sz="3000" b="1" kern="0" spc="100" dirty="0" smtClean="0">
                <a:solidFill>
                  <a:srgbClr val="E6EEF8"/>
                </a:solidFill>
              </a:rPr>
              <a:t>A ROBO SCOUT THAT GOES FIRST</a:t>
            </a:r>
            <a:endParaRPr lang="en-US" sz="3000" dirty="0"/>
          </a:p>
        </p:txBody>
      </p:sp>
      <p:sp>
        <p:nvSpPr>
          <p:cNvPr id="4" name="Text 46"/>
          <p:cNvSpPr>
            <a:spLocks noGrp="1"/>
          </p:cNvSpPr>
          <p:nvPr>
            <p:ph type="body" idx="148" hasCustomPrompt="1"/>
          </p:nvPr>
        </p:nvSpPr>
        <p:spPr>
          <a:xfrm>
            <a:off x="548640" y="2534652"/>
            <a:ext cx="3657600" cy="711467"/>
          </a:xfrm>
          <a:prstGeom prst="rect">
            <a:avLst/>
          </a:prstGeom>
          <a:noFill/>
          <a:ln/>
        </p:spPr>
        <p:txBody>
          <a:bodyPr wrap="square" lIns="0" tIns="0" rIns="0" bIns="0" rtlCol="0" anchor="t"/>
          <a:lstStyle/>
          <a:p>
            <a:pPr marL="0" indent="0">
              <a:buNone/>
            </a:pPr>
            <a:r>
              <a:rPr lang="en-US" sz="1600" b="1" dirty="0">
                <a:solidFill>
                  <a:srgbClr val="2EA8FF"/>
                </a:solidFill>
              </a:rPr>
              <a:t>A robot can go first and report back while the human stays in charge.</a:t>
            </a:r>
            <a:endParaRPr lang="en-US" sz="16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The need is to extend human reach, not to replace human judgement.</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The operator commands, the robot moves, and what it observes returns to the human.</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The human interprets it and chooses the next command.</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Observation and information return depend on proposed upgrades.</a:t>
            </a:r>
            <a:endParaRPr lang="en-US" sz="1300" dirty="0"/>
          </a:p>
        </p:txBody>
      </p:sp>
      <p:sp>
        <p:nvSpPr>
          <p:cNvPr id="7" name="Shape 4"/>
          <p:cNvSpPr/>
          <p:nvPr/>
        </p:nvSpPr>
        <p:spPr>
          <a:xfrm>
            <a:off x="4663440" y="914400"/>
            <a:ext cx="2011680" cy="1371600"/>
          </a:xfrm>
          <a:prstGeom prst="rect">
            <a:avLst/>
          </a:prstGeom>
          <a:solidFill>
            <a:srgbClr val="101C30"/>
          </a:solidFill>
          <a:ln w="12700">
            <a:solidFill>
              <a:srgbClr val="2EA8FF"/>
            </a:solidFill>
            <a:prstDash val="solid"/>
          </a:ln>
        </p:spPr>
      </p:sp>
      <p:sp>
        <p:nvSpPr>
          <p:cNvPr id="8" name="Text 5"/>
          <p:cNvSpPr txBox="1"/>
          <p:nvPr/>
        </p:nvSpPr>
        <p:spPr>
          <a:xfrm>
            <a:off x="4709160" y="914400"/>
            <a:ext cx="1920240" cy="1371600"/>
          </a:xfrm>
          <a:prstGeom prst="rect">
            <a:avLst/>
          </a:prstGeom>
          <a:noFill/>
          <a:ln/>
        </p:spPr>
        <p:txBody>
          <a:bodyPr wrap="square" lIns="0" tIns="0" rIns="0" bIns="0" rtlCol="0" anchor="ctr"/>
          <a:lstStyle/>
          <a:p>
            <a:pPr marL="0" indent="0" algn="ctr">
              <a:buNone/>
            </a:pPr>
            <a:r>
              <a:rPr lang="en-US" sz="1500" b="1" kern="0" spc="100" dirty="0">
                <a:solidFill>
                  <a:srgbClr val="E6EEF8"/>
                </a:solidFill>
                <a:latin typeface="Arial Narrow" pitchFamily="34" charset="0"/>
                <a:ea typeface="Arial Narrow" pitchFamily="34" charset="-122"/>
                <a:cs typeface="Arial Narrow" pitchFamily="34" charset="-120"/>
              </a:rPr>
              <a:t>OPERATOR</a:t>
            </a:r>
            <a:endParaRPr lang="en-US" sz="1500" dirty="0"/>
          </a:p>
          <a:p>
            <a:pPr marL="0" indent="0" algn="ctr">
              <a:buNone/>
            </a:pPr>
            <a:r>
              <a:rPr lang="en-US" sz="1500" b="1" kern="0" spc="100" dirty="0">
                <a:solidFill>
                  <a:srgbClr val="E6EEF8"/>
                </a:solidFill>
                <a:latin typeface="Arial Narrow" pitchFamily="34" charset="0"/>
                <a:ea typeface="Arial Narrow" pitchFamily="34" charset="-122"/>
                <a:cs typeface="Arial Narrow" pitchFamily="34" charset="-120"/>
              </a:rPr>
              <a:t>COMMAND</a:t>
            </a:r>
            <a:endParaRPr lang="en-US" sz="1500" dirty="0"/>
          </a:p>
        </p:txBody>
      </p:sp>
      <p:sp>
        <p:nvSpPr>
          <p:cNvPr id="9" name="Shape 6"/>
          <p:cNvSpPr/>
          <p:nvPr/>
        </p:nvSpPr>
        <p:spPr>
          <a:xfrm>
            <a:off x="6693408" y="1600200"/>
            <a:ext cx="420624" cy="0"/>
          </a:xfrm>
          <a:prstGeom prst="line">
            <a:avLst/>
          </a:prstGeom>
          <a:noFill/>
          <a:ln w="15875">
            <a:solidFill>
              <a:srgbClr val="2EA8FF"/>
            </a:solidFill>
            <a:prstDash val="solid"/>
            <a:tailEnd type="triangle"/>
          </a:ln>
        </p:spPr>
      </p:sp>
      <p:sp>
        <p:nvSpPr>
          <p:cNvPr id="10" name="Shape 7"/>
          <p:cNvSpPr/>
          <p:nvPr/>
        </p:nvSpPr>
        <p:spPr>
          <a:xfrm>
            <a:off x="7132320" y="914400"/>
            <a:ext cx="2011680" cy="1371600"/>
          </a:xfrm>
          <a:prstGeom prst="rect">
            <a:avLst/>
          </a:prstGeom>
          <a:solidFill>
            <a:srgbClr val="101C30"/>
          </a:solidFill>
          <a:ln w="12700">
            <a:solidFill>
              <a:srgbClr val="2EA8FF"/>
            </a:solidFill>
            <a:prstDash val="solid"/>
          </a:ln>
        </p:spPr>
      </p:sp>
      <p:sp>
        <p:nvSpPr>
          <p:cNvPr id="11" name="Text 8"/>
          <p:cNvSpPr txBox="1"/>
          <p:nvPr/>
        </p:nvSpPr>
        <p:spPr>
          <a:xfrm>
            <a:off x="7178040" y="914400"/>
            <a:ext cx="1920240" cy="1371600"/>
          </a:xfrm>
          <a:prstGeom prst="rect">
            <a:avLst/>
          </a:prstGeom>
          <a:noFill/>
          <a:ln/>
        </p:spPr>
        <p:txBody>
          <a:bodyPr wrap="square" lIns="0" tIns="0" rIns="0" bIns="0" rtlCol="0" anchor="ctr"/>
          <a:lstStyle/>
          <a:p>
            <a:pPr marL="0" indent="0" algn="ctr">
              <a:buNone/>
            </a:pPr>
            <a:r>
              <a:rPr lang="en-US" sz="1500" b="1" kern="0" spc="100" dirty="0">
                <a:solidFill>
                  <a:srgbClr val="E6EEF8"/>
                </a:solidFill>
                <a:latin typeface="Arial Narrow" pitchFamily="34" charset="0"/>
                <a:ea typeface="Arial Narrow" pitchFamily="34" charset="-122"/>
                <a:cs typeface="Arial Narrow" pitchFamily="34" charset="-120"/>
              </a:rPr>
              <a:t>ROBOT</a:t>
            </a:r>
            <a:endParaRPr lang="en-US" sz="1500" dirty="0"/>
          </a:p>
          <a:p>
            <a:pPr marL="0" indent="0" algn="ctr">
              <a:buNone/>
            </a:pPr>
            <a:r>
              <a:rPr lang="en-US" sz="1500" b="1" kern="0" spc="100" dirty="0" smtClean="0">
                <a:solidFill>
                  <a:srgbClr val="E6EEF8"/>
                </a:solidFill>
                <a:latin typeface="Arial Narrow" pitchFamily="34" charset="0"/>
                <a:ea typeface="Arial Narrow" pitchFamily="34" charset="-122"/>
                <a:cs typeface="Arial Narrow" pitchFamily="34" charset="-120"/>
              </a:rPr>
              <a:t>MOVES</a:t>
            </a:r>
            <a:endParaRPr lang="en-US" sz="1500" dirty="0"/>
          </a:p>
        </p:txBody>
      </p:sp>
      <p:sp>
        <p:nvSpPr>
          <p:cNvPr id="12" name="Shape 9"/>
          <p:cNvSpPr/>
          <p:nvPr/>
        </p:nvSpPr>
        <p:spPr>
          <a:xfrm>
            <a:off x="9162288" y="1600200"/>
            <a:ext cx="420624" cy="0"/>
          </a:xfrm>
          <a:prstGeom prst="line">
            <a:avLst/>
          </a:prstGeom>
          <a:noFill/>
          <a:ln w="15875">
            <a:solidFill>
              <a:srgbClr val="2EA8FF"/>
            </a:solidFill>
            <a:prstDash val="solid"/>
            <a:tailEnd type="triangle"/>
          </a:ln>
        </p:spPr>
      </p:sp>
      <p:sp>
        <p:nvSpPr>
          <p:cNvPr id="13" name="Shape 10"/>
          <p:cNvSpPr/>
          <p:nvPr/>
        </p:nvSpPr>
        <p:spPr>
          <a:xfrm>
            <a:off x="9601200" y="914400"/>
            <a:ext cx="2011680" cy="1371600"/>
          </a:xfrm>
          <a:prstGeom prst="rect">
            <a:avLst/>
          </a:prstGeom>
          <a:solidFill>
            <a:srgbClr val="101C30"/>
          </a:solidFill>
          <a:ln w="12700">
            <a:solidFill>
              <a:srgbClr val="5FB8B0"/>
            </a:solidFill>
            <a:prstDash val="dash"/>
          </a:ln>
        </p:spPr>
      </p:sp>
      <p:sp>
        <p:nvSpPr>
          <p:cNvPr id="14" name="Text 11"/>
          <p:cNvSpPr txBox="1"/>
          <p:nvPr/>
        </p:nvSpPr>
        <p:spPr>
          <a:xfrm>
            <a:off x="9646920" y="914400"/>
            <a:ext cx="1920240" cy="1371600"/>
          </a:xfrm>
          <a:prstGeom prst="rect">
            <a:avLst/>
          </a:prstGeom>
          <a:noFill/>
          <a:ln/>
        </p:spPr>
        <p:txBody>
          <a:bodyPr wrap="square" lIns="0" tIns="0" rIns="0" bIns="0" rtlCol="0" anchor="ctr"/>
          <a:lstStyle/>
          <a:p>
            <a:pPr marL="0" indent="0" algn="ctr">
              <a:buNone/>
            </a:pPr>
            <a:r>
              <a:rPr lang="en-US" sz="1500" b="1" kern="0" spc="100" dirty="0" smtClean="0">
                <a:solidFill>
                  <a:srgbClr val="E6EEF8"/>
                </a:solidFill>
                <a:latin typeface="Arial Narrow" pitchFamily="34" charset="0"/>
              </a:rPr>
              <a:t>OBSERVE AND ANALYSE</a:t>
            </a:r>
            <a:endParaRPr lang="en-US" sz="1500" dirty="0"/>
          </a:p>
        </p:txBody>
      </p:sp>
      <p:sp>
        <p:nvSpPr>
          <p:cNvPr id="15" name="Shape 12"/>
          <p:cNvSpPr/>
          <p:nvPr/>
        </p:nvSpPr>
        <p:spPr>
          <a:xfrm>
            <a:off x="4663440" y="3291840"/>
            <a:ext cx="2011680" cy="1371600"/>
          </a:xfrm>
          <a:prstGeom prst="rect">
            <a:avLst/>
          </a:prstGeom>
          <a:solidFill>
            <a:srgbClr val="101C30"/>
          </a:solidFill>
          <a:ln w="12700">
            <a:solidFill>
              <a:srgbClr val="5FB8B0"/>
            </a:solidFill>
            <a:prstDash val="dash"/>
          </a:ln>
        </p:spPr>
      </p:sp>
      <p:sp>
        <p:nvSpPr>
          <p:cNvPr id="16" name="Text 13"/>
          <p:cNvSpPr txBox="1"/>
          <p:nvPr/>
        </p:nvSpPr>
        <p:spPr>
          <a:xfrm>
            <a:off x="4709160" y="3291840"/>
            <a:ext cx="1920240" cy="1371600"/>
          </a:xfrm>
          <a:prstGeom prst="rect">
            <a:avLst/>
          </a:prstGeom>
          <a:noFill/>
          <a:ln/>
        </p:spPr>
        <p:txBody>
          <a:bodyPr wrap="square" lIns="0" tIns="0" rIns="0" bIns="0" rtlCol="0" anchor="ctr"/>
          <a:lstStyle/>
          <a:p>
            <a:pPr marL="0" indent="0" algn="ctr">
              <a:buNone/>
            </a:pPr>
            <a:r>
              <a:rPr lang="en-US" sz="1500" b="1" kern="0" spc="100" dirty="0">
                <a:solidFill>
                  <a:srgbClr val="E6EEF8"/>
                </a:solidFill>
                <a:latin typeface="Arial Narrow" pitchFamily="34" charset="0"/>
                <a:ea typeface="Arial Narrow" pitchFamily="34" charset="-122"/>
                <a:cs typeface="Arial Narrow" pitchFamily="34" charset="-120"/>
              </a:rPr>
              <a:t>INFORMATION</a:t>
            </a:r>
            <a:endParaRPr lang="en-US" sz="1500" dirty="0"/>
          </a:p>
          <a:p>
            <a:pPr marL="0" indent="0" algn="ctr">
              <a:buNone/>
            </a:pPr>
            <a:r>
              <a:rPr lang="en-US" sz="1500" b="1" kern="0" spc="100" dirty="0">
                <a:solidFill>
                  <a:srgbClr val="E6EEF8"/>
                </a:solidFill>
                <a:latin typeface="Arial Narrow" pitchFamily="34" charset="0"/>
                <a:ea typeface="Arial Narrow" pitchFamily="34" charset="-122"/>
                <a:cs typeface="Arial Narrow" pitchFamily="34" charset="-120"/>
              </a:rPr>
              <a:t>RETURNED</a:t>
            </a:r>
            <a:endParaRPr lang="en-US" sz="1500" dirty="0"/>
          </a:p>
        </p:txBody>
      </p:sp>
      <p:sp>
        <p:nvSpPr>
          <p:cNvPr id="17" name="Shape 14"/>
          <p:cNvSpPr/>
          <p:nvPr/>
        </p:nvSpPr>
        <p:spPr>
          <a:xfrm>
            <a:off x="6693408" y="3977640"/>
            <a:ext cx="420624" cy="0"/>
          </a:xfrm>
          <a:prstGeom prst="line">
            <a:avLst/>
          </a:prstGeom>
          <a:noFill/>
          <a:ln w="15875">
            <a:solidFill>
              <a:srgbClr val="2EA8FF"/>
            </a:solidFill>
            <a:prstDash val="solid"/>
            <a:tailEnd type="triangle"/>
          </a:ln>
        </p:spPr>
      </p:sp>
      <p:sp>
        <p:nvSpPr>
          <p:cNvPr id="18" name="Shape 15"/>
          <p:cNvSpPr/>
          <p:nvPr/>
        </p:nvSpPr>
        <p:spPr>
          <a:xfrm>
            <a:off x="7132320" y="3291840"/>
            <a:ext cx="2011680" cy="1371600"/>
          </a:xfrm>
          <a:prstGeom prst="rect">
            <a:avLst/>
          </a:prstGeom>
          <a:solidFill>
            <a:srgbClr val="101C30"/>
          </a:solidFill>
          <a:ln w="12700">
            <a:solidFill>
              <a:srgbClr val="2EA8FF"/>
            </a:solidFill>
            <a:prstDash val="solid"/>
          </a:ln>
        </p:spPr>
      </p:sp>
      <p:sp>
        <p:nvSpPr>
          <p:cNvPr id="19" name="Text 16"/>
          <p:cNvSpPr txBox="1"/>
          <p:nvPr/>
        </p:nvSpPr>
        <p:spPr>
          <a:xfrm>
            <a:off x="7178040" y="3291840"/>
            <a:ext cx="1920240" cy="1371600"/>
          </a:xfrm>
          <a:prstGeom prst="rect">
            <a:avLst/>
          </a:prstGeom>
          <a:noFill/>
          <a:ln/>
        </p:spPr>
        <p:txBody>
          <a:bodyPr wrap="square" lIns="0" tIns="0" rIns="0" bIns="0" rtlCol="0" anchor="ctr"/>
          <a:lstStyle/>
          <a:p>
            <a:pPr marL="0" indent="0" algn="ctr">
              <a:buNone/>
            </a:pPr>
            <a:r>
              <a:rPr lang="en-US" sz="1500" b="1" kern="0" spc="100" dirty="0">
                <a:solidFill>
                  <a:srgbClr val="E6EEF8"/>
                </a:solidFill>
                <a:latin typeface="Arial Narrow" pitchFamily="34" charset="0"/>
                <a:ea typeface="Arial Narrow" pitchFamily="34" charset="-122"/>
                <a:cs typeface="Arial Narrow" pitchFamily="34" charset="-120"/>
              </a:rPr>
              <a:t>HUMAN</a:t>
            </a:r>
            <a:endParaRPr lang="en-US" sz="1500" dirty="0"/>
          </a:p>
          <a:p>
            <a:pPr marL="0" indent="0" algn="ctr">
              <a:buNone/>
            </a:pPr>
            <a:r>
              <a:rPr lang="en-US" sz="1500" b="1" kern="0" spc="100" dirty="0">
                <a:solidFill>
                  <a:srgbClr val="E6EEF8"/>
                </a:solidFill>
                <a:latin typeface="Arial Narrow" pitchFamily="34" charset="0"/>
                <a:ea typeface="Arial Narrow" pitchFamily="34" charset="-122"/>
                <a:cs typeface="Arial Narrow" pitchFamily="34" charset="-120"/>
              </a:rPr>
              <a:t>DECISION</a:t>
            </a:r>
            <a:endParaRPr lang="en-US" sz="1500" dirty="0"/>
          </a:p>
        </p:txBody>
      </p:sp>
      <p:sp>
        <p:nvSpPr>
          <p:cNvPr id="20" name="Shape 17"/>
          <p:cNvSpPr/>
          <p:nvPr/>
        </p:nvSpPr>
        <p:spPr>
          <a:xfrm>
            <a:off x="9162288" y="3977640"/>
            <a:ext cx="420624" cy="0"/>
          </a:xfrm>
          <a:prstGeom prst="line">
            <a:avLst/>
          </a:prstGeom>
          <a:noFill/>
          <a:ln w="15875">
            <a:solidFill>
              <a:srgbClr val="2EA8FF"/>
            </a:solidFill>
            <a:prstDash val="solid"/>
            <a:tailEnd type="triangle"/>
          </a:ln>
        </p:spPr>
      </p:sp>
      <p:sp>
        <p:nvSpPr>
          <p:cNvPr id="21" name="Shape 18"/>
          <p:cNvSpPr/>
          <p:nvPr/>
        </p:nvSpPr>
        <p:spPr>
          <a:xfrm>
            <a:off x="9601200" y="3291840"/>
            <a:ext cx="2011680" cy="1371600"/>
          </a:xfrm>
          <a:prstGeom prst="rect">
            <a:avLst/>
          </a:prstGeom>
          <a:solidFill>
            <a:srgbClr val="101C30"/>
          </a:solidFill>
          <a:ln w="12700">
            <a:solidFill>
              <a:srgbClr val="2EA8FF"/>
            </a:solidFill>
            <a:prstDash val="solid"/>
          </a:ln>
        </p:spPr>
      </p:sp>
      <p:sp>
        <p:nvSpPr>
          <p:cNvPr id="22" name="Text 19"/>
          <p:cNvSpPr txBox="1"/>
          <p:nvPr/>
        </p:nvSpPr>
        <p:spPr>
          <a:xfrm>
            <a:off x="9646920" y="3291840"/>
            <a:ext cx="1920240" cy="1371600"/>
          </a:xfrm>
          <a:prstGeom prst="rect">
            <a:avLst/>
          </a:prstGeom>
          <a:noFill/>
          <a:ln/>
        </p:spPr>
        <p:txBody>
          <a:bodyPr wrap="square" lIns="0" tIns="0" rIns="0" bIns="0" rtlCol="0" anchor="ctr"/>
          <a:lstStyle/>
          <a:p>
            <a:pPr marL="0" indent="0" algn="ctr">
              <a:buNone/>
            </a:pPr>
            <a:r>
              <a:rPr lang="en-US" sz="1500" b="1" kern="0" spc="100" dirty="0">
                <a:solidFill>
                  <a:srgbClr val="E6EEF8"/>
                </a:solidFill>
                <a:latin typeface="Arial Narrow" pitchFamily="34" charset="0"/>
                <a:ea typeface="Arial Narrow" pitchFamily="34" charset="-122"/>
                <a:cs typeface="Arial Narrow" pitchFamily="34" charset="-120"/>
              </a:rPr>
              <a:t>NEXT</a:t>
            </a:r>
            <a:endParaRPr lang="en-US" sz="1500" dirty="0"/>
          </a:p>
          <a:p>
            <a:pPr marL="0" indent="0" algn="ctr">
              <a:buNone/>
            </a:pPr>
            <a:r>
              <a:rPr lang="en-US" sz="1500" b="1" kern="0" spc="100" dirty="0">
                <a:solidFill>
                  <a:srgbClr val="E6EEF8"/>
                </a:solidFill>
                <a:latin typeface="Arial Narrow" pitchFamily="34" charset="0"/>
                <a:ea typeface="Arial Narrow" pitchFamily="34" charset="-122"/>
                <a:cs typeface="Arial Narrow" pitchFamily="34" charset="-120"/>
              </a:rPr>
              <a:t>COMMAND</a:t>
            </a:r>
            <a:endParaRPr lang="en-US" sz="1500" dirty="0"/>
          </a:p>
        </p:txBody>
      </p:sp>
      <p:sp>
        <p:nvSpPr>
          <p:cNvPr id="23" name="Shape 20"/>
          <p:cNvSpPr/>
          <p:nvPr/>
        </p:nvSpPr>
        <p:spPr>
          <a:xfrm>
            <a:off x="10607040" y="2286000"/>
            <a:ext cx="0" cy="502920"/>
          </a:xfrm>
          <a:prstGeom prst="line">
            <a:avLst/>
          </a:prstGeom>
          <a:noFill/>
          <a:ln w="15875">
            <a:solidFill>
              <a:srgbClr val="2EA8FF"/>
            </a:solidFill>
            <a:prstDash val="solid"/>
          </a:ln>
        </p:spPr>
      </p:sp>
      <p:sp>
        <p:nvSpPr>
          <p:cNvPr id="24" name="Shape 21"/>
          <p:cNvSpPr/>
          <p:nvPr/>
        </p:nvSpPr>
        <p:spPr>
          <a:xfrm>
            <a:off x="5669280" y="2788920"/>
            <a:ext cx="4937760" cy="0"/>
          </a:xfrm>
          <a:prstGeom prst="line">
            <a:avLst/>
          </a:prstGeom>
          <a:noFill/>
          <a:ln w="15875">
            <a:solidFill>
              <a:srgbClr val="2EA8FF"/>
            </a:solidFill>
            <a:prstDash val="solid"/>
          </a:ln>
        </p:spPr>
      </p:sp>
      <p:sp>
        <p:nvSpPr>
          <p:cNvPr id="25" name="Shape 22"/>
          <p:cNvSpPr/>
          <p:nvPr/>
        </p:nvSpPr>
        <p:spPr>
          <a:xfrm>
            <a:off x="5669280" y="2788920"/>
            <a:ext cx="0" cy="502920"/>
          </a:xfrm>
          <a:prstGeom prst="line">
            <a:avLst/>
          </a:prstGeom>
          <a:noFill/>
          <a:ln w="15875">
            <a:solidFill>
              <a:srgbClr val="2EA8FF"/>
            </a:solidFill>
            <a:prstDash val="solid"/>
            <a:tailEnd type="triangle"/>
          </a:ln>
        </p:spPr>
      </p:sp>
      <p:sp>
        <p:nvSpPr>
          <p:cNvPr id="26" name="Shape 23"/>
          <p:cNvSpPr/>
          <p:nvPr/>
        </p:nvSpPr>
        <p:spPr>
          <a:xfrm>
            <a:off x="4663440" y="5029200"/>
            <a:ext cx="1463040" cy="256032"/>
          </a:xfrm>
          <a:prstGeom prst="rect">
            <a:avLst/>
          </a:prstGeom>
          <a:solidFill>
            <a:srgbClr val="0A1220"/>
          </a:solidFill>
          <a:ln w="9525">
            <a:solidFill>
              <a:srgbClr val="2EA8FF"/>
            </a:solidFill>
            <a:prstDash val="solid"/>
          </a:ln>
        </p:spPr>
      </p:sp>
      <p:sp>
        <p:nvSpPr>
          <p:cNvPr id="27" name="Text 24"/>
          <p:cNvSpPr txBox="1"/>
          <p:nvPr/>
        </p:nvSpPr>
        <p:spPr>
          <a:xfrm>
            <a:off x="4663440" y="5029200"/>
            <a:ext cx="1463040" cy="256032"/>
          </a:xfrm>
          <a:prstGeom prst="rect">
            <a:avLst/>
          </a:prstGeom>
          <a:noFill/>
          <a:ln/>
        </p:spPr>
        <p:txBody>
          <a:bodyPr wrap="square" lIns="0" tIns="0" rIns="0" bIns="0" rtlCol="0" anchor="ctr"/>
          <a:lstStyle/>
          <a:p>
            <a:pPr marL="0" indent="0" algn="ctr">
              <a:buNone/>
            </a:pPr>
            <a:r>
              <a:rPr lang="en-US" sz="900" b="1" kern="0" spc="200" dirty="0">
                <a:solidFill>
                  <a:srgbClr val="2EA8FF"/>
                </a:solidFill>
                <a:latin typeface="Calibri" pitchFamily="34" charset="0"/>
                <a:ea typeface="Calibri" pitchFamily="34" charset="-122"/>
                <a:cs typeface="Calibri" pitchFamily="34" charset="-120"/>
              </a:rPr>
              <a:t>CURRENT</a:t>
            </a:r>
            <a:endParaRPr lang="en-US" sz="900" dirty="0"/>
          </a:p>
        </p:txBody>
      </p:sp>
      <p:sp>
        <p:nvSpPr>
          <p:cNvPr id="28" name="Shape 25"/>
          <p:cNvSpPr/>
          <p:nvPr/>
        </p:nvSpPr>
        <p:spPr>
          <a:xfrm>
            <a:off x="6309360" y="5029200"/>
            <a:ext cx="2194560" cy="256032"/>
          </a:xfrm>
          <a:prstGeom prst="rect">
            <a:avLst/>
          </a:prstGeom>
          <a:solidFill>
            <a:srgbClr val="0A1220"/>
          </a:solidFill>
          <a:ln w="9525">
            <a:solidFill>
              <a:srgbClr val="5FB8B0"/>
            </a:solidFill>
            <a:prstDash val="dash"/>
          </a:ln>
        </p:spPr>
      </p:sp>
      <p:sp>
        <p:nvSpPr>
          <p:cNvPr id="29" name="Text 26"/>
          <p:cNvSpPr txBox="1"/>
          <p:nvPr/>
        </p:nvSpPr>
        <p:spPr>
          <a:xfrm>
            <a:off x="6309360" y="5029200"/>
            <a:ext cx="2194560" cy="256032"/>
          </a:xfrm>
          <a:prstGeom prst="rect">
            <a:avLst/>
          </a:prstGeom>
          <a:noFill/>
          <a:ln/>
        </p:spPr>
        <p:txBody>
          <a:bodyPr wrap="square" lIns="0" tIns="0" rIns="0" bIns="0" rtlCol="0" anchor="ctr"/>
          <a:lstStyle/>
          <a:p>
            <a:pPr marL="0" indent="0" algn="ctr">
              <a:buNone/>
            </a:pPr>
            <a:r>
              <a:rPr lang="en-US" sz="900" b="1" kern="0" spc="200" dirty="0">
                <a:solidFill>
                  <a:srgbClr val="5FB8B0"/>
                </a:solidFill>
                <a:latin typeface="Calibri" pitchFamily="34" charset="0"/>
                <a:ea typeface="Calibri" pitchFamily="34" charset="-122"/>
                <a:cs typeface="Calibri" pitchFamily="34" charset="-120"/>
              </a:rPr>
              <a:t>PROPOSED  (PHASE 2)</a:t>
            </a:r>
            <a:endParaRPr lang="en-US" sz="900" dirty="0"/>
          </a:p>
        </p:txBody>
      </p:sp>
      <p:sp>
        <p:nvSpPr>
          <p:cNvPr id="30" name="Text 27"/>
          <p:cNvSpPr txBox="1"/>
          <p:nvPr/>
        </p:nvSpPr>
        <p:spPr>
          <a:xfrm>
            <a:off x="4663440" y="5440680"/>
            <a:ext cx="6949440" cy="365760"/>
          </a:xfrm>
          <a:prstGeom prst="rect">
            <a:avLst/>
          </a:prstGeom>
          <a:noFill/>
          <a:ln/>
        </p:spPr>
        <p:txBody>
          <a:bodyPr wrap="square" lIns="0" tIns="0" rIns="0" bIns="0" rtlCol="0" anchor="t"/>
          <a:lstStyle/>
          <a:p>
            <a:pPr marL="0" indent="0">
              <a:buNone/>
            </a:pPr>
            <a:r>
              <a:rPr lang="en-US" sz="1500" b="1" dirty="0">
                <a:solidFill>
                  <a:srgbClr val="2EA8FF"/>
                </a:solidFill>
                <a:latin typeface="Calibri" pitchFamily="34" charset="0"/>
                <a:ea typeface="Calibri" pitchFamily="34" charset="-122"/>
                <a:cs typeface="Calibri" pitchFamily="34" charset="-120"/>
              </a:rPr>
              <a:t>The loop repeats. The human always interprets and decides.</a:t>
            </a:r>
            <a:endParaRPr lang="en-US" sz="1500" dirty="0"/>
          </a:p>
        </p:txBody>
      </p:sp>
      <p:sp>
        <p:nvSpPr>
          <p:cNvPr id="6"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3</a:t>
            </a:fld>
            <a:endParaRPr lang="en-US"/>
          </a:p>
        </p:txBody>
      </p:sp>
      <p:cxnSp>
        <p:nvCxnSpPr>
          <p:cNvPr id="32" name="Straight Connector 31"/>
          <p:cNvCxnSpPr/>
          <p:nvPr/>
        </p:nvCxnSpPr>
        <p:spPr>
          <a:xfrm>
            <a:off x="224589" y="2240280"/>
            <a:ext cx="3981651"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03  WHY QUADRUPED</a:t>
            </a:r>
            <a:endParaRPr lang="en-US" sz="1100" dirty="0"/>
          </a:p>
        </p:txBody>
      </p:sp>
      <p:sp>
        <p:nvSpPr>
          <p:cNvPr id="3" name="Text 46"/>
          <p:cNvSpPr>
            <a:spLocks noGrp="1"/>
          </p:cNvSpPr>
          <p:nvPr>
            <p:ph type="title" idx="147" hasCustomPrompt="1"/>
          </p:nvPr>
        </p:nvSpPr>
        <p:spPr>
          <a:xfrm>
            <a:off x="548640" y="777240"/>
            <a:ext cx="3749040" cy="1463040"/>
          </a:xfrm>
          <a:prstGeom prst="rect">
            <a:avLst/>
          </a:prstGeom>
          <a:noFill/>
          <a:ln/>
        </p:spPr>
        <p:txBody>
          <a:bodyPr wrap="square" lIns="0" tIns="0" rIns="0" bIns="0" rtlCol="0" anchor="t"/>
          <a:lstStyle/>
          <a:p>
            <a:pPr marL="0" indent="0" algn="l">
              <a:buNone/>
            </a:pPr>
            <a:r>
              <a:rPr lang="en-US" sz="3000" b="1" kern="0" spc="100" dirty="0">
                <a:solidFill>
                  <a:srgbClr val="E6EEF8"/>
                </a:solidFill>
              </a:rPr>
              <a:t>LEGS: A CHOICE WITH A COST</a:t>
            </a:r>
            <a:endParaRPr lang="en-US" sz="3000" dirty="0"/>
          </a:p>
        </p:txBody>
      </p:sp>
      <p:sp>
        <p:nvSpPr>
          <p:cNvPr id="4" name="Text 46"/>
          <p:cNvSpPr>
            <a:spLocks noGrp="1"/>
          </p:cNvSpPr>
          <p:nvPr>
            <p:ph type="body" idx="148" hasCustomPrompt="1"/>
          </p:nvPr>
        </p:nvSpPr>
        <p:spPr>
          <a:xfrm>
            <a:off x="548640" y="2377440"/>
            <a:ext cx="3657600" cy="868680"/>
          </a:xfrm>
          <a:prstGeom prst="rect">
            <a:avLst/>
          </a:prstGeom>
          <a:noFill/>
          <a:ln/>
        </p:spPr>
        <p:txBody>
          <a:bodyPr wrap="square" lIns="0" tIns="0" rIns="0" bIns="0" rtlCol="0" anchor="t"/>
          <a:lstStyle/>
          <a:p>
            <a:pPr marL="0" indent="0">
              <a:buNone/>
            </a:pPr>
            <a:r>
              <a:rPr lang="en-US" sz="1800" b="1" dirty="0">
                <a:solidFill>
                  <a:srgbClr val="2EA8FF"/>
                </a:solidFill>
              </a:rPr>
              <a:t>Individual foot placement is the gain; greater complexity is the price.</a:t>
            </a:r>
            <a:endParaRPr lang="en-US" sz="18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700" dirty="0">
                <a:solidFill>
                  <a:srgbClr val="8FA3BC"/>
                </a:solidFill>
              </a:rPr>
              <a:t>Wheels are simpler and efficient on smooth ground.</a:t>
            </a:r>
            <a:endParaRPr lang="en-US" sz="1700" dirty="0"/>
          </a:p>
          <a:p>
            <a:pPr marL="0" indent="0">
              <a:spcAft>
                <a:spcPts val="900"/>
              </a:spcAft>
              <a:buNone/>
            </a:pPr>
            <a:r>
              <a:rPr lang="en-US" sz="1700" dirty="0">
                <a:solidFill>
                  <a:srgbClr val="8FA3BC"/>
                </a:solidFill>
              </a:rPr>
              <a:t>Legs place each foot </a:t>
            </a:r>
            <a:r>
              <a:rPr lang="en-US" sz="1700" dirty="0" err="1" smtClean="0">
                <a:solidFill>
                  <a:srgbClr val="8FA3BC"/>
                </a:solidFill>
              </a:rPr>
              <a:t>individually,which</a:t>
            </a:r>
            <a:r>
              <a:rPr lang="en-US" sz="1700" dirty="0" smtClean="0">
                <a:solidFill>
                  <a:srgbClr val="8FA3BC"/>
                </a:solidFill>
              </a:rPr>
              <a:t> allows flexibility </a:t>
            </a:r>
          </a:p>
          <a:p>
            <a:pPr marL="0" indent="0">
              <a:spcAft>
                <a:spcPts val="900"/>
              </a:spcAft>
              <a:buNone/>
            </a:pPr>
            <a:r>
              <a:rPr lang="en-US" sz="1700" dirty="0" smtClean="0">
                <a:solidFill>
                  <a:srgbClr val="8FA3BC"/>
                </a:solidFill>
              </a:rPr>
              <a:t> We </a:t>
            </a:r>
            <a:r>
              <a:rPr lang="en-US" sz="1700" dirty="0">
                <a:solidFill>
                  <a:srgbClr val="8FA3BC"/>
                </a:solidFill>
              </a:rPr>
              <a:t>chose legs as an engineering challenge and a base for future </a:t>
            </a:r>
            <a:r>
              <a:rPr lang="en-US" sz="1700" dirty="0" smtClean="0">
                <a:solidFill>
                  <a:srgbClr val="8FA3BC"/>
                </a:solidFill>
              </a:rPr>
              <a:t>work</a:t>
            </a:r>
            <a:r>
              <a:rPr lang="en-US" sz="1700" dirty="0"/>
              <a:t>.</a:t>
            </a:r>
            <a:endParaRPr lang="en-US" sz="1700" dirty="0"/>
          </a:p>
        </p:txBody>
      </p:sp>
      <p:sp>
        <p:nvSpPr>
          <p:cNvPr id="7" name="Shape 4"/>
          <p:cNvSpPr/>
          <p:nvPr/>
        </p:nvSpPr>
        <p:spPr>
          <a:xfrm>
            <a:off x="4663440" y="731520"/>
            <a:ext cx="3383280" cy="4206240"/>
          </a:xfrm>
          <a:prstGeom prst="rect">
            <a:avLst/>
          </a:prstGeom>
          <a:solidFill>
            <a:srgbClr val="101C30"/>
          </a:solidFill>
          <a:ln w="12700">
            <a:solidFill>
              <a:srgbClr val="2EA8FF"/>
            </a:solidFill>
            <a:prstDash val="solid"/>
          </a:ln>
        </p:spPr>
      </p:sp>
      <p:sp>
        <p:nvSpPr>
          <p:cNvPr id="8" name="Shape 5"/>
          <p:cNvSpPr/>
          <p:nvPr/>
        </p:nvSpPr>
        <p:spPr>
          <a:xfrm>
            <a:off x="8229600" y="731520"/>
            <a:ext cx="3383280" cy="4206240"/>
          </a:xfrm>
          <a:prstGeom prst="rect">
            <a:avLst/>
          </a:prstGeom>
          <a:solidFill>
            <a:srgbClr val="101C30"/>
          </a:solidFill>
          <a:ln w="12700">
            <a:solidFill>
              <a:srgbClr val="5FB8B0"/>
            </a:solidFill>
            <a:prstDash val="dash"/>
          </a:ln>
        </p:spPr>
      </p:sp>
      <p:sp>
        <p:nvSpPr>
          <p:cNvPr id="9" name="Text 6"/>
          <p:cNvSpPr txBox="1"/>
          <p:nvPr/>
        </p:nvSpPr>
        <p:spPr>
          <a:xfrm>
            <a:off x="4937760" y="914400"/>
            <a:ext cx="2926080" cy="457200"/>
          </a:xfrm>
          <a:prstGeom prst="rect">
            <a:avLst/>
          </a:prstGeom>
          <a:noFill/>
          <a:ln/>
        </p:spPr>
        <p:txBody>
          <a:bodyPr wrap="square" lIns="0" tIns="0" rIns="0" bIns="0" rtlCol="0" anchor="t"/>
          <a:lstStyle/>
          <a:p>
            <a:pPr marL="0" indent="0">
              <a:buNone/>
            </a:pPr>
            <a:r>
              <a:rPr lang="en-US" sz="2400" b="1" kern="0" spc="300" dirty="0">
                <a:solidFill>
                  <a:srgbClr val="E6EEF8"/>
                </a:solidFill>
                <a:latin typeface="Arial Narrow" pitchFamily="34" charset="0"/>
                <a:ea typeface="Arial Narrow" pitchFamily="34" charset="-122"/>
                <a:cs typeface="Arial Narrow" pitchFamily="34" charset="-120"/>
              </a:rPr>
              <a:t>WHEELS</a:t>
            </a:r>
            <a:endParaRPr lang="en-US" sz="2400" dirty="0"/>
          </a:p>
        </p:txBody>
      </p:sp>
      <p:sp>
        <p:nvSpPr>
          <p:cNvPr id="10" name="Text 7"/>
          <p:cNvSpPr txBox="1"/>
          <p:nvPr/>
        </p:nvSpPr>
        <p:spPr>
          <a:xfrm>
            <a:off x="4937760" y="1645920"/>
            <a:ext cx="2926080" cy="3108960"/>
          </a:xfrm>
          <a:prstGeom prst="rect">
            <a:avLst/>
          </a:prstGeom>
          <a:noFill/>
          <a:ln/>
        </p:spPr>
        <p:txBody>
          <a:bodyPr wrap="square" lIns="0" tIns="0" rIns="0" bIns="0" rtlCol="0" anchor="t"/>
          <a:lstStyle/>
          <a:p>
            <a:pPr marL="177800" indent="-177800">
              <a:spcAft>
                <a:spcPts val="1000"/>
              </a:spcAft>
              <a:buSzPct val="100000"/>
              <a:buChar char="•"/>
            </a:pPr>
            <a:r>
              <a:rPr lang="en-US" sz="1600" dirty="0">
                <a:solidFill>
                  <a:srgbClr val="E6EEF8"/>
                </a:solidFill>
                <a:latin typeface="Calibri" pitchFamily="34" charset="0"/>
                <a:ea typeface="Calibri" pitchFamily="34" charset="-122"/>
                <a:cs typeface="Calibri" pitchFamily="34" charset="-120"/>
              </a:rPr>
              <a:t>Limited movement on rough terrain.</a:t>
            </a:r>
          </a:p>
          <a:p>
            <a:pPr marL="177800" indent="-177800">
              <a:spcAft>
                <a:spcPts val="1000"/>
              </a:spcAft>
              <a:buSzPct val="100000"/>
              <a:buChar char="•"/>
            </a:pPr>
            <a:r>
              <a:rPr lang="en-US" sz="1600" dirty="0" smtClean="0">
                <a:solidFill>
                  <a:srgbClr val="E6EEF8"/>
                </a:solidFill>
                <a:latin typeface="Calibri" pitchFamily="34" charset="0"/>
                <a:ea typeface="Calibri" pitchFamily="34" charset="-122"/>
                <a:cs typeface="Calibri" pitchFamily="34" charset="-120"/>
              </a:rPr>
              <a:t>Easier to control and calibrate</a:t>
            </a:r>
            <a:endParaRPr lang="en-US" sz="1600" dirty="0" smtClean="0"/>
          </a:p>
          <a:p>
            <a:pPr marL="177800" indent="-177800">
              <a:spcAft>
                <a:spcPts val="1000"/>
              </a:spcAft>
              <a:buSzPct val="100000"/>
              <a:buChar char="•"/>
            </a:pPr>
            <a:r>
              <a:rPr lang="en-US" sz="1600" dirty="0" smtClean="0">
                <a:solidFill>
                  <a:srgbClr val="E6EEF8"/>
                </a:solidFill>
                <a:latin typeface="Calibri" pitchFamily="34" charset="0"/>
                <a:ea typeface="Calibri" pitchFamily="34" charset="-122"/>
                <a:cs typeface="Calibri" pitchFamily="34" charset="-120"/>
              </a:rPr>
              <a:t>Needs </a:t>
            </a:r>
            <a:r>
              <a:rPr lang="en-US" sz="1600" dirty="0">
                <a:solidFill>
                  <a:srgbClr val="E6EEF8"/>
                </a:solidFill>
                <a:latin typeface="Calibri" pitchFamily="34" charset="0"/>
                <a:ea typeface="Calibri" pitchFamily="34" charset="-122"/>
                <a:cs typeface="Calibri" pitchFamily="34" charset="-120"/>
              </a:rPr>
              <a:t>continuous ground contact</a:t>
            </a:r>
            <a:endParaRPr lang="en-US" sz="1600" dirty="0"/>
          </a:p>
          <a:p>
            <a:pPr marL="177800" indent="-177800">
              <a:spcAft>
                <a:spcPts val="1000"/>
              </a:spcAft>
              <a:buSzPct val="100000"/>
              <a:buChar char="•"/>
            </a:pPr>
            <a:r>
              <a:rPr lang="en-US" sz="1600" dirty="0">
                <a:solidFill>
                  <a:srgbClr val="E6EEF8"/>
                </a:solidFill>
                <a:latin typeface="Calibri" pitchFamily="34" charset="0"/>
                <a:ea typeface="Calibri" pitchFamily="34" charset="-122"/>
                <a:cs typeface="Calibri" pitchFamily="34" charset="-120"/>
              </a:rPr>
              <a:t>Well suited to smooth </a:t>
            </a:r>
            <a:r>
              <a:rPr lang="en-US" sz="1600" dirty="0" smtClean="0">
                <a:solidFill>
                  <a:srgbClr val="E6EEF8"/>
                </a:solidFill>
                <a:latin typeface="Calibri" pitchFamily="34" charset="0"/>
                <a:ea typeface="Calibri" pitchFamily="34" charset="-122"/>
                <a:cs typeface="Calibri" pitchFamily="34" charset="-120"/>
              </a:rPr>
              <a:t>ground</a:t>
            </a:r>
            <a:endParaRPr lang="en-US" sz="1600" dirty="0"/>
          </a:p>
          <a:p>
            <a:pPr marL="177800" indent="-177800">
              <a:spcAft>
                <a:spcPts val="1000"/>
              </a:spcAft>
              <a:buSzPct val="100000"/>
              <a:buChar char="•"/>
            </a:pPr>
            <a:r>
              <a:rPr lang="en-US" sz="1600" dirty="0">
                <a:solidFill>
                  <a:srgbClr val="E6EEF8"/>
                </a:solidFill>
                <a:latin typeface="Calibri" pitchFamily="34" charset="0"/>
                <a:ea typeface="Calibri" pitchFamily="34" charset="-122"/>
                <a:cs typeface="Calibri" pitchFamily="34" charset="-120"/>
              </a:rPr>
              <a:t>Can slip on uneven surfaces.</a:t>
            </a:r>
            <a:endParaRPr lang="en-US" sz="1600" dirty="0" smtClean="0">
              <a:solidFill>
                <a:srgbClr val="E6EEF8"/>
              </a:solidFill>
              <a:latin typeface="Calibri" pitchFamily="34" charset="0"/>
              <a:ea typeface="Calibri" pitchFamily="34" charset="-122"/>
              <a:cs typeface="Calibri" pitchFamily="34" charset="-120"/>
            </a:endParaRPr>
          </a:p>
        </p:txBody>
      </p:sp>
      <p:sp>
        <p:nvSpPr>
          <p:cNvPr id="11" name="Text 8"/>
          <p:cNvSpPr txBox="1"/>
          <p:nvPr/>
        </p:nvSpPr>
        <p:spPr>
          <a:xfrm>
            <a:off x="8503920" y="914400"/>
            <a:ext cx="2926080" cy="457200"/>
          </a:xfrm>
          <a:prstGeom prst="rect">
            <a:avLst/>
          </a:prstGeom>
          <a:noFill/>
          <a:ln/>
        </p:spPr>
        <p:txBody>
          <a:bodyPr wrap="square" lIns="0" tIns="0" rIns="0" bIns="0" rtlCol="0" anchor="t"/>
          <a:lstStyle/>
          <a:p>
            <a:pPr marL="0" indent="0">
              <a:buNone/>
            </a:pPr>
            <a:r>
              <a:rPr lang="en-US" sz="2400" b="1" kern="0" spc="300" dirty="0">
                <a:solidFill>
                  <a:srgbClr val="5FB8B0"/>
                </a:solidFill>
                <a:latin typeface="Arial Narrow" pitchFamily="34" charset="0"/>
                <a:ea typeface="Arial Narrow" pitchFamily="34" charset="-122"/>
                <a:cs typeface="Arial Narrow" pitchFamily="34" charset="-120"/>
              </a:rPr>
              <a:t>LEGS  (PLUTO)</a:t>
            </a:r>
            <a:endParaRPr lang="en-US" sz="2400" dirty="0"/>
          </a:p>
        </p:txBody>
      </p:sp>
      <p:sp>
        <p:nvSpPr>
          <p:cNvPr id="12" name="Text 9"/>
          <p:cNvSpPr txBox="1"/>
          <p:nvPr/>
        </p:nvSpPr>
        <p:spPr>
          <a:xfrm>
            <a:off x="8503920" y="1645920"/>
            <a:ext cx="2926080" cy="3108960"/>
          </a:xfrm>
          <a:prstGeom prst="rect">
            <a:avLst/>
          </a:prstGeom>
          <a:noFill/>
          <a:ln/>
        </p:spPr>
        <p:txBody>
          <a:bodyPr wrap="square" lIns="0" tIns="0" rIns="0" bIns="0" rtlCol="0" anchor="t"/>
          <a:lstStyle/>
          <a:p>
            <a:pPr marL="177800" indent="-177800">
              <a:spcAft>
                <a:spcPts val="1000"/>
              </a:spcAft>
              <a:buSzPct val="100000"/>
              <a:buChar char="•"/>
            </a:pPr>
            <a:r>
              <a:rPr lang="en-US" sz="1700" dirty="0" smtClean="0">
                <a:solidFill>
                  <a:srgbClr val="E6EEF8"/>
                </a:solidFill>
                <a:latin typeface="Calibri" pitchFamily="34" charset="0"/>
                <a:ea typeface="Calibri" pitchFamily="34" charset="-122"/>
                <a:cs typeface="Calibri" pitchFamily="34" charset="-120"/>
              </a:rPr>
              <a:t>Each foot placed individually</a:t>
            </a:r>
            <a:endParaRPr lang="en-US" sz="1700" dirty="0" smtClean="0"/>
          </a:p>
          <a:p>
            <a:pPr marL="177800" indent="-177800">
              <a:spcAft>
                <a:spcPts val="1000"/>
              </a:spcAft>
              <a:buSzPct val="100000"/>
              <a:buChar char="•"/>
            </a:pPr>
            <a:r>
              <a:rPr lang="en-US" sz="1700" dirty="0" smtClean="0">
                <a:solidFill>
                  <a:srgbClr val="E6EEF8"/>
                </a:solidFill>
                <a:latin typeface="Calibri" pitchFamily="34" charset="0"/>
                <a:ea typeface="Calibri" pitchFamily="34" charset="-122"/>
                <a:cs typeface="Calibri" pitchFamily="34" charset="-120"/>
              </a:rPr>
              <a:t>12 actuators to coordinate</a:t>
            </a:r>
            <a:endParaRPr lang="en-US" sz="1700" dirty="0" smtClean="0"/>
          </a:p>
          <a:p>
            <a:pPr marL="177800" indent="-177800">
              <a:spcAft>
                <a:spcPts val="1000"/>
              </a:spcAft>
              <a:buSzPct val="100000"/>
              <a:buChar char="•"/>
            </a:pPr>
            <a:r>
              <a:rPr lang="en-US" sz="1700" dirty="0" smtClean="0">
                <a:solidFill>
                  <a:srgbClr val="E6EEF8"/>
                </a:solidFill>
                <a:latin typeface="Calibri" pitchFamily="34" charset="0"/>
                <a:ea typeface="Calibri" pitchFamily="34" charset="-122"/>
                <a:cs typeface="Calibri" pitchFamily="34" charset="-120"/>
              </a:rPr>
              <a:t>Rough-ground use is a future goal, not demonstrated</a:t>
            </a:r>
            <a:endParaRPr lang="en-US" sz="1700" dirty="0" smtClean="0"/>
          </a:p>
          <a:p>
            <a:pPr marL="177800" indent="-177800">
              <a:spcAft>
                <a:spcPts val="1000"/>
              </a:spcAft>
              <a:buSzPct val="100000"/>
              <a:buChar char="•"/>
            </a:pPr>
            <a:r>
              <a:rPr lang="en-US" sz="1700" dirty="0" smtClean="0">
                <a:solidFill>
                  <a:srgbClr val="E6EEF8"/>
                </a:solidFill>
                <a:latin typeface="Calibri" pitchFamily="34" charset="0"/>
                <a:ea typeface="Calibri" pitchFamily="34" charset="-122"/>
                <a:cs typeface="Calibri" pitchFamily="34" charset="-120"/>
              </a:rPr>
              <a:t>Can step over obstacles.</a:t>
            </a:r>
          </a:p>
          <a:p>
            <a:pPr marL="177800" indent="-177800">
              <a:spcAft>
                <a:spcPts val="1000"/>
              </a:spcAft>
              <a:buSzPct val="100000"/>
              <a:buChar char="•"/>
            </a:pPr>
            <a:r>
              <a:rPr lang="en-US" sz="1700" dirty="0" smtClean="0">
                <a:solidFill>
                  <a:srgbClr val="E6EEF8"/>
                </a:solidFill>
                <a:latin typeface="Calibri" pitchFamily="34" charset="0"/>
                <a:ea typeface="Calibri" pitchFamily="34" charset="-122"/>
                <a:cs typeface="Calibri" pitchFamily="34" charset="-120"/>
              </a:rPr>
              <a:t>Flexible movement.</a:t>
            </a:r>
          </a:p>
          <a:p>
            <a:pPr marL="177800" indent="-177800">
              <a:spcAft>
                <a:spcPts val="1000"/>
              </a:spcAft>
              <a:buSzPct val="100000"/>
              <a:buChar char="•"/>
            </a:pPr>
            <a:r>
              <a:rPr lang="en-US" sz="1700" dirty="0" smtClean="0">
                <a:solidFill>
                  <a:srgbClr val="E6EEF8"/>
                </a:solidFill>
                <a:latin typeface="Calibri" pitchFamily="34" charset="0"/>
                <a:ea typeface="Calibri" pitchFamily="34" charset="-122"/>
                <a:cs typeface="Calibri" pitchFamily="34" charset="-120"/>
              </a:rPr>
              <a:t>Allows different walking patterns</a:t>
            </a:r>
            <a:endParaRPr lang="en-US" sz="1700" dirty="0" smtClean="0">
              <a:solidFill>
                <a:srgbClr val="E6EEF8"/>
              </a:solidFill>
              <a:latin typeface="Calibri" pitchFamily="34" charset="0"/>
              <a:ea typeface="Calibri" pitchFamily="34" charset="-122"/>
              <a:cs typeface="Calibri" pitchFamily="34" charset="-120"/>
            </a:endParaRPr>
          </a:p>
        </p:txBody>
      </p:sp>
      <p:sp>
        <p:nvSpPr>
          <p:cNvPr id="13" name="Shape 10"/>
          <p:cNvSpPr/>
          <p:nvPr/>
        </p:nvSpPr>
        <p:spPr>
          <a:xfrm>
            <a:off x="4663440" y="5394960"/>
            <a:ext cx="6949440" cy="0"/>
          </a:xfrm>
          <a:prstGeom prst="line">
            <a:avLst/>
          </a:prstGeom>
          <a:noFill/>
          <a:ln w="12700">
            <a:solidFill>
              <a:srgbClr val="8FA3BC"/>
            </a:solidFill>
            <a:prstDash val="solid"/>
            <a:headEnd type="triangle"/>
            <a:tailEnd type="triangle"/>
          </a:ln>
        </p:spPr>
      </p:sp>
      <p:sp>
        <p:nvSpPr>
          <p:cNvPr id="14" name="Text 11"/>
          <p:cNvSpPr txBox="1"/>
          <p:nvPr/>
        </p:nvSpPr>
        <p:spPr>
          <a:xfrm>
            <a:off x="4663440" y="5486400"/>
            <a:ext cx="6949440" cy="365760"/>
          </a:xfrm>
          <a:prstGeom prst="rect">
            <a:avLst/>
          </a:prstGeom>
          <a:noFill/>
          <a:ln/>
        </p:spPr>
        <p:txBody>
          <a:bodyPr wrap="square" lIns="0" tIns="0" rIns="0" bIns="0" rtlCol="0" anchor="t"/>
          <a:lstStyle/>
          <a:p>
            <a:pPr marL="0" indent="0" algn="ctr">
              <a:buNone/>
            </a:pPr>
            <a:r>
              <a:rPr lang="en-US" sz="1500" b="1" kern="0" spc="200" dirty="0">
                <a:solidFill>
                  <a:srgbClr val="2EA8FF"/>
                </a:solidFill>
                <a:latin typeface="Calibri" pitchFamily="34" charset="0"/>
                <a:ea typeface="Calibri" pitchFamily="34" charset="-122"/>
                <a:cs typeface="Calibri" pitchFamily="34" charset="-120"/>
              </a:rPr>
              <a:t>TRADE-OFF:  placement control  ↔  complexity</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4</a:t>
            </a:fld>
            <a:endParaRPr lang="en-US"/>
          </a:p>
        </p:txBody>
      </p:sp>
      <p:cxnSp>
        <p:nvCxnSpPr>
          <p:cNvPr id="15" name="Straight Connector 14"/>
          <p:cNvCxnSpPr/>
          <p:nvPr/>
        </p:nvCxnSpPr>
        <p:spPr>
          <a:xfrm>
            <a:off x="288758" y="1892968"/>
            <a:ext cx="4191802"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04  TECHNICAL DESIGN</a:t>
            </a:r>
            <a:endParaRPr lang="en-US" sz="1100" dirty="0"/>
          </a:p>
        </p:txBody>
      </p:sp>
      <p:sp>
        <p:nvSpPr>
          <p:cNvPr id="3" name="Text 46"/>
          <p:cNvSpPr>
            <a:spLocks noGrp="1"/>
          </p:cNvSpPr>
          <p:nvPr>
            <p:ph type="title" idx="147" hasCustomPrompt="1"/>
          </p:nvPr>
        </p:nvSpPr>
        <p:spPr>
          <a:xfrm>
            <a:off x="548640" y="914400"/>
            <a:ext cx="3904488" cy="1325880"/>
          </a:xfrm>
          <a:prstGeom prst="rect">
            <a:avLst/>
          </a:prstGeom>
          <a:noFill/>
          <a:ln/>
        </p:spPr>
        <p:txBody>
          <a:bodyPr wrap="square" lIns="0" tIns="0" rIns="0" bIns="0" rtlCol="0" anchor="t"/>
          <a:lstStyle/>
          <a:p>
            <a:pPr marL="0" indent="0" algn="l">
              <a:buNone/>
            </a:pPr>
            <a:r>
              <a:rPr lang="en-US" dirty="0" smtClean="0"/>
              <a:t>WORKING BEHIND THE VOICE COMMANDS</a:t>
            </a:r>
            <a:endParaRPr lang="en-US" sz="3000" dirty="0"/>
          </a:p>
        </p:txBody>
      </p:sp>
      <p:sp>
        <p:nvSpPr>
          <p:cNvPr id="4" name="Text 46"/>
          <p:cNvSpPr>
            <a:spLocks noGrp="1"/>
          </p:cNvSpPr>
          <p:nvPr>
            <p:ph type="body" idx="148" hasCustomPrompt="1"/>
          </p:nvPr>
        </p:nvSpPr>
        <p:spPr>
          <a:xfrm>
            <a:off x="548640" y="2377440"/>
            <a:ext cx="3657600" cy="868680"/>
          </a:xfrm>
          <a:prstGeom prst="rect">
            <a:avLst/>
          </a:prstGeom>
          <a:noFill/>
          <a:ln/>
        </p:spPr>
        <p:txBody>
          <a:bodyPr wrap="square" lIns="0" tIns="0" rIns="0" bIns="0" rtlCol="0" anchor="t"/>
          <a:lstStyle/>
          <a:p>
            <a:pPr marL="0" indent="0">
              <a:buNone/>
            </a:pPr>
            <a:r>
              <a:rPr lang="en-US" sz="1400" b="1" dirty="0">
                <a:solidFill>
                  <a:srgbClr val="2EA8FF"/>
                </a:solidFill>
                <a:latin typeface="Calibri" pitchFamily="34" charset="0"/>
                <a:ea typeface="Calibri" pitchFamily="34" charset="-122"/>
                <a:cs typeface="Calibri" pitchFamily="34" charset="-120"/>
              </a:rPr>
              <a:t>A short control chain turns one spoken command into coordinated movement.</a:t>
            </a:r>
            <a:endParaRPr lang="en-US" sz="14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A predefined voice command is recognised by the VC02 and passed to the Arduino Uno.</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The Arduino sends servo targets over I²C to the PCA9685, which drives all 12 servos.</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The result is a programmed action: stand, sit, walk, bow or handshake.</a:t>
            </a:r>
            <a:endParaRPr lang="en-US" sz="1300" dirty="0"/>
          </a:p>
        </p:txBody>
      </p:sp>
      <p:sp>
        <p:nvSpPr>
          <p:cNvPr id="7" name="Shape 4"/>
          <p:cNvSpPr/>
          <p:nvPr/>
        </p:nvSpPr>
        <p:spPr>
          <a:xfrm>
            <a:off x="4663440" y="822960"/>
            <a:ext cx="1188720" cy="1554480"/>
          </a:xfrm>
          <a:prstGeom prst="rect">
            <a:avLst/>
          </a:prstGeom>
          <a:solidFill>
            <a:srgbClr val="101C30"/>
          </a:solidFill>
          <a:ln w="12700">
            <a:solidFill>
              <a:srgbClr val="2EA8FF"/>
            </a:solidFill>
            <a:prstDash val="solid"/>
          </a:ln>
        </p:spPr>
      </p:sp>
      <p:sp>
        <p:nvSpPr>
          <p:cNvPr id="8" name="Text 5"/>
          <p:cNvSpPr txBox="1"/>
          <p:nvPr/>
        </p:nvSpPr>
        <p:spPr>
          <a:xfrm>
            <a:off x="4663440" y="914400"/>
            <a:ext cx="1188720" cy="731520"/>
          </a:xfrm>
          <a:prstGeom prst="rect">
            <a:avLst/>
          </a:prstGeom>
          <a:noFill/>
          <a:ln/>
        </p:spPr>
        <p:txBody>
          <a:bodyPr wrap="square" lIns="0" tIns="0" rIns="0" bIns="0" rtlCol="0" anchor="ctr"/>
          <a:lstStyle/>
          <a:p>
            <a:pPr marL="0" indent="0" algn="ctr">
              <a:buNone/>
            </a:pPr>
            <a:r>
              <a:rPr lang="en-US" sz="1400" b="1" dirty="0">
                <a:solidFill>
                  <a:srgbClr val="E6EEF8"/>
                </a:solidFill>
                <a:latin typeface="Arial Narrow" pitchFamily="34" charset="0"/>
                <a:ea typeface="Arial Narrow" pitchFamily="34" charset="-122"/>
                <a:cs typeface="Arial Narrow" pitchFamily="34" charset="-120"/>
              </a:rPr>
              <a:t>VOICE</a:t>
            </a:r>
            <a:endParaRPr lang="en-US" sz="1400" dirty="0"/>
          </a:p>
          <a:p>
            <a:pPr marL="0" indent="0" algn="ctr">
              <a:buNone/>
            </a:pPr>
            <a:r>
              <a:rPr lang="en-US" sz="1400" b="1" dirty="0">
                <a:solidFill>
                  <a:srgbClr val="E6EEF8"/>
                </a:solidFill>
                <a:latin typeface="Arial Narrow" pitchFamily="34" charset="0"/>
                <a:ea typeface="Arial Narrow" pitchFamily="34" charset="-122"/>
                <a:cs typeface="Arial Narrow" pitchFamily="34" charset="-120"/>
              </a:rPr>
              <a:t>COMMAND</a:t>
            </a:r>
            <a:endParaRPr lang="en-US" sz="1400" dirty="0"/>
          </a:p>
        </p:txBody>
      </p:sp>
      <p:sp>
        <p:nvSpPr>
          <p:cNvPr id="9" name="Text 6"/>
          <p:cNvSpPr txBox="1"/>
          <p:nvPr/>
        </p:nvSpPr>
        <p:spPr>
          <a:xfrm>
            <a:off x="4709160" y="1691640"/>
            <a:ext cx="1097280" cy="548640"/>
          </a:xfrm>
          <a:prstGeom prst="rect">
            <a:avLst/>
          </a:prstGeom>
          <a:noFill/>
          <a:ln/>
        </p:spPr>
        <p:txBody>
          <a:bodyPr wrap="square" lIns="0" tIns="0" rIns="0" bIns="0" rtlCol="0" anchor="t"/>
          <a:lstStyle/>
          <a:p>
            <a:pPr marL="0" indent="0" algn="ctr">
              <a:buNone/>
            </a:pPr>
            <a:r>
              <a:rPr lang="en-US" sz="1100" dirty="0">
                <a:solidFill>
                  <a:srgbClr val="8FA3BC"/>
                </a:solidFill>
                <a:latin typeface="Calibri" pitchFamily="34" charset="0"/>
                <a:ea typeface="Calibri" pitchFamily="34" charset="-122"/>
                <a:cs typeface="Calibri" pitchFamily="34" charset="-120"/>
              </a:rPr>
              <a:t>Predefined phrase</a:t>
            </a:r>
            <a:endParaRPr lang="en-US" sz="1100" dirty="0"/>
          </a:p>
        </p:txBody>
      </p:sp>
      <p:sp>
        <p:nvSpPr>
          <p:cNvPr id="10" name="Shape 7"/>
          <p:cNvSpPr/>
          <p:nvPr/>
        </p:nvSpPr>
        <p:spPr>
          <a:xfrm>
            <a:off x="5870448" y="1600200"/>
            <a:ext cx="219456" cy="0"/>
          </a:xfrm>
          <a:prstGeom prst="line">
            <a:avLst/>
          </a:prstGeom>
          <a:noFill/>
          <a:ln w="15875">
            <a:solidFill>
              <a:srgbClr val="2EA8FF"/>
            </a:solidFill>
            <a:prstDash val="solid"/>
            <a:tailEnd type="triangle"/>
          </a:ln>
        </p:spPr>
      </p:sp>
      <p:sp>
        <p:nvSpPr>
          <p:cNvPr id="11" name="Shape 8"/>
          <p:cNvSpPr/>
          <p:nvPr/>
        </p:nvSpPr>
        <p:spPr>
          <a:xfrm>
            <a:off x="6108192" y="822960"/>
            <a:ext cx="1188720" cy="1554480"/>
          </a:xfrm>
          <a:prstGeom prst="rect">
            <a:avLst/>
          </a:prstGeom>
          <a:solidFill>
            <a:srgbClr val="101C30"/>
          </a:solidFill>
          <a:ln w="12700">
            <a:solidFill>
              <a:srgbClr val="2EA8FF"/>
            </a:solidFill>
            <a:prstDash val="solid"/>
          </a:ln>
        </p:spPr>
      </p:sp>
      <p:sp>
        <p:nvSpPr>
          <p:cNvPr id="12" name="Text 9"/>
          <p:cNvSpPr txBox="1"/>
          <p:nvPr/>
        </p:nvSpPr>
        <p:spPr>
          <a:xfrm>
            <a:off x="6108192" y="914400"/>
            <a:ext cx="1188720" cy="731520"/>
          </a:xfrm>
          <a:prstGeom prst="rect">
            <a:avLst/>
          </a:prstGeom>
          <a:noFill/>
          <a:ln/>
        </p:spPr>
        <p:txBody>
          <a:bodyPr wrap="square" lIns="0" tIns="0" rIns="0" bIns="0" rtlCol="0" anchor="ctr"/>
          <a:lstStyle/>
          <a:p>
            <a:pPr marL="0" indent="0" algn="ctr">
              <a:buNone/>
            </a:pPr>
            <a:r>
              <a:rPr lang="en-US" sz="1400" b="1" dirty="0">
                <a:solidFill>
                  <a:srgbClr val="E6EEF8"/>
                </a:solidFill>
                <a:latin typeface="Arial Narrow" pitchFamily="34" charset="0"/>
                <a:ea typeface="Arial Narrow" pitchFamily="34" charset="-122"/>
                <a:cs typeface="Arial Narrow" pitchFamily="34" charset="-120"/>
              </a:rPr>
              <a:t>VC02</a:t>
            </a:r>
            <a:endParaRPr lang="en-US" sz="1400" dirty="0"/>
          </a:p>
        </p:txBody>
      </p:sp>
      <p:sp>
        <p:nvSpPr>
          <p:cNvPr id="13" name="Text 10"/>
          <p:cNvSpPr txBox="1"/>
          <p:nvPr/>
        </p:nvSpPr>
        <p:spPr>
          <a:xfrm>
            <a:off x="6153912" y="1691640"/>
            <a:ext cx="1097280" cy="548640"/>
          </a:xfrm>
          <a:prstGeom prst="rect">
            <a:avLst/>
          </a:prstGeom>
          <a:noFill/>
          <a:ln/>
        </p:spPr>
        <p:txBody>
          <a:bodyPr wrap="square" lIns="0" tIns="0" rIns="0" bIns="0" rtlCol="0" anchor="t"/>
          <a:lstStyle/>
          <a:p>
            <a:pPr marL="0" indent="0" algn="ctr">
              <a:buNone/>
            </a:pPr>
            <a:r>
              <a:rPr lang="en-US" sz="1100" dirty="0">
                <a:solidFill>
                  <a:srgbClr val="8FA3BC"/>
                </a:solidFill>
                <a:latin typeface="Calibri" pitchFamily="34" charset="0"/>
                <a:ea typeface="Calibri" pitchFamily="34" charset="-122"/>
                <a:cs typeface="Calibri" pitchFamily="34" charset="-120"/>
              </a:rPr>
              <a:t>Recognises it</a:t>
            </a:r>
            <a:endParaRPr lang="en-US" sz="1100" dirty="0"/>
          </a:p>
        </p:txBody>
      </p:sp>
      <p:sp>
        <p:nvSpPr>
          <p:cNvPr id="14" name="Shape 11"/>
          <p:cNvSpPr/>
          <p:nvPr/>
        </p:nvSpPr>
        <p:spPr>
          <a:xfrm>
            <a:off x="7315200" y="1600200"/>
            <a:ext cx="219456" cy="0"/>
          </a:xfrm>
          <a:prstGeom prst="line">
            <a:avLst/>
          </a:prstGeom>
          <a:noFill/>
          <a:ln w="15875">
            <a:solidFill>
              <a:srgbClr val="2EA8FF"/>
            </a:solidFill>
            <a:prstDash val="solid"/>
            <a:tailEnd type="triangle"/>
          </a:ln>
        </p:spPr>
      </p:sp>
      <p:sp>
        <p:nvSpPr>
          <p:cNvPr id="15" name="Shape 12"/>
          <p:cNvSpPr/>
          <p:nvPr/>
        </p:nvSpPr>
        <p:spPr>
          <a:xfrm>
            <a:off x="7552944" y="822960"/>
            <a:ext cx="1188720" cy="1554480"/>
          </a:xfrm>
          <a:prstGeom prst="rect">
            <a:avLst/>
          </a:prstGeom>
          <a:solidFill>
            <a:srgbClr val="101C30"/>
          </a:solidFill>
          <a:ln w="12700">
            <a:solidFill>
              <a:srgbClr val="2EA8FF"/>
            </a:solidFill>
            <a:prstDash val="solid"/>
          </a:ln>
        </p:spPr>
      </p:sp>
      <p:sp>
        <p:nvSpPr>
          <p:cNvPr id="16" name="Text 13"/>
          <p:cNvSpPr txBox="1"/>
          <p:nvPr/>
        </p:nvSpPr>
        <p:spPr>
          <a:xfrm>
            <a:off x="7552944" y="914400"/>
            <a:ext cx="1188720" cy="731520"/>
          </a:xfrm>
          <a:prstGeom prst="rect">
            <a:avLst/>
          </a:prstGeom>
          <a:noFill/>
          <a:ln/>
        </p:spPr>
        <p:txBody>
          <a:bodyPr wrap="square" lIns="0" tIns="0" rIns="0" bIns="0" rtlCol="0" anchor="ctr"/>
          <a:lstStyle/>
          <a:p>
            <a:pPr marL="0" indent="0" algn="ctr">
              <a:buNone/>
            </a:pPr>
            <a:r>
              <a:rPr lang="en-US" sz="1400" b="1" dirty="0">
                <a:solidFill>
                  <a:srgbClr val="E6EEF8"/>
                </a:solidFill>
                <a:latin typeface="Arial Narrow" pitchFamily="34" charset="0"/>
                <a:ea typeface="Arial Narrow" pitchFamily="34" charset="-122"/>
                <a:cs typeface="Arial Narrow" pitchFamily="34" charset="-120"/>
              </a:rPr>
              <a:t>ARDUINO</a:t>
            </a:r>
            <a:endParaRPr lang="en-US" sz="1400" dirty="0"/>
          </a:p>
          <a:p>
            <a:pPr marL="0" indent="0" algn="ctr">
              <a:buNone/>
            </a:pPr>
            <a:r>
              <a:rPr lang="en-US" sz="1400" b="1" dirty="0">
                <a:solidFill>
                  <a:srgbClr val="E6EEF8"/>
                </a:solidFill>
                <a:latin typeface="Arial Narrow" pitchFamily="34" charset="0"/>
                <a:ea typeface="Arial Narrow" pitchFamily="34" charset="-122"/>
                <a:cs typeface="Arial Narrow" pitchFamily="34" charset="-120"/>
              </a:rPr>
              <a:t>UNO</a:t>
            </a:r>
            <a:endParaRPr lang="en-US" sz="1400" dirty="0"/>
          </a:p>
        </p:txBody>
      </p:sp>
      <p:sp>
        <p:nvSpPr>
          <p:cNvPr id="17" name="Text 14"/>
          <p:cNvSpPr txBox="1"/>
          <p:nvPr/>
        </p:nvSpPr>
        <p:spPr>
          <a:xfrm>
            <a:off x="7598664" y="1691640"/>
            <a:ext cx="1097280" cy="548640"/>
          </a:xfrm>
          <a:prstGeom prst="rect">
            <a:avLst/>
          </a:prstGeom>
          <a:noFill/>
          <a:ln/>
        </p:spPr>
        <p:txBody>
          <a:bodyPr wrap="square" lIns="0" tIns="0" rIns="0" bIns="0" rtlCol="0" anchor="t"/>
          <a:lstStyle/>
          <a:p>
            <a:pPr marL="0" indent="0" algn="ctr">
              <a:buNone/>
            </a:pPr>
            <a:r>
              <a:rPr lang="en-US" sz="1100" dirty="0">
                <a:solidFill>
                  <a:srgbClr val="8FA3BC"/>
                </a:solidFill>
                <a:latin typeface="Calibri" pitchFamily="34" charset="0"/>
                <a:ea typeface="Calibri" pitchFamily="34" charset="-122"/>
                <a:cs typeface="Calibri" pitchFamily="34" charset="-120"/>
              </a:rPr>
              <a:t>Runs the routine</a:t>
            </a:r>
            <a:endParaRPr lang="en-US" sz="1100" dirty="0"/>
          </a:p>
        </p:txBody>
      </p:sp>
      <p:sp>
        <p:nvSpPr>
          <p:cNvPr id="18" name="Shape 15"/>
          <p:cNvSpPr/>
          <p:nvPr/>
        </p:nvSpPr>
        <p:spPr>
          <a:xfrm>
            <a:off x="8759952" y="1600200"/>
            <a:ext cx="219456" cy="0"/>
          </a:xfrm>
          <a:prstGeom prst="line">
            <a:avLst/>
          </a:prstGeom>
          <a:noFill/>
          <a:ln w="15875">
            <a:solidFill>
              <a:srgbClr val="2EA8FF"/>
            </a:solidFill>
            <a:prstDash val="solid"/>
            <a:tailEnd type="triangle"/>
          </a:ln>
        </p:spPr>
      </p:sp>
      <p:sp>
        <p:nvSpPr>
          <p:cNvPr id="19" name="Shape 16"/>
          <p:cNvSpPr/>
          <p:nvPr/>
        </p:nvSpPr>
        <p:spPr>
          <a:xfrm>
            <a:off x="8997696" y="822960"/>
            <a:ext cx="1188720" cy="1554480"/>
          </a:xfrm>
          <a:prstGeom prst="rect">
            <a:avLst/>
          </a:prstGeom>
          <a:solidFill>
            <a:srgbClr val="101C30"/>
          </a:solidFill>
          <a:ln w="12700">
            <a:solidFill>
              <a:srgbClr val="2EA8FF"/>
            </a:solidFill>
            <a:prstDash val="solid"/>
          </a:ln>
        </p:spPr>
      </p:sp>
      <p:sp>
        <p:nvSpPr>
          <p:cNvPr id="20" name="Text 17"/>
          <p:cNvSpPr txBox="1"/>
          <p:nvPr/>
        </p:nvSpPr>
        <p:spPr>
          <a:xfrm>
            <a:off x="8997696" y="914400"/>
            <a:ext cx="1188720" cy="731520"/>
          </a:xfrm>
          <a:prstGeom prst="rect">
            <a:avLst/>
          </a:prstGeom>
          <a:noFill/>
          <a:ln/>
        </p:spPr>
        <p:txBody>
          <a:bodyPr wrap="square" lIns="0" tIns="0" rIns="0" bIns="0" rtlCol="0" anchor="ctr"/>
          <a:lstStyle/>
          <a:p>
            <a:pPr marL="0" indent="0" algn="ctr">
              <a:buNone/>
            </a:pPr>
            <a:r>
              <a:rPr lang="en-US" sz="1400" b="1" dirty="0">
                <a:solidFill>
                  <a:srgbClr val="E6EEF8"/>
                </a:solidFill>
                <a:latin typeface="Arial Narrow" pitchFamily="34" charset="0"/>
                <a:ea typeface="Arial Narrow" pitchFamily="34" charset="-122"/>
                <a:cs typeface="Arial Narrow" pitchFamily="34" charset="-120"/>
              </a:rPr>
              <a:t>PCA9685</a:t>
            </a:r>
            <a:endParaRPr lang="en-US" sz="1400" dirty="0"/>
          </a:p>
        </p:txBody>
      </p:sp>
      <p:sp>
        <p:nvSpPr>
          <p:cNvPr id="21" name="Text 18"/>
          <p:cNvSpPr txBox="1"/>
          <p:nvPr/>
        </p:nvSpPr>
        <p:spPr>
          <a:xfrm>
            <a:off x="9043416" y="1691640"/>
            <a:ext cx="1097280" cy="548640"/>
          </a:xfrm>
          <a:prstGeom prst="rect">
            <a:avLst/>
          </a:prstGeom>
          <a:noFill/>
          <a:ln/>
        </p:spPr>
        <p:txBody>
          <a:bodyPr wrap="square" lIns="0" tIns="0" rIns="0" bIns="0" rtlCol="0" anchor="t"/>
          <a:lstStyle/>
          <a:p>
            <a:pPr marL="0" indent="0" algn="ctr">
              <a:buNone/>
            </a:pPr>
            <a:r>
              <a:rPr lang="en-US" sz="1100" dirty="0">
                <a:solidFill>
                  <a:srgbClr val="8FA3BC"/>
                </a:solidFill>
                <a:latin typeface="Calibri" pitchFamily="34" charset="0"/>
                <a:ea typeface="Calibri" pitchFamily="34" charset="-122"/>
                <a:cs typeface="Calibri" pitchFamily="34" charset="-120"/>
              </a:rPr>
              <a:t>Drives servos</a:t>
            </a:r>
            <a:endParaRPr lang="en-US" sz="1100" dirty="0"/>
          </a:p>
        </p:txBody>
      </p:sp>
      <p:sp>
        <p:nvSpPr>
          <p:cNvPr id="22" name="Shape 19"/>
          <p:cNvSpPr/>
          <p:nvPr/>
        </p:nvSpPr>
        <p:spPr>
          <a:xfrm>
            <a:off x="10204704" y="1600200"/>
            <a:ext cx="219456" cy="0"/>
          </a:xfrm>
          <a:prstGeom prst="line">
            <a:avLst/>
          </a:prstGeom>
          <a:noFill/>
          <a:ln w="15875">
            <a:solidFill>
              <a:srgbClr val="2EA8FF"/>
            </a:solidFill>
            <a:prstDash val="solid"/>
            <a:tailEnd type="triangle"/>
          </a:ln>
        </p:spPr>
      </p:sp>
      <p:sp>
        <p:nvSpPr>
          <p:cNvPr id="23" name="Shape 20"/>
          <p:cNvSpPr/>
          <p:nvPr/>
        </p:nvSpPr>
        <p:spPr>
          <a:xfrm>
            <a:off x="10442448" y="822960"/>
            <a:ext cx="1188720" cy="1554480"/>
          </a:xfrm>
          <a:prstGeom prst="rect">
            <a:avLst/>
          </a:prstGeom>
          <a:solidFill>
            <a:srgbClr val="101C30"/>
          </a:solidFill>
          <a:ln w="12700">
            <a:solidFill>
              <a:srgbClr val="2EA8FF"/>
            </a:solidFill>
            <a:prstDash val="solid"/>
          </a:ln>
        </p:spPr>
      </p:sp>
      <p:sp>
        <p:nvSpPr>
          <p:cNvPr id="24" name="Text 21"/>
          <p:cNvSpPr txBox="1"/>
          <p:nvPr/>
        </p:nvSpPr>
        <p:spPr>
          <a:xfrm>
            <a:off x="10442448" y="914400"/>
            <a:ext cx="1188720" cy="731520"/>
          </a:xfrm>
          <a:prstGeom prst="rect">
            <a:avLst/>
          </a:prstGeom>
          <a:noFill/>
          <a:ln/>
        </p:spPr>
        <p:txBody>
          <a:bodyPr wrap="square" lIns="0" tIns="0" rIns="0" bIns="0" rtlCol="0" anchor="ctr"/>
          <a:lstStyle/>
          <a:p>
            <a:pPr marL="0" indent="0" algn="ctr">
              <a:buNone/>
            </a:pPr>
            <a:r>
              <a:rPr lang="en-US" sz="1400" b="1" dirty="0">
                <a:solidFill>
                  <a:srgbClr val="E6EEF8"/>
                </a:solidFill>
                <a:latin typeface="Arial Narrow" pitchFamily="34" charset="0"/>
                <a:ea typeface="Arial Narrow" pitchFamily="34" charset="-122"/>
                <a:cs typeface="Arial Narrow" pitchFamily="34" charset="-120"/>
              </a:rPr>
              <a:t>12</a:t>
            </a:r>
            <a:endParaRPr lang="en-US" sz="1400" dirty="0"/>
          </a:p>
          <a:p>
            <a:pPr marL="0" indent="0" algn="ctr">
              <a:buNone/>
            </a:pPr>
            <a:r>
              <a:rPr lang="en-US" sz="1400" b="1" dirty="0">
                <a:solidFill>
                  <a:srgbClr val="E6EEF8"/>
                </a:solidFill>
                <a:latin typeface="Arial Narrow" pitchFamily="34" charset="0"/>
                <a:ea typeface="Arial Narrow" pitchFamily="34" charset="-122"/>
                <a:cs typeface="Arial Narrow" pitchFamily="34" charset="-120"/>
              </a:rPr>
              <a:t>SERVOS</a:t>
            </a:r>
            <a:endParaRPr lang="en-US" sz="1400" dirty="0"/>
          </a:p>
        </p:txBody>
      </p:sp>
      <p:sp>
        <p:nvSpPr>
          <p:cNvPr id="25" name="Text 22"/>
          <p:cNvSpPr txBox="1"/>
          <p:nvPr/>
        </p:nvSpPr>
        <p:spPr>
          <a:xfrm>
            <a:off x="10488168" y="1691640"/>
            <a:ext cx="1097280" cy="548640"/>
          </a:xfrm>
          <a:prstGeom prst="rect">
            <a:avLst/>
          </a:prstGeom>
          <a:noFill/>
          <a:ln/>
        </p:spPr>
        <p:txBody>
          <a:bodyPr wrap="square" lIns="0" tIns="0" rIns="0" bIns="0" rtlCol="0" anchor="t"/>
          <a:lstStyle/>
          <a:p>
            <a:pPr marL="0" indent="0" algn="ctr">
              <a:buNone/>
            </a:pPr>
            <a:r>
              <a:rPr lang="en-US" sz="1100" dirty="0">
                <a:solidFill>
                  <a:srgbClr val="8FA3BC"/>
                </a:solidFill>
                <a:latin typeface="Calibri" pitchFamily="34" charset="0"/>
                <a:ea typeface="Calibri" pitchFamily="34" charset="-122"/>
                <a:cs typeface="Calibri" pitchFamily="34" charset="-120"/>
              </a:rPr>
              <a:t>Move the joints</a:t>
            </a:r>
            <a:endParaRPr lang="en-US" sz="1100" dirty="0"/>
          </a:p>
        </p:txBody>
      </p:sp>
      <p:sp>
        <p:nvSpPr>
          <p:cNvPr id="26" name="Text 23"/>
          <p:cNvSpPr txBox="1"/>
          <p:nvPr/>
        </p:nvSpPr>
        <p:spPr>
          <a:xfrm>
            <a:off x="8540496" y="2423160"/>
            <a:ext cx="822960" cy="274320"/>
          </a:xfrm>
          <a:prstGeom prst="rect">
            <a:avLst/>
          </a:prstGeom>
          <a:noFill/>
          <a:ln/>
        </p:spPr>
        <p:txBody>
          <a:bodyPr wrap="square" lIns="0" tIns="0" rIns="0" bIns="0" rtlCol="0" anchor="t"/>
          <a:lstStyle/>
          <a:p>
            <a:pPr marL="0" indent="0" algn="ctr">
              <a:buNone/>
            </a:pPr>
            <a:r>
              <a:rPr lang="en-US" sz="1100" b="1" dirty="0">
                <a:solidFill>
                  <a:srgbClr val="2EA8FF"/>
                </a:solidFill>
                <a:latin typeface="Calibri" pitchFamily="34" charset="0"/>
                <a:ea typeface="Calibri" pitchFamily="34" charset="-122"/>
                <a:cs typeface="Calibri" pitchFamily="34" charset="-120"/>
              </a:rPr>
              <a:t>I²C</a:t>
            </a:r>
            <a:endParaRPr lang="en-US" sz="1100" dirty="0"/>
          </a:p>
        </p:txBody>
      </p:sp>
      <p:sp>
        <p:nvSpPr>
          <p:cNvPr id="27" name="Shape 24"/>
          <p:cNvSpPr/>
          <p:nvPr/>
        </p:nvSpPr>
        <p:spPr>
          <a:xfrm>
            <a:off x="4663440" y="3017520"/>
            <a:ext cx="2194560" cy="2377440"/>
          </a:xfrm>
          <a:prstGeom prst="rect">
            <a:avLst/>
          </a:prstGeom>
          <a:solidFill>
            <a:srgbClr val="101C30"/>
          </a:solidFill>
          <a:ln w="12700">
            <a:solidFill>
              <a:srgbClr val="2EA8FF"/>
            </a:solidFill>
            <a:prstDash val="solid"/>
          </a:ln>
        </p:spPr>
      </p:sp>
      <p:sp>
        <p:nvSpPr>
          <p:cNvPr id="28" name="Text 25"/>
          <p:cNvSpPr txBox="1"/>
          <p:nvPr/>
        </p:nvSpPr>
        <p:spPr>
          <a:xfrm>
            <a:off x="4846320" y="3154680"/>
            <a:ext cx="1828800" cy="365760"/>
          </a:xfrm>
          <a:prstGeom prst="rect">
            <a:avLst/>
          </a:prstGeom>
          <a:noFill/>
          <a:ln/>
        </p:spPr>
        <p:txBody>
          <a:bodyPr wrap="square" lIns="0" tIns="0" rIns="0" bIns="0" rtlCol="0" anchor="t"/>
          <a:lstStyle/>
          <a:p>
            <a:pPr marL="0" indent="0">
              <a:buNone/>
            </a:pPr>
            <a:r>
              <a:rPr lang="en-US" sz="1600" b="1" kern="0" spc="300" dirty="0">
                <a:solidFill>
                  <a:srgbClr val="2EA8FF"/>
                </a:solidFill>
                <a:latin typeface="Arial Narrow" pitchFamily="34" charset="0"/>
                <a:ea typeface="Arial Narrow" pitchFamily="34" charset="-122"/>
                <a:cs typeface="Arial Narrow" pitchFamily="34" charset="-120"/>
              </a:rPr>
              <a:t>INPUT</a:t>
            </a:r>
            <a:endParaRPr lang="en-US" sz="1600" dirty="0"/>
          </a:p>
        </p:txBody>
      </p:sp>
      <p:sp>
        <p:nvSpPr>
          <p:cNvPr id="29" name="Text 26"/>
          <p:cNvSpPr txBox="1"/>
          <p:nvPr/>
        </p:nvSpPr>
        <p:spPr>
          <a:xfrm>
            <a:off x="4846320" y="3611880"/>
            <a:ext cx="1828800" cy="1737360"/>
          </a:xfrm>
          <a:prstGeom prst="rect">
            <a:avLst/>
          </a:prstGeom>
          <a:noFill/>
          <a:ln/>
        </p:spPr>
        <p:txBody>
          <a:bodyPr wrap="square" lIns="0" tIns="0" rIns="0" bIns="0" rtlCol="0" anchor="t"/>
          <a:lstStyle/>
          <a:p>
            <a:pPr marL="0" indent="0">
              <a:buNone/>
            </a:pPr>
            <a:r>
              <a:rPr lang="en-US" sz="1300" dirty="0">
                <a:solidFill>
                  <a:srgbClr val="E6EEF8"/>
                </a:solidFill>
                <a:latin typeface="Calibri" pitchFamily="34" charset="0"/>
                <a:ea typeface="Calibri" pitchFamily="34" charset="-122"/>
                <a:cs typeface="Calibri" pitchFamily="34" charset="-120"/>
              </a:rPr>
              <a:t>VC02 hears a fixed set of </a:t>
            </a:r>
            <a:r>
              <a:rPr lang="en-US" sz="1300" dirty="0" smtClean="0">
                <a:solidFill>
                  <a:srgbClr val="E6EEF8"/>
                </a:solidFill>
                <a:latin typeface="Calibri" pitchFamily="34" charset="0"/>
                <a:ea typeface="Calibri" pitchFamily="34" charset="-122"/>
                <a:cs typeface="Calibri" pitchFamily="34" charset="-120"/>
              </a:rPr>
              <a:t>commands</a:t>
            </a:r>
          </a:p>
          <a:p>
            <a:pPr marL="0" indent="0">
              <a:buNone/>
            </a:pPr>
            <a:r>
              <a:rPr lang="en-US" sz="1300" dirty="0" smtClean="0">
                <a:solidFill>
                  <a:srgbClr val="E6EEF8"/>
                </a:solidFill>
                <a:latin typeface="Calibri" pitchFamily="34" charset="0"/>
                <a:ea typeface="Calibri" pitchFamily="34" charset="-122"/>
                <a:cs typeface="Calibri" pitchFamily="34" charset="-120"/>
              </a:rPr>
              <a:t>VC02 is pre-trained model which include fixed set of commands</a:t>
            </a:r>
            <a:endParaRPr lang="en-US" sz="1300" dirty="0"/>
          </a:p>
        </p:txBody>
      </p:sp>
      <p:sp>
        <p:nvSpPr>
          <p:cNvPr id="30" name="Shape 27"/>
          <p:cNvSpPr/>
          <p:nvPr/>
        </p:nvSpPr>
        <p:spPr>
          <a:xfrm>
            <a:off x="7040880" y="3017520"/>
            <a:ext cx="2194560" cy="2377440"/>
          </a:xfrm>
          <a:prstGeom prst="rect">
            <a:avLst/>
          </a:prstGeom>
          <a:solidFill>
            <a:srgbClr val="101C30"/>
          </a:solidFill>
          <a:ln w="12700">
            <a:solidFill>
              <a:srgbClr val="2EA8FF"/>
            </a:solidFill>
            <a:prstDash val="solid"/>
          </a:ln>
        </p:spPr>
      </p:sp>
      <p:sp>
        <p:nvSpPr>
          <p:cNvPr id="31" name="Text 28"/>
          <p:cNvSpPr txBox="1"/>
          <p:nvPr/>
        </p:nvSpPr>
        <p:spPr>
          <a:xfrm>
            <a:off x="7223760" y="3154680"/>
            <a:ext cx="1828800" cy="365760"/>
          </a:xfrm>
          <a:prstGeom prst="rect">
            <a:avLst/>
          </a:prstGeom>
          <a:noFill/>
          <a:ln/>
        </p:spPr>
        <p:txBody>
          <a:bodyPr wrap="square" lIns="0" tIns="0" rIns="0" bIns="0" rtlCol="0" anchor="t"/>
          <a:lstStyle/>
          <a:p>
            <a:pPr marL="0" indent="0">
              <a:buNone/>
            </a:pPr>
            <a:r>
              <a:rPr lang="en-US" sz="1600" b="1" kern="0" spc="300" dirty="0">
                <a:solidFill>
                  <a:srgbClr val="2EA8FF"/>
                </a:solidFill>
                <a:latin typeface="Arial Narrow" pitchFamily="34" charset="0"/>
                <a:ea typeface="Arial Narrow" pitchFamily="34" charset="-122"/>
                <a:cs typeface="Arial Narrow" pitchFamily="34" charset="-120"/>
              </a:rPr>
              <a:t>CONTROL</a:t>
            </a:r>
            <a:endParaRPr lang="en-US" sz="1600" dirty="0"/>
          </a:p>
        </p:txBody>
      </p:sp>
      <p:sp>
        <p:nvSpPr>
          <p:cNvPr id="32" name="Text 29"/>
          <p:cNvSpPr txBox="1"/>
          <p:nvPr/>
        </p:nvSpPr>
        <p:spPr>
          <a:xfrm>
            <a:off x="7223760" y="3611880"/>
            <a:ext cx="1828800" cy="1737360"/>
          </a:xfrm>
          <a:prstGeom prst="rect">
            <a:avLst/>
          </a:prstGeom>
          <a:noFill/>
          <a:ln/>
        </p:spPr>
        <p:txBody>
          <a:bodyPr wrap="square" lIns="0" tIns="0" rIns="0" bIns="0" rtlCol="0" anchor="t"/>
          <a:lstStyle/>
          <a:p>
            <a:pPr marL="0" indent="0">
              <a:buNone/>
            </a:pPr>
            <a:r>
              <a:rPr lang="en-US" sz="1300" dirty="0">
                <a:solidFill>
                  <a:srgbClr val="E6EEF8"/>
                </a:solidFill>
                <a:latin typeface="Calibri" pitchFamily="34" charset="0"/>
                <a:ea typeface="Calibri" pitchFamily="34" charset="-122"/>
                <a:cs typeface="Calibri" pitchFamily="34" charset="-120"/>
              </a:rPr>
              <a:t>The Arduino holds stored sequences of joint positions and timing, and picks one to </a:t>
            </a:r>
            <a:r>
              <a:rPr lang="en-US" sz="1300" dirty="0" smtClean="0">
                <a:solidFill>
                  <a:srgbClr val="E6EEF8"/>
                </a:solidFill>
                <a:latin typeface="Calibri" pitchFamily="34" charset="0"/>
                <a:ea typeface="Calibri" pitchFamily="34" charset="-122"/>
                <a:cs typeface="Calibri" pitchFamily="34" charset="-120"/>
              </a:rPr>
              <a:t>run</a:t>
            </a:r>
            <a:r>
              <a:rPr lang="en-US" sz="1300" dirty="0">
                <a:solidFill>
                  <a:srgbClr val="E6EEF8"/>
                </a:solidFill>
                <a:latin typeface="Calibri" pitchFamily="34" charset="0"/>
                <a:ea typeface="Calibri" pitchFamily="34" charset="-122"/>
                <a:cs typeface="Calibri" pitchFamily="34" charset="-120"/>
              </a:rPr>
              <a:t> </a:t>
            </a:r>
            <a:r>
              <a:rPr lang="en-US" sz="1300" dirty="0" smtClean="0">
                <a:solidFill>
                  <a:srgbClr val="E6EEF8"/>
                </a:solidFill>
                <a:latin typeface="Calibri" pitchFamily="34" charset="0"/>
                <a:ea typeface="Calibri" pitchFamily="34" charset="-122"/>
                <a:cs typeface="Calibri" pitchFamily="34" charset="-120"/>
              </a:rPr>
              <a:t>when VC02 sends signal </a:t>
            </a:r>
            <a:endParaRPr lang="en-US" sz="1300" dirty="0"/>
          </a:p>
        </p:txBody>
      </p:sp>
      <p:sp>
        <p:nvSpPr>
          <p:cNvPr id="33" name="Shape 30"/>
          <p:cNvSpPr/>
          <p:nvPr/>
        </p:nvSpPr>
        <p:spPr>
          <a:xfrm>
            <a:off x="9418320" y="3017520"/>
            <a:ext cx="2194560" cy="2377440"/>
          </a:xfrm>
          <a:prstGeom prst="rect">
            <a:avLst/>
          </a:prstGeom>
          <a:solidFill>
            <a:srgbClr val="101C30"/>
          </a:solidFill>
          <a:ln w="12700">
            <a:solidFill>
              <a:srgbClr val="2EA8FF"/>
            </a:solidFill>
            <a:prstDash val="solid"/>
          </a:ln>
        </p:spPr>
      </p:sp>
      <p:sp>
        <p:nvSpPr>
          <p:cNvPr id="34" name="Text 31"/>
          <p:cNvSpPr txBox="1"/>
          <p:nvPr/>
        </p:nvSpPr>
        <p:spPr>
          <a:xfrm>
            <a:off x="9601200" y="3154680"/>
            <a:ext cx="1828800" cy="365760"/>
          </a:xfrm>
          <a:prstGeom prst="rect">
            <a:avLst/>
          </a:prstGeom>
          <a:noFill/>
          <a:ln/>
        </p:spPr>
        <p:txBody>
          <a:bodyPr wrap="square" lIns="0" tIns="0" rIns="0" bIns="0" rtlCol="0" anchor="t"/>
          <a:lstStyle/>
          <a:p>
            <a:pPr marL="0" indent="0">
              <a:buNone/>
            </a:pPr>
            <a:r>
              <a:rPr lang="en-US" sz="1600" b="1" kern="0" spc="300" dirty="0">
                <a:solidFill>
                  <a:srgbClr val="2EA8FF"/>
                </a:solidFill>
                <a:latin typeface="Arial Narrow" pitchFamily="34" charset="0"/>
                <a:ea typeface="Arial Narrow" pitchFamily="34" charset="-122"/>
                <a:cs typeface="Arial Narrow" pitchFamily="34" charset="-120"/>
              </a:rPr>
              <a:t>ACTUATION</a:t>
            </a:r>
            <a:endParaRPr lang="en-US" sz="1600" dirty="0"/>
          </a:p>
        </p:txBody>
      </p:sp>
      <p:sp>
        <p:nvSpPr>
          <p:cNvPr id="35" name="Text 32"/>
          <p:cNvSpPr txBox="1"/>
          <p:nvPr/>
        </p:nvSpPr>
        <p:spPr>
          <a:xfrm>
            <a:off x="9601200" y="3611880"/>
            <a:ext cx="1828800" cy="1737360"/>
          </a:xfrm>
          <a:prstGeom prst="rect">
            <a:avLst/>
          </a:prstGeom>
          <a:noFill/>
          <a:ln/>
        </p:spPr>
        <p:txBody>
          <a:bodyPr wrap="square" lIns="0" tIns="0" rIns="0" bIns="0" rtlCol="0" anchor="t"/>
          <a:lstStyle/>
          <a:p>
            <a:pPr marL="0" indent="0">
              <a:buNone/>
            </a:pPr>
            <a:r>
              <a:rPr lang="en-US" sz="1300" dirty="0">
                <a:solidFill>
                  <a:srgbClr val="E6EEF8"/>
                </a:solidFill>
                <a:latin typeface="Calibri" pitchFamily="34" charset="0"/>
                <a:ea typeface="Calibri" pitchFamily="34" charset="-122"/>
                <a:cs typeface="Calibri" pitchFamily="34" charset="-120"/>
              </a:rPr>
              <a:t>The PCA9685 distributes PWM to 12 channels so all joints move in step.</a:t>
            </a:r>
            <a:endParaRPr lang="en-US" sz="1300" dirty="0"/>
          </a:p>
        </p:txBody>
      </p:sp>
      <p:sp>
        <p:nvSpPr>
          <p:cNvPr id="36" name="Text 33"/>
          <p:cNvSpPr txBox="1"/>
          <p:nvPr/>
        </p:nvSpPr>
        <p:spPr>
          <a:xfrm>
            <a:off x="4663440" y="5623560"/>
            <a:ext cx="6949440" cy="365760"/>
          </a:xfrm>
          <a:prstGeom prst="rect">
            <a:avLst/>
          </a:prstGeom>
          <a:noFill/>
          <a:ln/>
        </p:spPr>
        <p:txBody>
          <a:bodyPr wrap="square" lIns="0" tIns="0" rIns="0" bIns="0" rtlCol="0" anchor="t"/>
          <a:lstStyle/>
          <a:p>
            <a:pPr marL="0" indent="0" algn="ctr">
              <a:buNone/>
            </a:pPr>
            <a:r>
              <a:rPr lang="en-US" sz="1300" dirty="0">
                <a:solidFill>
                  <a:srgbClr val="8FA3BC"/>
                </a:solidFill>
                <a:latin typeface="Calibri" pitchFamily="34" charset="0"/>
                <a:ea typeface="Calibri" pitchFamily="34" charset="-122"/>
                <a:cs typeface="Calibri" pitchFamily="34" charset="-120"/>
              </a:rPr>
              <a:t>joint movement  →  robot action.   Command-driven and programmed</a:t>
            </a:r>
            <a:r>
              <a:rPr lang="en-US" sz="1300" dirty="0" smtClean="0">
                <a:solidFill>
                  <a:srgbClr val="8FA3BC"/>
                </a:solidFill>
                <a:latin typeface="Calibri" pitchFamily="34" charset="0"/>
                <a:ea typeface="Calibri" pitchFamily="34" charset="-122"/>
                <a:cs typeface="Calibri" pitchFamily="34" charset="-120"/>
              </a:rPr>
              <a:t>;.</a:t>
            </a:r>
            <a:endParaRPr lang="en-US" sz="1300" dirty="0"/>
          </a:p>
        </p:txBody>
      </p:sp>
      <p:sp>
        <p:nvSpPr>
          <p:cNvPr id="6"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5</a:t>
            </a:fld>
            <a:endParaRPr lang="en-US"/>
          </a:p>
        </p:txBody>
      </p:sp>
      <p:cxnSp>
        <p:nvCxnSpPr>
          <p:cNvPr id="38" name="Straight Connector 37"/>
          <p:cNvCxnSpPr/>
          <p:nvPr/>
        </p:nvCxnSpPr>
        <p:spPr>
          <a:xfrm>
            <a:off x="224589" y="2053389"/>
            <a:ext cx="4228539"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05  12-DOF PLATFORM</a:t>
            </a:r>
            <a:endParaRPr lang="en-US" sz="1100" dirty="0"/>
          </a:p>
        </p:txBody>
      </p:sp>
      <p:sp>
        <p:nvSpPr>
          <p:cNvPr id="3" name="Text 46"/>
          <p:cNvSpPr>
            <a:spLocks noGrp="1"/>
          </p:cNvSpPr>
          <p:nvPr>
            <p:ph type="title" idx="147" hasCustomPrompt="1"/>
          </p:nvPr>
        </p:nvSpPr>
        <p:spPr>
          <a:xfrm>
            <a:off x="548640" y="777240"/>
            <a:ext cx="3749040" cy="1463040"/>
          </a:xfrm>
          <a:prstGeom prst="rect">
            <a:avLst/>
          </a:prstGeom>
          <a:noFill/>
          <a:ln/>
        </p:spPr>
        <p:txBody>
          <a:bodyPr wrap="square" lIns="0" tIns="0" rIns="0" bIns="0" rtlCol="0" anchor="t"/>
          <a:lstStyle/>
          <a:p>
            <a:pPr marL="0" indent="0" algn="l">
              <a:buNone/>
            </a:pPr>
            <a:r>
              <a:rPr lang="en-US" sz="3000" b="1" kern="0" spc="100" dirty="0">
                <a:solidFill>
                  <a:srgbClr val="E6EEF8"/>
                </a:solidFill>
              </a:rPr>
              <a:t>THE CHALLENGE IS COORDINATION</a:t>
            </a:r>
            <a:endParaRPr lang="en-US" sz="3000" dirty="0"/>
          </a:p>
        </p:txBody>
      </p:sp>
      <p:sp>
        <p:nvSpPr>
          <p:cNvPr id="4" name="Text 46"/>
          <p:cNvSpPr>
            <a:spLocks noGrp="1"/>
          </p:cNvSpPr>
          <p:nvPr>
            <p:ph type="body" idx="148" hasCustomPrompt="1"/>
          </p:nvPr>
        </p:nvSpPr>
        <p:spPr>
          <a:xfrm>
            <a:off x="548640" y="2125980"/>
            <a:ext cx="3657600" cy="868680"/>
          </a:xfrm>
          <a:prstGeom prst="rect">
            <a:avLst/>
          </a:prstGeom>
          <a:noFill/>
          <a:ln/>
        </p:spPr>
        <p:txBody>
          <a:bodyPr wrap="square" lIns="0" tIns="0" rIns="0" bIns="0" rtlCol="0" anchor="t"/>
          <a:lstStyle/>
          <a:p>
            <a:pPr marL="0" indent="0">
              <a:buNone/>
            </a:pPr>
            <a:r>
              <a:rPr lang="en-US" sz="1800" b="1" dirty="0">
                <a:solidFill>
                  <a:srgbClr val="2EA8FF"/>
                </a:solidFill>
              </a:rPr>
              <a:t>Moving one motor is easy; moving twelve in step </a:t>
            </a:r>
            <a:r>
              <a:rPr lang="en-US" sz="1800" dirty="0" smtClean="0"/>
              <a:t>was</a:t>
            </a:r>
            <a:r>
              <a:rPr lang="en-US" sz="1800" b="1" dirty="0" smtClean="0">
                <a:solidFill>
                  <a:srgbClr val="2EA8FF"/>
                </a:solidFill>
              </a:rPr>
              <a:t> </a:t>
            </a:r>
            <a:r>
              <a:rPr lang="en-US" sz="1800" b="1" dirty="0">
                <a:solidFill>
                  <a:srgbClr val="2EA8FF"/>
                </a:solidFill>
              </a:rPr>
              <a:t>the engineering </a:t>
            </a:r>
            <a:r>
              <a:rPr lang="en-US" sz="1800" dirty="0" smtClean="0"/>
              <a:t>challenge</a:t>
            </a:r>
            <a:r>
              <a:rPr lang="en-US" sz="1800" b="1" dirty="0" smtClean="0">
                <a:solidFill>
                  <a:srgbClr val="2EA8FF"/>
                </a:solidFill>
              </a:rPr>
              <a:t>.</a:t>
            </a:r>
            <a:endParaRPr lang="en-US" sz="18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PLUTO has four legs with three servo-driven joints each.</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Every step needs all 12 joints at the right position at the right time.</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Routines are stored as joint positions with timing, so calibration directly affects how well the robot moves.</a:t>
            </a:r>
            <a:endParaRPr lang="en-US" sz="1300" dirty="0"/>
          </a:p>
        </p:txBody>
      </p:sp>
      <p:sp>
        <p:nvSpPr>
          <p:cNvPr id="7" name="Text 4"/>
          <p:cNvSpPr txBox="1"/>
          <p:nvPr/>
        </p:nvSpPr>
        <p:spPr>
          <a:xfrm>
            <a:off x="4663440" y="566928"/>
            <a:ext cx="6949440" cy="228600"/>
          </a:xfrm>
          <a:prstGeom prst="rect">
            <a:avLst/>
          </a:prstGeom>
          <a:noFill/>
          <a:ln/>
        </p:spPr>
        <p:txBody>
          <a:bodyPr wrap="square" lIns="0" tIns="0" rIns="0" bIns="0" rtlCol="0" anchor="t"/>
          <a:lstStyle/>
          <a:p>
            <a:pPr marL="0" indent="0" algn="ctr">
              <a:buNone/>
            </a:pPr>
            <a:r>
              <a:rPr lang="en-US" sz="1000" b="1" kern="0" spc="400" dirty="0">
                <a:solidFill>
                  <a:srgbClr val="8FA3BC"/>
                </a:solidFill>
                <a:latin typeface="Calibri" pitchFamily="34" charset="0"/>
                <a:ea typeface="Calibri" pitchFamily="34" charset="-122"/>
                <a:cs typeface="Calibri" pitchFamily="34" charset="-120"/>
              </a:rPr>
              <a:t>FRONT</a:t>
            </a:r>
            <a:endParaRPr lang="en-US" sz="1000" dirty="0"/>
          </a:p>
        </p:txBody>
      </p:sp>
      <p:sp>
        <p:nvSpPr>
          <p:cNvPr id="8" name="Shape 5"/>
          <p:cNvSpPr/>
          <p:nvPr/>
        </p:nvSpPr>
        <p:spPr>
          <a:xfrm>
            <a:off x="4663440" y="868680"/>
            <a:ext cx="3383280" cy="1965960"/>
          </a:xfrm>
          <a:prstGeom prst="rect">
            <a:avLst/>
          </a:prstGeom>
          <a:solidFill>
            <a:srgbClr val="101C30"/>
          </a:solidFill>
          <a:ln w="12700">
            <a:solidFill>
              <a:srgbClr val="2EA8FF"/>
            </a:solidFill>
            <a:prstDash val="solid"/>
          </a:ln>
        </p:spPr>
      </p:sp>
      <p:sp>
        <p:nvSpPr>
          <p:cNvPr id="9" name="Text 6"/>
          <p:cNvSpPr txBox="1"/>
          <p:nvPr/>
        </p:nvSpPr>
        <p:spPr>
          <a:xfrm>
            <a:off x="4892040" y="1005840"/>
            <a:ext cx="2743200" cy="320040"/>
          </a:xfrm>
          <a:prstGeom prst="rect">
            <a:avLst/>
          </a:prstGeom>
          <a:noFill/>
          <a:ln/>
        </p:spPr>
        <p:txBody>
          <a:bodyPr wrap="square" lIns="0" tIns="0" rIns="0" bIns="0" rtlCol="0" anchor="t"/>
          <a:lstStyle/>
          <a:p>
            <a:pPr marL="0" indent="0">
              <a:buNone/>
            </a:pPr>
            <a:r>
              <a:rPr lang="en-US" sz="1500" b="1" kern="0" spc="200" dirty="0">
                <a:solidFill>
                  <a:srgbClr val="E6EEF8"/>
                </a:solidFill>
                <a:latin typeface="Arial Narrow" pitchFamily="34" charset="0"/>
                <a:ea typeface="Arial Narrow" pitchFamily="34" charset="-122"/>
                <a:cs typeface="Arial Narrow" pitchFamily="34" charset="-120"/>
              </a:rPr>
              <a:t>LEFT FRONT</a:t>
            </a:r>
            <a:endParaRPr lang="en-US" sz="1500" dirty="0"/>
          </a:p>
        </p:txBody>
      </p:sp>
      <p:sp>
        <p:nvSpPr>
          <p:cNvPr id="10" name="Shape 7"/>
          <p:cNvSpPr/>
          <p:nvPr/>
        </p:nvSpPr>
        <p:spPr>
          <a:xfrm>
            <a:off x="4892040" y="1508760"/>
            <a:ext cx="914400" cy="731520"/>
          </a:xfrm>
          <a:prstGeom prst="rect">
            <a:avLst/>
          </a:prstGeom>
          <a:solidFill>
            <a:srgbClr val="0A1220"/>
          </a:solidFill>
          <a:ln w="9525">
            <a:solidFill>
              <a:srgbClr val="2EA8FF"/>
            </a:solidFill>
            <a:prstDash val="solid"/>
          </a:ln>
        </p:spPr>
      </p:sp>
      <p:sp>
        <p:nvSpPr>
          <p:cNvPr id="11" name="Text 8"/>
          <p:cNvSpPr txBox="1"/>
          <p:nvPr/>
        </p:nvSpPr>
        <p:spPr>
          <a:xfrm>
            <a:off x="4892040" y="150876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1</a:t>
            </a:r>
            <a:endParaRPr lang="en-US" sz="1100" dirty="0"/>
          </a:p>
        </p:txBody>
      </p:sp>
      <p:sp>
        <p:nvSpPr>
          <p:cNvPr id="12" name="Text 9"/>
          <p:cNvSpPr txBox="1"/>
          <p:nvPr/>
        </p:nvSpPr>
        <p:spPr>
          <a:xfrm>
            <a:off x="4892040" y="187452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Hip servo</a:t>
            </a:r>
            <a:endParaRPr lang="en-US" sz="1000" dirty="0"/>
          </a:p>
        </p:txBody>
      </p:sp>
      <p:sp>
        <p:nvSpPr>
          <p:cNvPr id="13" name="Shape 10"/>
          <p:cNvSpPr/>
          <p:nvPr/>
        </p:nvSpPr>
        <p:spPr>
          <a:xfrm>
            <a:off x="5897880" y="1508760"/>
            <a:ext cx="914400" cy="731520"/>
          </a:xfrm>
          <a:prstGeom prst="rect">
            <a:avLst/>
          </a:prstGeom>
          <a:solidFill>
            <a:srgbClr val="0A1220"/>
          </a:solidFill>
          <a:ln w="9525">
            <a:solidFill>
              <a:srgbClr val="2EA8FF"/>
            </a:solidFill>
            <a:prstDash val="solid"/>
          </a:ln>
        </p:spPr>
      </p:sp>
      <p:sp>
        <p:nvSpPr>
          <p:cNvPr id="14" name="Text 11"/>
          <p:cNvSpPr txBox="1"/>
          <p:nvPr/>
        </p:nvSpPr>
        <p:spPr>
          <a:xfrm>
            <a:off x="5897880" y="150876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2</a:t>
            </a:r>
            <a:endParaRPr lang="en-US" sz="1100" dirty="0"/>
          </a:p>
        </p:txBody>
      </p:sp>
      <p:sp>
        <p:nvSpPr>
          <p:cNvPr id="15" name="Text 12"/>
          <p:cNvSpPr txBox="1"/>
          <p:nvPr/>
        </p:nvSpPr>
        <p:spPr>
          <a:xfrm>
            <a:off x="5897880" y="187452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Shoulder servo</a:t>
            </a:r>
            <a:endParaRPr lang="en-US" sz="1000" dirty="0"/>
          </a:p>
        </p:txBody>
      </p:sp>
      <p:sp>
        <p:nvSpPr>
          <p:cNvPr id="16" name="Shape 13"/>
          <p:cNvSpPr/>
          <p:nvPr/>
        </p:nvSpPr>
        <p:spPr>
          <a:xfrm>
            <a:off x="6903720" y="1508760"/>
            <a:ext cx="914400" cy="731520"/>
          </a:xfrm>
          <a:prstGeom prst="rect">
            <a:avLst/>
          </a:prstGeom>
          <a:solidFill>
            <a:srgbClr val="0A1220"/>
          </a:solidFill>
          <a:ln w="9525">
            <a:solidFill>
              <a:srgbClr val="2EA8FF"/>
            </a:solidFill>
            <a:prstDash val="solid"/>
          </a:ln>
        </p:spPr>
      </p:sp>
      <p:sp>
        <p:nvSpPr>
          <p:cNvPr id="17" name="Text 14"/>
          <p:cNvSpPr txBox="1"/>
          <p:nvPr/>
        </p:nvSpPr>
        <p:spPr>
          <a:xfrm>
            <a:off x="6903720" y="150876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3</a:t>
            </a:r>
            <a:endParaRPr lang="en-US" sz="1100" dirty="0"/>
          </a:p>
        </p:txBody>
      </p:sp>
      <p:sp>
        <p:nvSpPr>
          <p:cNvPr id="18" name="Text 15"/>
          <p:cNvSpPr txBox="1"/>
          <p:nvPr/>
        </p:nvSpPr>
        <p:spPr>
          <a:xfrm>
            <a:off x="6903720" y="187452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Ankle servo</a:t>
            </a:r>
            <a:endParaRPr lang="en-US" sz="1000" dirty="0"/>
          </a:p>
        </p:txBody>
      </p:sp>
      <p:sp>
        <p:nvSpPr>
          <p:cNvPr id="19" name="Text 16"/>
          <p:cNvSpPr txBox="1"/>
          <p:nvPr/>
        </p:nvSpPr>
        <p:spPr>
          <a:xfrm>
            <a:off x="4892040" y="2423160"/>
            <a:ext cx="2743200" cy="274320"/>
          </a:xfrm>
          <a:prstGeom prst="rect">
            <a:avLst/>
          </a:prstGeom>
          <a:noFill/>
          <a:ln/>
        </p:spPr>
        <p:txBody>
          <a:bodyPr wrap="square" lIns="0" tIns="0" rIns="0" bIns="0" rtlCol="0" anchor="t"/>
          <a:lstStyle/>
          <a:p>
            <a:pPr marL="0" indent="0">
              <a:buNone/>
            </a:pPr>
            <a:r>
              <a:rPr lang="en-US" sz="1100" dirty="0">
                <a:solidFill>
                  <a:srgbClr val="8FA3BC"/>
                </a:solidFill>
                <a:latin typeface="Calibri" pitchFamily="34" charset="0"/>
                <a:ea typeface="Calibri" pitchFamily="34" charset="-122"/>
                <a:cs typeface="Calibri" pitchFamily="34" charset="-120"/>
              </a:rPr>
              <a:t>3 servo channels</a:t>
            </a:r>
            <a:endParaRPr lang="en-US" sz="1100" dirty="0"/>
          </a:p>
        </p:txBody>
      </p:sp>
      <p:sp>
        <p:nvSpPr>
          <p:cNvPr id="20" name="Shape 17"/>
          <p:cNvSpPr/>
          <p:nvPr/>
        </p:nvSpPr>
        <p:spPr>
          <a:xfrm>
            <a:off x="8229600" y="868680"/>
            <a:ext cx="3383280" cy="1965960"/>
          </a:xfrm>
          <a:prstGeom prst="rect">
            <a:avLst/>
          </a:prstGeom>
          <a:solidFill>
            <a:srgbClr val="101C30"/>
          </a:solidFill>
          <a:ln w="12700">
            <a:solidFill>
              <a:srgbClr val="2EA8FF"/>
            </a:solidFill>
            <a:prstDash val="solid"/>
          </a:ln>
        </p:spPr>
      </p:sp>
      <p:sp>
        <p:nvSpPr>
          <p:cNvPr id="21" name="Text 18"/>
          <p:cNvSpPr txBox="1"/>
          <p:nvPr/>
        </p:nvSpPr>
        <p:spPr>
          <a:xfrm>
            <a:off x="8458200" y="1005840"/>
            <a:ext cx="2743200" cy="320040"/>
          </a:xfrm>
          <a:prstGeom prst="rect">
            <a:avLst/>
          </a:prstGeom>
          <a:noFill/>
          <a:ln/>
        </p:spPr>
        <p:txBody>
          <a:bodyPr wrap="square" lIns="0" tIns="0" rIns="0" bIns="0" rtlCol="0" anchor="t"/>
          <a:lstStyle/>
          <a:p>
            <a:pPr marL="0" indent="0">
              <a:buNone/>
            </a:pPr>
            <a:r>
              <a:rPr lang="en-US" sz="1500" b="1" kern="0" spc="200" dirty="0">
                <a:solidFill>
                  <a:srgbClr val="E6EEF8"/>
                </a:solidFill>
                <a:latin typeface="Arial Narrow" pitchFamily="34" charset="0"/>
                <a:ea typeface="Arial Narrow" pitchFamily="34" charset="-122"/>
                <a:cs typeface="Arial Narrow" pitchFamily="34" charset="-120"/>
              </a:rPr>
              <a:t>RIGHT FRONT</a:t>
            </a:r>
            <a:endParaRPr lang="en-US" sz="1500" dirty="0"/>
          </a:p>
        </p:txBody>
      </p:sp>
      <p:sp>
        <p:nvSpPr>
          <p:cNvPr id="22" name="Shape 19"/>
          <p:cNvSpPr/>
          <p:nvPr/>
        </p:nvSpPr>
        <p:spPr>
          <a:xfrm>
            <a:off x="8458200" y="1508760"/>
            <a:ext cx="914400" cy="731520"/>
          </a:xfrm>
          <a:prstGeom prst="rect">
            <a:avLst/>
          </a:prstGeom>
          <a:solidFill>
            <a:srgbClr val="0A1220"/>
          </a:solidFill>
          <a:ln w="9525">
            <a:solidFill>
              <a:srgbClr val="2EA8FF"/>
            </a:solidFill>
            <a:prstDash val="solid"/>
          </a:ln>
        </p:spPr>
      </p:sp>
      <p:sp>
        <p:nvSpPr>
          <p:cNvPr id="23" name="Text 20"/>
          <p:cNvSpPr txBox="1"/>
          <p:nvPr/>
        </p:nvSpPr>
        <p:spPr>
          <a:xfrm>
            <a:off x="8458200" y="150876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a:t>
            </a:r>
            <a:r>
              <a:rPr lang="en-US" sz="1100" b="1" dirty="0">
                <a:solidFill>
                  <a:srgbClr val="2EA8FF"/>
                </a:solidFill>
                <a:latin typeface="Calibri" pitchFamily="34" charset="0"/>
                <a:ea typeface="Calibri" pitchFamily="34" charset="-122"/>
                <a:cs typeface="Calibri" pitchFamily="34" charset="-120"/>
              </a:rPr>
              <a:t>4</a:t>
            </a:r>
            <a:endParaRPr lang="en-US" sz="1100" dirty="0"/>
          </a:p>
        </p:txBody>
      </p:sp>
      <p:sp>
        <p:nvSpPr>
          <p:cNvPr id="24" name="Text 21"/>
          <p:cNvSpPr txBox="1"/>
          <p:nvPr/>
        </p:nvSpPr>
        <p:spPr>
          <a:xfrm>
            <a:off x="8458200" y="187452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Hip servo</a:t>
            </a:r>
            <a:endParaRPr lang="en-US" sz="1000" dirty="0"/>
          </a:p>
        </p:txBody>
      </p:sp>
      <p:sp>
        <p:nvSpPr>
          <p:cNvPr id="25" name="Shape 22"/>
          <p:cNvSpPr/>
          <p:nvPr/>
        </p:nvSpPr>
        <p:spPr>
          <a:xfrm>
            <a:off x="9464040" y="1508760"/>
            <a:ext cx="914400" cy="731520"/>
          </a:xfrm>
          <a:prstGeom prst="rect">
            <a:avLst/>
          </a:prstGeom>
          <a:solidFill>
            <a:srgbClr val="0A1220"/>
          </a:solidFill>
          <a:ln w="9525">
            <a:solidFill>
              <a:srgbClr val="2EA8FF"/>
            </a:solidFill>
            <a:prstDash val="solid"/>
          </a:ln>
        </p:spPr>
      </p:sp>
      <p:sp>
        <p:nvSpPr>
          <p:cNvPr id="26" name="Text 23"/>
          <p:cNvSpPr txBox="1"/>
          <p:nvPr/>
        </p:nvSpPr>
        <p:spPr>
          <a:xfrm>
            <a:off x="9464040" y="150876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a:t>
            </a:r>
            <a:r>
              <a:rPr lang="en-US" sz="1100" b="1" dirty="0" smtClean="0">
                <a:solidFill>
                  <a:srgbClr val="2EA8FF"/>
                </a:solidFill>
                <a:latin typeface="Calibri" pitchFamily="34" charset="0"/>
                <a:ea typeface="Calibri" pitchFamily="34" charset="-122"/>
                <a:cs typeface="Calibri" pitchFamily="34" charset="-120"/>
              </a:rPr>
              <a:t>5</a:t>
            </a:r>
            <a:endParaRPr lang="en-US" sz="1100" dirty="0"/>
          </a:p>
        </p:txBody>
      </p:sp>
      <p:sp>
        <p:nvSpPr>
          <p:cNvPr id="27" name="Text 24"/>
          <p:cNvSpPr txBox="1"/>
          <p:nvPr/>
        </p:nvSpPr>
        <p:spPr>
          <a:xfrm>
            <a:off x="9464040" y="187452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Shoulder </a:t>
            </a:r>
            <a:r>
              <a:rPr lang="en-US" sz="1000" dirty="0" smtClean="0">
                <a:solidFill>
                  <a:srgbClr val="8FA3BC"/>
                </a:solidFill>
                <a:latin typeface="Calibri" pitchFamily="34" charset="0"/>
                <a:ea typeface="Calibri" pitchFamily="34" charset="-122"/>
                <a:cs typeface="Calibri" pitchFamily="34" charset="-120"/>
              </a:rPr>
              <a:t>servo</a:t>
            </a:r>
            <a:endParaRPr lang="en-US" sz="1000" dirty="0"/>
          </a:p>
        </p:txBody>
      </p:sp>
      <p:sp>
        <p:nvSpPr>
          <p:cNvPr id="28" name="Shape 25"/>
          <p:cNvSpPr/>
          <p:nvPr/>
        </p:nvSpPr>
        <p:spPr>
          <a:xfrm>
            <a:off x="10469880" y="1508760"/>
            <a:ext cx="914400" cy="731520"/>
          </a:xfrm>
          <a:prstGeom prst="rect">
            <a:avLst/>
          </a:prstGeom>
          <a:solidFill>
            <a:srgbClr val="0A1220"/>
          </a:solidFill>
          <a:ln w="9525">
            <a:solidFill>
              <a:srgbClr val="2EA8FF"/>
            </a:solidFill>
            <a:prstDash val="solid"/>
          </a:ln>
        </p:spPr>
      </p:sp>
      <p:sp>
        <p:nvSpPr>
          <p:cNvPr id="29" name="Text 26"/>
          <p:cNvSpPr txBox="1"/>
          <p:nvPr/>
        </p:nvSpPr>
        <p:spPr>
          <a:xfrm>
            <a:off x="10469880" y="150876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a:t>
            </a:r>
            <a:r>
              <a:rPr lang="en-US" sz="1100" b="1" dirty="0">
                <a:solidFill>
                  <a:srgbClr val="2EA8FF"/>
                </a:solidFill>
                <a:latin typeface="Calibri" pitchFamily="34" charset="0"/>
                <a:ea typeface="Calibri" pitchFamily="34" charset="-122"/>
                <a:cs typeface="Calibri" pitchFamily="34" charset="-120"/>
              </a:rPr>
              <a:t>6</a:t>
            </a:r>
            <a:endParaRPr lang="en-US" sz="1100" dirty="0"/>
          </a:p>
        </p:txBody>
      </p:sp>
      <p:sp>
        <p:nvSpPr>
          <p:cNvPr id="30" name="Text 27"/>
          <p:cNvSpPr txBox="1"/>
          <p:nvPr/>
        </p:nvSpPr>
        <p:spPr>
          <a:xfrm>
            <a:off x="10469880" y="187452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Ankle servo</a:t>
            </a:r>
            <a:endParaRPr lang="en-US" sz="1000" dirty="0"/>
          </a:p>
        </p:txBody>
      </p:sp>
      <p:sp>
        <p:nvSpPr>
          <p:cNvPr id="31" name="Text 28"/>
          <p:cNvSpPr txBox="1"/>
          <p:nvPr/>
        </p:nvSpPr>
        <p:spPr>
          <a:xfrm>
            <a:off x="8458200" y="2423160"/>
            <a:ext cx="2743200" cy="274320"/>
          </a:xfrm>
          <a:prstGeom prst="rect">
            <a:avLst/>
          </a:prstGeom>
          <a:noFill/>
          <a:ln/>
        </p:spPr>
        <p:txBody>
          <a:bodyPr wrap="square" lIns="0" tIns="0" rIns="0" bIns="0" rtlCol="0" anchor="t"/>
          <a:lstStyle/>
          <a:p>
            <a:pPr marL="0" indent="0">
              <a:buNone/>
            </a:pPr>
            <a:r>
              <a:rPr lang="en-US" sz="1100" dirty="0">
                <a:solidFill>
                  <a:srgbClr val="8FA3BC"/>
                </a:solidFill>
                <a:latin typeface="Calibri" pitchFamily="34" charset="0"/>
                <a:ea typeface="Calibri" pitchFamily="34" charset="-122"/>
                <a:cs typeface="Calibri" pitchFamily="34" charset="-120"/>
              </a:rPr>
              <a:t>3 servo channels</a:t>
            </a:r>
            <a:endParaRPr lang="en-US" sz="1100" dirty="0"/>
          </a:p>
        </p:txBody>
      </p:sp>
      <p:sp>
        <p:nvSpPr>
          <p:cNvPr id="32" name="Shape 29"/>
          <p:cNvSpPr/>
          <p:nvPr/>
        </p:nvSpPr>
        <p:spPr>
          <a:xfrm>
            <a:off x="4663440" y="3017520"/>
            <a:ext cx="3383280" cy="1965960"/>
          </a:xfrm>
          <a:prstGeom prst="rect">
            <a:avLst/>
          </a:prstGeom>
          <a:solidFill>
            <a:srgbClr val="101C30"/>
          </a:solidFill>
          <a:ln w="12700">
            <a:solidFill>
              <a:srgbClr val="2EA8FF"/>
            </a:solidFill>
            <a:prstDash val="solid"/>
          </a:ln>
        </p:spPr>
      </p:sp>
      <p:sp>
        <p:nvSpPr>
          <p:cNvPr id="33" name="Text 30"/>
          <p:cNvSpPr txBox="1"/>
          <p:nvPr/>
        </p:nvSpPr>
        <p:spPr>
          <a:xfrm>
            <a:off x="4892040" y="3154680"/>
            <a:ext cx="2743200" cy="320040"/>
          </a:xfrm>
          <a:prstGeom prst="rect">
            <a:avLst/>
          </a:prstGeom>
          <a:noFill/>
          <a:ln/>
        </p:spPr>
        <p:txBody>
          <a:bodyPr wrap="square" lIns="0" tIns="0" rIns="0" bIns="0" rtlCol="0" anchor="t"/>
          <a:lstStyle/>
          <a:p>
            <a:pPr marL="0" indent="0">
              <a:buNone/>
            </a:pPr>
            <a:r>
              <a:rPr lang="en-US" sz="1500" b="1" kern="0" spc="200" dirty="0">
                <a:solidFill>
                  <a:srgbClr val="E6EEF8"/>
                </a:solidFill>
                <a:latin typeface="Arial Narrow" pitchFamily="34" charset="0"/>
                <a:ea typeface="Arial Narrow" pitchFamily="34" charset="-122"/>
                <a:cs typeface="Arial Narrow" pitchFamily="34" charset="-120"/>
              </a:rPr>
              <a:t>LEFT BACK</a:t>
            </a:r>
            <a:endParaRPr lang="en-US" sz="1500" dirty="0"/>
          </a:p>
        </p:txBody>
      </p:sp>
      <p:sp>
        <p:nvSpPr>
          <p:cNvPr id="34" name="Shape 31"/>
          <p:cNvSpPr/>
          <p:nvPr/>
        </p:nvSpPr>
        <p:spPr>
          <a:xfrm>
            <a:off x="4892040" y="3657600"/>
            <a:ext cx="914400" cy="731520"/>
          </a:xfrm>
          <a:prstGeom prst="rect">
            <a:avLst/>
          </a:prstGeom>
          <a:solidFill>
            <a:srgbClr val="0A1220"/>
          </a:solidFill>
          <a:ln w="9525">
            <a:solidFill>
              <a:srgbClr val="2EA8FF"/>
            </a:solidFill>
            <a:prstDash val="solid"/>
          </a:ln>
        </p:spPr>
      </p:sp>
      <p:sp>
        <p:nvSpPr>
          <p:cNvPr id="35" name="Text 32"/>
          <p:cNvSpPr txBox="1"/>
          <p:nvPr/>
        </p:nvSpPr>
        <p:spPr>
          <a:xfrm>
            <a:off x="4892040" y="365760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a:t>
            </a:r>
            <a:r>
              <a:rPr lang="en-US" sz="1100" b="1" dirty="0">
                <a:solidFill>
                  <a:srgbClr val="2EA8FF"/>
                </a:solidFill>
                <a:latin typeface="Calibri" pitchFamily="34" charset="0"/>
                <a:ea typeface="Calibri" pitchFamily="34" charset="-122"/>
                <a:cs typeface="Calibri" pitchFamily="34" charset="-120"/>
              </a:rPr>
              <a:t>7</a:t>
            </a:r>
            <a:endParaRPr lang="en-US" sz="1100" dirty="0"/>
          </a:p>
        </p:txBody>
      </p:sp>
      <p:sp>
        <p:nvSpPr>
          <p:cNvPr id="36" name="Text 33"/>
          <p:cNvSpPr txBox="1"/>
          <p:nvPr/>
        </p:nvSpPr>
        <p:spPr>
          <a:xfrm>
            <a:off x="4892040" y="402336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Hip servo</a:t>
            </a:r>
            <a:endParaRPr lang="en-US" sz="1000" dirty="0"/>
          </a:p>
        </p:txBody>
      </p:sp>
      <p:sp>
        <p:nvSpPr>
          <p:cNvPr id="37" name="Shape 34"/>
          <p:cNvSpPr/>
          <p:nvPr/>
        </p:nvSpPr>
        <p:spPr>
          <a:xfrm>
            <a:off x="5897880" y="3657600"/>
            <a:ext cx="914400" cy="731520"/>
          </a:xfrm>
          <a:prstGeom prst="rect">
            <a:avLst/>
          </a:prstGeom>
          <a:solidFill>
            <a:srgbClr val="0A1220"/>
          </a:solidFill>
          <a:ln w="9525">
            <a:solidFill>
              <a:srgbClr val="2EA8FF"/>
            </a:solidFill>
            <a:prstDash val="solid"/>
          </a:ln>
        </p:spPr>
      </p:sp>
      <p:sp>
        <p:nvSpPr>
          <p:cNvPr id="38" name="Text 35"/>
          <p:cNvSpPr txBox="1"/>
          <p:nvPr/>
        </p:nvSpPr>
        <p:spPr>
          <a:xfrm>
            <a:off x="5897880" y="365760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a:t>
            </a:r>
            <a:r>
              <a:rPr lang="en-US" sz="1100" b="1" dirty="0">
                <a:solidFill>
                  <a:srgbClr val="2EA8FF"/>
                </a:solidFill>
                <a:latin typeface="Calibri" pitchFamily="34" charset="0"/>
                <a:ea typeface="Calibri" pitchFamily="34" charset="-122"/>
                <a:cs typeface="Calibri" pitchFamily="34" charset="-120"/>
              </a:rPr>
              <a:t>8</a:t>
            </a:r>
            <a:endParaRPr lang="en-US" sz="1100" dirty="0"/>
          </a:p>
        </p:txBody>
      </p:sp>
      <p:sp>
        <p:nvSpPr>
          <p:cNvPr id="39" name="Text 36"/>
          <p:cNvSpPr txBox="1"/>
          <p:nvPr/>
        </p:nvSpPr>
        <p:spPr>
          <a:xfrm>
            <a:off x="5897880" y="402336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Shoulder servo</a:t>
            </a:r>
            <a:endParaRPr lang="en-US" sz="1000" dirty="0"/>
          </a:p>
        </p:txBody>
      </p:sp>
      <p:sp>
        <p:nvSpPr>
          <p:cNvPr id="40" name="Shape 37"/>
          <p:cNvSpPr/>
          <p:nvPr/>
        </p:nvSpPr>
        <p:spPr>
          <a:xfrm>
            <a:off x="6903720" y="3657600"/>
            <a:ext cx="914400" cy="731520"/>
          </a:xfrm>
          <a:prstGeom prst="rect">
            <a:avLst/>
          </a:prstGeom>
          <a:solidFill>
            <a:srgbClr val="0A1220"/>
          </a:solidFill>
          <a:ln w="9525">
            <a:solidFill>
              <a:srgbClr val="2EA8FF"/>
            </a:solidFill>
            <a:prstDash val="solid"/>
          </a:ln>
        </p:spPr>
      </p:sp>
      <p:sp>
        <p:nvSpPr>
          <p:cNvPr id="41" name="Text 38"/>
          <p:cNvSpPr txBox="1"/>
          <p:nvPr/>
        </p:nvSpPr>
        <p:spPr>
          <a:xfrm>
            <a:off x="6903720" y="365760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a:t>
            </a:r>
            <a:r>
              <a:rPr lang="en-US" sz="1100" b="1" dirty="0">
                <a:solidFill>
                  <a:srgbClr val="2EA8FF"/>
                </a:solidFill>
                <a:latin typeface="Calibri" pitchFamily="34" charset="0"/>
                <a:ea typeface="Calibri" pitchFamily="34" charset="-122"/>
                <a:cs typeface="Calibri" pitchFamily="34" charset="-120"/>
              </a:rPr>
              <a:t>9</a:t>
            </a:r>
            <a:endParaRPr lang="en-US" sz="1100" dirty="0"/>
          </a:p>
        </p:txBody>
      </p:sp>
      <p:sp>
        <p:nvSpPr>
          <p:cNvPr id="42" name="Text 39"/>
          <p:cNvSpPr txBox="1"/>
          <p:nvPr/>
        </p:nvSpPr>
        <p:spPr>
          <a:xfrm>
            <a:off x="6903720" y="402336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Ankle servo</a:t>
            </a:r>
            <a:endParaRPr lang="en-US" sz="1000" dirty="0"/>
          </a:p>
        </p:txBody>
      </p:sp>
      <p:sp>
        <p:nvSpPr>
          <p:cNvPr id="43" name="Text 40"/>
          <p:cNvSpPr txBox="1"/>
          <p:nvPr/>
        </p:nvSpPr>
        <p:spPr>
          <a:xfrm>
            <a:off x="4892040" y="4572000"/>
            <a:ext cx="2743200" cy="274320"/>
          </a:xfrm>
          <a:prstGeom prst="rect">
            <a:avLst/>
          </a:prstGeom>
          <a:noFill/>
          <a:ln/>
        </p:spPr>
        <p:txBody>
          <a:bodyPr wrap="square" lIns="0" tIns="0" rIns="0" bIns="0" rtlCol="0" anchor="t"/>
          <a:lstStyle/>
          <a:p>
            <a:pPr marL="0" indent="0">
              <a:buNone/>
            </a:pPr>
            <a:r>
              <a:rPr lang="en-US" sz="1100" dirty="0">
                <a:solidFill>
                  <a:srgbClr val="8FA3BC"/>
                </a:solidFill>
                <a:latin typeface="Calibri" pitchFamily="34" charset="0"/>
                <a:ea typeface="Calibri" pitchFamily="34" charset="-122"/>
                <a:cs typeface="Calibri" pitchFamily="34" charset="-120"/>
              </a:rPr>
              <a:t>3 servo channels</a:t>
            </a:r>
            <a:endParaRPr lang="en-US" sz="1100" dirty="0"/>
          </a:p>
        </p:txBody>
      </p:sp>
      <p:sp>
        <p:nvSpPr>
          <p:cNvPr id="44" name="Shape 41"/>
          <p:cNvSpPr/>
          <p:nvPr/>
        </p:nvSpPr>
        <p:spPr>
          <a:xfrm>
            <a:off x="8229600" y="3017520"/>
            <a:ext cx="3383280" cy="1965960"/>
          </a:xfrm>
          <a:prstGeom prst="rect">
            <a:avLst/>
          </a:prstGeom>
          <a:solidFill>
            <a:srgbClr val="101C30"/>
          </a:solidFill>
          <a:ln w="12700">
            <a:solidFill>
              <a:srgbClr val="2EA8FF"/>
            </a:solidFill>
            <a:prstDash val="solid"/>
          </a:ln>
        </p:spPr>
      </p:sp>
      <p:sp>
        <p:nvSpPr>
          <p:cNvPr id="45" name="Text 42"/>
          <p:cNvSpPr txBox="1"/>
          <p:nvPr/>
        </p:nvSpPr>
        <p:spPr>
          <a:xfrm>
            <a:off x="8458200" y="3154680"/>
            <a:ext cx="2743200" cy="320040"/>
          </a:xfrm>
          <a:prstGeom prst="rect">
            <a:avLst/>
          </a:prstGeom>
          <a:noFill/>
          <a:ln/>
        </p:spPr>
        <p:txBody>
          <a:bodyPr wrap="square" lIns="0" tIns="0" rIns="0" bIns="0" rtlCol="0" anchor="t"/>
          <a:lstStyle/>
          <a:p>
            <a:pPr marL="0" indent="0">
              <a:buNone/>
            </a:pPr>
            <a:r>
              <a:rPr lang="en-US" sz="1500" b="1" kern="0" spc="200" dirty="0">
                <a:solidFill>
                  <a:srgbClr val="E6EEF8"/>
                </a:solidFill>
                <a:latin typeface="Arial Narrow" pitchFamily="34" charset="0"/>
                <a:ea typeface="Arial Narrow" pitchFamily="34" charset="-122"/>
                <a:cs typeface="Arial Narrow" pitchFamily="34" charset="-120"/>
              </a:rPr>
              <a:t>RIGHT BACK</a:t>
            </a:r>
            <a:endParaRPr lang="en-US" sz="1500" dirty="0"/>
          </a:p>
        </p:txBody>
      </p:sp>
      <p:sp>
        <p:nvSpPr>
          <p:cNvPr id="46" name="Shape 43"/>
          <p:cNvSpPr/>
          <p:nvPr/>
        </p:nvSpPr>
        <p:spPr>
          <a:xfrm>
            <a:off x="8458200" y="3657600"/>
            <a:ext cx="914400" cy="731520"/>
          </a:xfrm>
          <a:prstGeom prst="rect">
            <a:avLst/>
          </a:prstGeom>
          <a:solidFill>
            <a:srgbClr val="0A1220"/>
          </a:solidFill>
          <a:ln w="9525">
            <a:solidFill>
              <a:srgbClr val="2EA8FF"/>
            </a:solidFill>
            <a:prstDash val="solid"/>
          </a:ln>
        </p:spPr>
      </p:sp>
      <p:sp>
        <p:nvSpPr>
          <p:cNvPr id="47" name="Text 44"/>
          <p:cNvSpPr txBox="1"/>
          <p:nvPr/>
        </p:nvSpPr>
        <p:spPr>
          <a:xfrm>
            <a:off x="8458200" y="365760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a:t>
            </a:r>
            <a:r>
              <a:rPr lang="en-US" sz="1100" b="1" dirty="0" smtClean="0">
                <a:solidFill>
                  <a:srgbClr val="2EA8FF"/>
                </a:solidFill>
                <a:latin typeface="Calibri" pitchFamily="34" charset="0"/>
                <a:ea typeface="Calibri" pitchFamily="34" charset="-122"/>
                <a:cs typeface="Calibri" pitchFamily="34" charset="-120"/>
              </a:rPr>
              <a:t>10</a:t>
            </a:r>
            <a:endParaRPr lang="en-US" sz="1100" dirty="0"/>
          </a:p>
        </p:txBody>
      </p:sp>
      <p:sp>
        <p:nvSpPr>
          <p:cNvPr id="48" name="Text 45"/>
          <p:cNvSpPr txBox="1"/>
          <p:nvPr/>
        </p:nvSpPr>
        <p:spPr>
          <a:xfrm>
            <a:off x="8458200" y="402336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Hip servo</a:t>
            </a:r>
            <a:endParaRPr lang="en-US" sz="1000" dirty="0"/>
          </a:p>
        </p:txBody>
      </p:sp>
      <p:sp>
        <p:nvSpPr>
          <p:cNvPr id="49" name="Shape 46"/>
          <p:cNvSpPr/>
          <p:nvPr/>
        </p:nvSpPr>
        <p:spPr>
          <a:xfrm>
            <a:off x="9464040" y="3657600"/>
            <a:ext cx="914400" cy="731520"/>
          </a:xfrm>
          <a:prstGeom prst="rect">
            <a:avLst/>
          </a:prstGeom>
          <a:solidFill>
            <a:srgbClr val="0A1220"/>
          </a:solidFill>
          <a:ln w="9525">
            <a:solidFill>
              <a:srgbClr val="2EA8FF"/>
            </a:solidFill>
            <a:prstDash val="solid"/>
          </a:ln>
        </p:spPr>
      </p:sp>
      <p:sp>
        <p:nvSpPr>
          <p:cNvPr id="50" name="Text 47"/>
          <p:cNvSpPr txBox="1"/>
          <p:nvPr/>
        </p:nvSpPr>
        <p:spPr>
          <a:xfrm>
            <a:off x="9464040" y="365760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a:t>
            </a:r>
            <a:r>
              <a:rPr lang="en-US" sz="1100" b="1" dirty="0" smtClean="0">
                <a:solidFill>
                  <a:srgbClr val="2EA8FF"/>
                </a:solidFill>
                <a:latin typeface="Calibri" pitchFamily="34" charset="0"/>
                <a:ea typeface="Calibri" pitchFamily="34" charset="-122"/>
                <a:cs typeface="Calibri" pitchFamily="34" charset="-120"/>
              </a:rPr>
              <a:t>11</a:t>
            </a:r>
            <a:endParaRPr lang="en-US" sz="1100" dirty="0"/>
          </a:p>
        </p:txBody>
      </p:sp>
      <p:sp>
        <p:nvSpPr>
          <p:cNvPr id="51" name="Text 48"/>
          <p:cNvSpPr txBox="1"/>
          <p:nvPr/>
        </p:nvSpPr>
        <p:spPr>
          <a:xfrm>
            <a:off x="9464040" y="402336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Shoulder </a:t>
            </a:r>
            <a:r>
              <a:rPr lang="en-US" sz="1000" dirty="0" smtClean="0">
                <a:solidFill>
                  <a:srgbClr val="8FA3BC"/>
                </a:solidFill>
                <a:latin typeface="Calibri" pitchFamily="34" charset="0"/>
                <a:ea typeface="Calibri" pitchFamily="34" charset="-122"/>
                <a:cs typeface="Calibri" pitchFamily="34" charset="-120"/>
              </a:rPr>
              <a:t>servo</a:t>
            </a:r>
            <a:endParaRPr lang="en-US" sz="1000" dirty="0"/>
          </a:p>
        </p:txBody>
      </p:sp>
      <p:sp>
        <p:nvSpPr>
          <p:cNvPr id="52" name="Shape 49"/>
          <p:cNvSpPr/>
          <p:nvPr/>
        </p:nvSpPr>
        <p:spPr>
          <a:xfrm>
            <a:off x="10469880" y="3657600"/>
            <a:ext cx="914400" cy="731520"/>
          </a:xfrm>
          <a:prstGeom prst="rect">
            <a:avLst/>
          </a:prstGeom>
          <a:solidFill>
            <a:srgbClr val="0A1220"/>
          </a:solidFill>
          <a:ln w="9525">
            <a:solidFill>
              <a:srgbClr val="2EA8FF"/>
            </a:solidFill>
            <a:prstDash val="solid"/>
          </a:ln>
        </p:spPr>
      </p:sp>
      <p:sp>
        <p:nvSpPr>
          <p:cNvPr id="53" name="Text 50"/>
          <p:cNvSpPr txBox="1"/>
          <p:nvPr/>
        </p:nvSpPr>
        <p:spPr>
          <a:xfrm>
            <a:off x="10469880" y="3657600"/>
            <a:ext cx="914400" cy="457200"/>
          </a:xfrm>
          <a:prstGeom prst="rect">
            <a:avLst/>
          </a:prstGeom>
          <a:noFill/>
          <a:ln/>
        </p:spPr>
        <p:txBody>
          <a:bodyPr wrap="square" lIns="0" tIns="0" rIns="0" bIns="0" rtlCol="0" anchor="ctr"/>
          <a:lstStyle/>
          <a:p>
            <a:pPr marL="0" indent="0" algn="ctr">
              <a:buNone/>
            </a:pPr>
            <a:r>
              <a:rPr lang="en-US" sz="1100" b="1" dirty="0">
                <a:solidFill>
                  <a:srgbClr val="2EA8FF"/>
                </a:solidFill>
                <a:latin typeface="Calibri" pitchFamily="34" charset="0"/>
                <a:ea typeface="Calibri" pitchFamily="34" charset="-122"/>
                <a:cs typeface="Calibri" pitchFamily="34" charset="-120"/>
              </a:rPr>
              <a:t>JOINT </a:t>
            </a:r>
            <a:r>
              <a:rPr lang="en-US" sz="1100" b="1" dirty="0" smtClean="0">
                <a:solidFill>
                  <a:srgbClr val="2EA8FF"/>
                </a:solidFill>
                <a:latin typeface="Calibri" pitchFamily="34" charset="0"/>
                <a:ea typeface="Calibri" pitchFamily="34" charset="-122"/>
                <a:cs typeface="Calibri" pitchFamily="34" charset="-120"/>
              </a:rPr>
              <a:t>12</a:t>
            </a:r>
            <a:endParaRPr lang="en-US" sz="1100" dirty="0"/>
          </a:p>
        </p:txBody>
      </p:sp>
      <p:sp>
        <p:nvSpPr>
          <p:cNvPr id="54" name="Text 51"/>
          <p:cNvSpPr txBox="1"/>
          <p:nvPr/>
        </p:nvSpPr>
        <p:spPr>
          <a:xfrm>
            <a:off x="10469880" y="4023360"/>
            <a:ext cx="914400" cy="274320"/>
          </a:xfrm>
          <a:prstGeom prst="rect">
            <a:avLst/>
          </a:prstGeom>
          <a:noFill/>
          <a:ln/>
        </p:spPr>
        <p:txBody>
          <a:bodyPr wrap="square" lIns="0" tIns="0" rIns="0" bIns="0" rtlCol="0" anchor="t"/>
          <a:lstStyle/>
          <a:p>
            <a:pPr marL="0" indent="0" algn="ctr">
              <a:buNone/>
            </a:pPr>
            <a:r>
              <a:rPr lang="en-US" sz="1000" dirty="0" smtClean="0">
                <a:solidFill>
                  <a:srgbClr val="8FA3BC"/>
                </a:solidFill>
                <a:latin typeface="Calibri" pitchFamily="34" charset="0"/>
                <a:ea typeface="Calibri" pitchFamily="34" charset="-122"/>
                <a:cs typeface="Calibri" pitchFamily="34" charset="-120"/>
              </a:rPr>
              <a:t>Ankle servo</a:t>
            </a:r>
            <a:endParaRPr lang="en-US" sz="1000" dirty="0"/>
          </a:p>
        </p:txBody>
      </p:sp>
      <p:sp>
        <p:nvSpPr>
          <p:cNvPr id="55" name="Text 52"/>
          <p:cNvSpPr txBox="1"/>
          <p:nvPr/>
        </p:nvSpPr>
        <p:spPr>
          <a:xfrm>
            <a:off x="8458200" y="4572000"/>
            <a:ext cx="2743200" cy="274320"/>
          </a:xfrm>
          <a:prstGeom prst="rect">
            <a:avLst/>
          </a:prstGeom>
          <a:noFill/>
          <a:ln/>
        </p:spPr>
        <p:txBody>
          <a:bodyPr wrap="square" lIns="0" tIns="0" rIns="0" bIns="0" rtlCol="0" anchor="t"/>
          <a:lstStyle/>
          <a:p>
            <a:pPr marL="0" indent="0">
              <a:buNone/>
            </a:pPr>
            <a:r>
              <a:rPr lang="en-US" sz="1100" dirty="0">
                <a:solidFill>
                  <a:srgbClr val="8FA3BC"/>
                </a:solidFill>
                <a:latin typeface="Calibri" pitchFamily="34" charset="0"/>
                <a:ea typeface="Calibri" pitchFamily="34" charset="-122"/>
                <a:cs typeface="Calibri" pitchFamily="34" charset="-120"/>
              </a:rPr>
              <a:t>3 servo channels</a:t>
            </a:r>
            <a:endParaRPr lang="en-US" sz="1100" dirty="0"/>
          </a:p>
        </p:txBody>
      </p:sp>
      <p:sp>
        <p:nvSpPr>
          <p:cNvPr id="56" name="Text 53"/>
          <p:cNvSpPr txBox="1"/>
          <p:nvPr/>
        </p:nvSpPr>
        <p:spPr>
          <a:xfrm>
            <a:off x="4663440" y="5193792"/>
            <a:ext cx="6949440" cy="228600"/>
          </a:xfrm>
          <a:prstGeom prst="rect">
            <a:avLst/>
          </a:prstGeom>
          <a:noFill/>
          <a:ln/>
        </p:spPr>
        <p:txBody>
          <a:bodyPr wrap="square" lIns="0" tIns="0" rIns="0" bIns="0" rtlCol="0" anchor="t"/>
          <a:lstStyle/>
          <a:p>
            <a:pPr marL="0" indent="0" algn="ctr">
              <a:buNone/>
            </a:pPr>
            <a:r>
              <a:rPr lang="en-US" sz="1000" b="1" kern="0" spc="400" dirty="0">
                <a:solidFill>
                  <a:srgbClr val="8FA3BC"/>
                </a:solidFill>
                <a:latin typeface="Calibri" pitchFamily="34" charset="0"/>
                <a:ea typeface="Calibri" pitchFamily="34" charset="-122"/>
                <a:cs typeface="Calibri" pitchFamily="34" charset="-120"/>
              </a:rPr>
              <a:t>BACK</a:t>
            </a:r>
            <a:endParaRPr lang="en-US" sz="1000" dirty="0"/>
          </a:p>
        </p:txBody>
      </p:sp>
      <p:sp>
        <p:nvSpPr>
          <p:cNvPr id="57" name="Text 54"/>
          <p:cNvSpPr txBox="1"/>
          <p:nvPr/>
        </p:nvSpPr>
        <p:spPr>
          <a:xfrm>
            <a:off x="4663440" y="5440680"/>
            <a:ext cx="6949440" cy="320040"/>
          </a:xfrm>
          <a:prstGeom prst="rect">
            <a:avLst/>
          </a:prstGeom>
          <a:noFill/>
          <a:ln/>
        </p:spPr>
        <p:txBody>
          <a:bodyPr wrap="square" lIns="0" tIns="0" rIns="0" bIns="0" rtlCol="0" anchor="t"/>
          <a:lstStyle/>
          <a:p>
            <a:pPr marL="0" indent="0">
              <a:buNone/>
            </a:pPr>
            <a:r>
              <a:rPr lang="en-US" sz="1500" b="1" dirty="0">
                <a:solidFill>
                  <a:srgbClr val="2EA8FF"/>
                </a:solidFill>
                <a:latin typeface="Calibri" pitchFamily="34" charset="0"/>
                <a:ea typeface="Calibri" pitchFamily="34" charset="-122"/>
                <a:cs typeface="Calibri" pitchFamily="34" charset="-120"/>
              </a:rPr>
              <a:t>4 legs × 3 joints = 12 servos on 12 of the 16 PCA9685 channels</a:t>
            </a:r>
            <a:endParaRPr lang="en-US" sz="1500" dirty="0"/>
          </a:p>
        </p:txBody>
      </p:sp>
      <p:sp>
        <p:nvSpPr>
          <p:cNvPr id="58" name="Text 55"/>
          <p:cNvSpPr txBox="1"/>
          <p:nvPr/>
        </p:nvSpPr>
        <p:spPr>
          <a:xfrm>
            <a:off x="4663440" y="5832567"/>
            <a:ext cx="6949440" cy="320040"/>
          </a:xfrm>
          <a:prstGeom prst="rect">
            <a:avLst/>
          </a:prstGeom>
          <a:noFill/>
          <a:ln/>
        </p:spPr>
        <p:txBody>
          <a:bodyPr wrap="square" lIns="0" tIns="0" rIns="0" bIns="0" rtlCol="0" anchor="t"/>
          <a:lstStyle/>
          <a:p>
            <a:pPr marL="0" indent="0">
              <a:buNone/>
            </a:pPr>
            <a:r>
              <a:rPr lang="en-US" sz="1100" dirty="0">
                <a:solidFill>
                  <a:srgbClr val="C9A24B"/>
                </a:solidFill>
                <a:latin typeface="Calibri" pitchFamily="34" charset="0"/>
                <a:ea typeface="Calibri" pitchFamily="34" charset="-122"/>
                <a:cs typeface="Calibri" pitchFamily="34" charset="-120"/>
              </a:rPr>
              <a:t>[Confirm] joint names </a:t>
            </a:r>
            <a:r>
              <a:rPr lang="en-US" sz="1100" dirty="0" smtClean="0">
                <a:solidFill>
                  <a:srgbClr val="C9A24B"/>
                </a:solidFill>
                <a:latin typeface="Calibri" pitchFamily="34" charset="0"/>
                <a:ea typeface="Calibri" pitchFamily="34" charset="-122"/>
                <a:cs typeface="Calibri" pitchFamily="34" charset="-120"/>
              </a:rPr>
              <a:t>-</a:t>
            </a:r>
            <a:r>
              <a:rPr lang="en-US" sz="1100" dirty="0">
                <a:solidFill>
                  <a:srgbClr val="C9A24B"/>
                </a:solidFill>
                <a:latin typeface="Calibri" pitchFamily="34" charset="0"/>
                <a:ea typeface="Calibri" pitchFamily="34" charset="-122"/>
                <a:cs typeface="Calibri" pitchFamily="34" charset="-120"/>
              </a:rPr>
              <a:t>H</a:t>
            </a:r>
            <a:r>
              <a:rPr lang="en-US" sz="1100" dirty="0" smtClean="0">
                <a:solidFill>
                  <a:srgbClr val="C9A24B"/>
                </a:solidFill>
                <a:latin typeface="Calibri" pitchFamily="34" charset="0"/>
                <a:ea typeface="Calibri" pitchFamily="34" charset="-122"/>
                <a:cs typeface="Calibri" pitchFamily="34" charset="-120"/>
              </a:rPr>
              <a:t>ip , Shoulder, Ankle </a:t>
            </a:r>
          </a:p>
          <a:p>
            <a:pPr marL="0" indent="0">
              <a:buNone/>
            </a:pPr>
            <a:r>
              <a:rPr lang="en-US" sz="1100" dirty="0">
                <a:solidFill>
                  <a:srgbClr val="C9A24B"/>
                </a:solidFill>
                <a:latin typeface="Calibri" pitchFamily="34" charset="0"/>
                <a:ea typeface="Calibri" pitchFamily="34" charset="-122"/>
                <a:cs typeface="Calibri" pitchFamily="34" charset="-120"/>
              </a:rPr>
              <a:t>S</a:t>
            </a:r>
            <a:r>
              <a:rPr lang="en-US" sz="1100" dirty="0" smtClean="0">
                <a:solidFill>
                  <a:srgbClr val="C9A24B"/>
                </a:solidFill>
                <a:latin typeface="Calibri" pitchFamily="34" charset="0"/>
                <a:ea typeface="Calibri" pitchFamily="34" charset="-122"/>
                <a:cs typeface="Calibri" pitchFamily="34" charset="-120"/>
              </a:rPr>
              <a:t>ervo model-20KG.cm Servo motors- DS3218</a:t>
            </a:r>
            <a:endParaRPr lang="en-US" sz="1100" dirty="0"/>
          </a:p>
        </p:txBody>
      </p:sp>
      <p:sp>
        <p:nvSpPr>
          <p:cNvPr id="6"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6</a:t>
            </a:fld>
            <a:endParaRPr lang="en-US"/>
          </a:p>
        </p:txBody>
      </p:sp>
      <p:cxnSp>
        <p:nvCxnSpPr>
          <p:cNvPr id="60" name="Straight Connector 59"/>
          <p:cNvCxnSpPr/>
          <p:nvPr/>
        </p:nvCxnSpPr>
        <p:spPr>
          <a:xfrm>
            <a:off x="240632" y="1851660"/>
            <a:ext cx="405704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06  CONTROL ELECTRONICS</a:t>
            </a:r>
            <a:endParaRPr lang="en-US" sz="1100" dirty="0"/>
          </a:p>
        </p:txBody>
      </p:sp>
      <p:sp>
        <p:nvSpPr>
          <p:cNvPr id="3" name="Text 46"/>
          <p:cNvSpPr>
            <a:spLocks noGrp="1"/>
          </p:cNvSpPr>
          <p:nvPr>
            <p:ph type="title" idx="147" hasCustomPrompt="1"/>
          </p:nvPr>
        </p:nvSpPr>
        <p:spPr>
          <a:xfrm>
            <a:off x="548640" y="777240"/>
            <a:ext cx="3749040" cy="1463040"/>
          </a:xfrm>
          <a:prstGeom prst="rect">
            <a:avLst/>
          </a:prstGeom>
          <a:noFill/>
          <a:ln/>
        </p:spPr>
        <p:txBody>
          <a:bodyPr wrap="square" lIns="0" tIns="0" rIns="0" bIns="0" rtlCol="0" anchor="t"/>
          <a:lstStyle/>
          <a:p>
            <a:pPr marL="0" indent="0" algn="l">
              <a:buNone/>
            </a:pPr>
            <a:r>
              <a:rPr lang="en-US" sz="3000" b="1" kern="0" spc="100" dirty="0">
                <a:solidFill>
                  <a:srgbClr val="E6EEF8"/>
                </a:solidFill>
              </a:rPr>
              <a:t>THREE PARTS, THREE CLEAR JOBS</a:t>
            </a:r>
            <a:endParaRPr lang="en-US" sz="3000" dirty="0"/>
          </a:p>
        </p:txBody>
      </p:sp>
      <p:sp>
        <p:nvSpPr>
          <p:cNvPr id="4" name="Text 46"/>
          <p:cNvSpPr>
            <a:spLocks noGrp="1"/>
          </p:cNvSpPr>
          <p:nvPr>
            <p:ph type="body" idx="148" hasCustomPrompt="1"/>
          </p:nvPr>
        </p:nvSpPr>
        <p:spPr>
          <a:xfrm>
            <a:off x="548640" y="2377440"/>
            <a:ext cx="3657600" cy="868680"/>
          </a:xfrm>
          <a:prstGeom prst="rect">
            <a:avLst/>
          </a:prstGeom>
          <a:noFill/>
          <a:ln/>
        </p:spPr>
        <p:txBody>
          <a:bodyPr wrap="square" lIns="0" tIns="0" rIns="0" bIns="0" rtlCol="0" anchor="t"/>
          <a:lstStyle/>
          <a:p>
            <a:pPr marL="0" indent="0">
              <a:buNone/>
            </a:pPr>
            <a:r>
              <a:rPr lang="en-US" sz="1800" b="1" dirty="0">
                <a:solidFill>
                  <a:srgbClr val="2EA8FF"/>
                </a:solidFill>
              </a:rPr>
              <a:t>Each module is simple, off the shelf and replaceable.</a:t>
            </a:r>
            <a:endParaRPr lang="en-US" sz="18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400" dirty="0">
                <a:solidFill>
                  <a:srgbClr val="8FA3BC"/>
                </a:solidFill>
              </a:rPr>
              <a:t>The Arduino Uno holds the routines and decides what runs.</a:t>
            </a:r>
            <a:endParaRPr lang="en-US" sz="1400" dirty="0"/>
          </a:p>
          <a:p>
            <a:pPr marL="0" indent="0">
              <a:spcAft>
                <a:spcPts val="900"/>
              </a:spcAft>
              <a:buNone/>
            </a:pPr>
            <a:r>
              <a:rPr lang="en-US" sz="1400" dirty="0">
                <a:solidFill>
                  <a:srgbClr val="8FA3BC"/>
                </a:solidFill>
              </a:rPr>
              <a:t>The PCA9685 generates the servo signals so the controller does not have to.</a:t>
            </a:r>
            <a:endParaRPr lang="en-US" sz="1400" dirty="0"/>
          </a:p>
          <a:p>
            <a:pPr marL="0" indent="0">
              <a:spcAft>
                <a:spcPts val="900"/>
              </a:spcAft>
              <a:buNone/>
            </a:pPr>
            <a:r>
              <a:rPr lang="en-US" sz="1400" dirty="0">
                <a:solidFill>
                  <a:srgbClr val="8FA3BC"/>
                </a:solidFill>
              </a:rPr>
              <a:t>The VC02 recognises only a fixed set of predefined </a:t>
            </a:r>
            <a:r>
              <a:rPr lang="en-US" sz="1400" dirty="0" smtClean="0">
                <a:solidFill>
                  <a:srgbClr val="8FA3BC"/>
                </a:solidFill>
              </a:rPr>
              <a:t>commands.</a:t>
            </a:r>
            <a:endParaRPr lang="en-US" sz="1400" dirty="0"/>
          </a:p>
        </p:txBody>
      </p:sp>
      <p:sp>
        <p:nvSpPr>
          <p:cNvPr id="7" name="Shape 4"/>
          <p:cNvSpPr/>
          <p:nvPr/>
        </p:nvSpPr>
        <p:spPr>
          <a:xfrm>
            <a:off x="4663440" y="822960"/>
            <a:ext cx="2194560" cy="4754880"/>
          </a:xfrm>
          <a:prstGeom prst="rect">
            <a:avLst/>
          </a:prstGeom>
          <a:solidFill>
            <a:srgbClr val="101C30"/>
          </a:solidFill>
          <a:ln w="12700">
            <a:solidFill>
              <a:srgbClr val="2EA8FF"/>
            </a:solidFill>
            <a:prstDash val="solid"/>
          </a:ln>
        </p:spPr>
      </p:sp>
      <p:sp>
        <p:nvSpPr>
          <p:cNvPr id="8" name="Text 5"/>
          <p:cNvSpPr txBox="1"/>
          <p:nvPr/>
        </p:nvSpPr>
        <p:spPr>
          <a:xfrm>
            <a:off x="4846320" y="1005840"/>
            <a:ext cx="1920240" cy="548640"/>
          </a:xfrm>
          <a:prstGeom prst="rect">
            <a:avLst/>
          </a:prstGeom>
          <a:noFill/>
          <a:ln/>
        </p:spPr>
        <p:txBody>
          <a:bodyPr wrap="square" lIns="0" tIns="0" rIns="0" bIns="0" rtlCol="0" anchor="t"/>
          <a:lstStyle/>
          <a:p>
            <a:pPr marL="0" indent="0">
              <a:buNone/>
            </a:pPr>
            <a:r>
              <a:rPr lang="en-US" sz="1800" b="1" kern="0" spc="100" dirty="0">
                <a:solidFill>
                  <a:srgbClr val="E6EEF8"/>
                </a:solidFill>
                <a:latin typeface="Arial Narrow" pitchFamily="34" charset="0"/>
                <a:ea typeface="Arial Narrow" pitchFamily="34" charset="-122"/>
                <a:cs typeface="Arial Narrow" pitchFamily="34" charset="-120"/>
              </a:rPr>
              <a:t>ARDUINO UNO</a:t>
            </a:r>
            <a:endParaRPr lang="en-US" sz="1800" dirty="0"/>
          </a:p>
        </p:txBody>
      </p:sp>
      <p:sp>
        <p:nvSpPr>
          <p:cNvPr id="9" name="Text 6"/>
          <p:cNvSpPr txBox="1"/>
          <p:nvPr/>
        </p:nvSpPr>
        <p:spPr>
          <a:xfrm>
            <a:off x="4846320" y="1600200"/>
            <a:ext cx="1920240" cy="457200"/>
          </a:xfrm>
          <a:prstGeom prst="rect">
            <a:avLst/>
          </a:prstGeom>
          <a:noFill/>
          <a:ln/>
        </p:spPr>
        <p:txBody>
          <a:bodyPr wrap="square" lIns="0" tIns="0" rIns="0" bIns="0" rtlCol="0" anchor="t"/>
          <a:lstStyle/>
          <a:p>
            <a:pPr marL="0" indent="0">
              <a:buNone/>
            </a:pPr>
            <a:r>
              <a:rPr lang="en-US" sz="1000" b="1" kern="0" spc="200" dirty="0">
                <a:solidFill>
                  <a:srgbClr val="2EA8FF"/>
                </a:solidFill>
                <a:latin typeface="Calibri" pitchFamily="34" charset="0"/>
                <a:ea typeface="Calibri" pitchFamily="34" charset="-122"/>
                <a:cs typeface="Calibri" pitchFamily="34" charset="-120"/>
              </a:rPr>
              <a:t>MAIN CONTROLLER</a:t>
            </a:r>
            <a:endParaRPr lang="en-US" sz="1000" dirty="0"/>
          </a:p>
        </p:txBody>
      </p:sp>
      <p:sp>
        <p:nvSpPr>
          <p:cNvPr id="10" name="Shape 7"/>
          <p:cNvSpPr/>
          <p:nvPr/>
        </p:nvSpPr>
        <p:spPr>
          <a:xfrm>
            <a:off x="4846320" y="2148840"/>
            <a:ext cx="1828800" cy="0"/>
          </a:xfrm>
          <a:prstGeom prst="line">
            <a:avLst/>
          </a:prstGeom>
          <a:noFill/>
          <a:ln w="12700">
            <a:solidFill>
              <a:srgbClr val="1D3552"/>
            </a:solidFill>
            <a:prstDash val="solid"/>
          </a:ln>
        </p:spPr>
      </p:sp>
      <p:sp>
        <p:nvSpPr>
          <p:cNvPr id="11" name="Text 8"/>
          <p:cNvSpPr txBox="1"/>
          <p:nvPr/>
        </p:nvSpPr>
        <p:spPr>
          <a:xfrm>
            <a:off x="4846320" y="2331720"/>
            <a:ext cx="1874520" cy="310896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E6EEF8"/>
                </a:solidFill>
                <a:latin typeface="Calibri" pitchFamily="34" charset="0"/>
                <a:ea typeface="Calibri" pitchFamily="34" charset="-122"/>
                <a:cs typeface="Calibri" pitchFamily="34" charset="-120"/>
              </a:rPr>
              <a:t>Stores motion routines</a:t>
            </a:r>
            <a:endParaRPr lang="en-US" sz="1300" dirty="0"/>
          </a:p>
          <a:p>
            <a:pPr marL="177800" indent="-177800">
              <a:spcAft>
                <a:spcPts val="900"/>
              </a:spcAft>
              <a:buSzPct val="100000"/>
              <a:buChar char="•"/>
            </a:pPr>
            <a:r>
              <a:rPr lang="en-US" sz="1300" dirty="0">
                <a:solidFill>
                  <a:srgbClr val="E6EEF8"/>
                </a:solidFill>
                <a:latin typeface="Calibri" pitchFamily="34" charset="0"/>
                <a:ea typeface="Calibri" pitchFamily="34" charset="-122"/>
                <a:cs typeface="Calibri" pitchFamily="34" charset="-120"/>
              </a:rPr>
              <a:t>Selects a routine on command</a:t>
            </a:r>
            <a:endParaRPr lang="en-US" sz="1300" dirty="0"/>
          </a:p>
          <a:p>
            <a:pPr marL="177800" indent="-177800">
              <a:spcAft>
                <a:spcPts val="900"/>
              </a:spcAft>
              <a:buSzPct val="100000"/>
              <a:buChar char="•"/>
            </a:pPr>
            <a:r>
              <a:rPr lang="en-US" sz="1300" dirty="0">
                <a:solidFill>
                  <a:srgbClr val="E6EEF8"/>
                </a:solidFill>
                <a:latin typeface="Calibri" pitchFamily="34" charset="0"/>
                <a:ea typeface="Calibri" pitchFamily="34" charset="-122"/>
                <a:cs typeface="Calibri" pitchFamily="34" charset="-120"/>
              </a:rPr>
              <a:t>Sends servo targets over I²C</a:t>
            </a:r>
            <a:endParaRPr lang="en-US" sz="1300" dirty="0"/>
          </a:p>
          <a:p>
            <a:pPr marL="177800" indent="-177800">
              <a:spcAft>
                <a:spcPts val="900"/>
              </a:spcAft>
              <a:buSzPct val="100000"/>
              <a:buChar char="•"/>
            </a:pPr>
            <a:r>
              <a:rPr lang="en-US" sz="1300" dirty="0">
                <a:solidFill>
                  <a:srgbClr val="E6EEF8"/>
                </a:solidFill>
                <a:latin typeface="Calibri" pitchFamily="34" charset="0"/>
                <a:ea typeface="Calibri" pitchFamily="34" charset="-122"/>
                <a:cs typeface="Calibri" pitchFamily="34" charset="-120"/>
              </a:rPr>
              <a:t>Accessible and well understood</a:t>
            </a:r>
            <a:endParaRPr lang="en-US" sz="1300" dirty="0"/>
          </a:p>
        </p:txBody>
      </p:sp>
      <p:sp>
        <p:nvSpPr>
          <p:cNvPr id="12" name="Shape 9"/>
          <p:cNvSpPr/>
          <p:nvPr/>
        </p:nvSpPr>
        <p:spPr>
          <a:xfrm>
            <a:off x="7040880" y="822960"/>
            <a:ext cx="2194560" cy="4754880"/>
          </a:xfrm>
          <a:prstGeom prst="rect">
            <a:avLst/>
          </a:prstGeom>
          <a:solidFill>
            <a:srgbClr val="101C30"/>
          </a:solidFill>
          <a:ln w="12700">
            <a:solidFill>
              <a:srgbClr val="2EA8FF"/>
            </a:solidFill>
            <a:prstDash val="solid"/>
          </a:ln>
        </p:spPr>
      </p:sp>
      <p:sp>
        <p:nvSpPr>
          <p:cNvPr id="13" name="Text 10"/>
          <p:cNvSpPr txBox="1"/>
          <p:nvPr/>
        </p:nvSpPr>
        <p:spPr>
          <a:xfrm>
            <a:off x="7223760" y="1005840"/>
            <a:ext cx="1920240" cy="548640"/>
          </a:xfrm>
          <a:prstGeom prst="rect">
            <a:avLst/>
          </a:prstGeom>
          <a:noFill/>
          <a:ln/>
        </p:spPr>
        <p:txBody>
          <a:bodyPr wrap="square" lIns="0" tIns="0" rIns="0" bIns="0" rtlCol="0" anchor="t"/>
          <a:lstStyle/>
          <a:p>
            <a:pPr marL="0" indent="0">
              <a:buNone/>
            </a:pPr>
            <a:r>
              <a:rPr lang="en-US" sz="1800" b="1" kern="0" spc="100" dirty="0">
                <a:solidFill>
                  <a:srgbClr val="E6EEF8"/>
                </a:solidFill>
                <a:latin typeface="Arial Narrow" pitchFamily="34" charset="0"/>
                <a:ea typeface="Arial Narrow" pitchFamily="34" charset="-122"/>
                <a:cs typeface="Arial Narrow" pitchFamily="34" charset="-120"/>
              </a:rPr>
              <a:t>PCA9685</a:t>
            </a:r>
            <a:endParaRPr lang="en-US" sz="1800" dirty="0"/>
          </a:p>
        </p:txBody>
      </p:sp>
      <p:sp>
        <p:nvSpPr>
          <p:cNvPr id="14" name="Text 11"/>
          <p:cNvSpPr txBox="1"/>
          <p:nvPr/>
        </p:nvSpPr>
        <p:spPr>
          <a:xfrm>
            <a:off x="7223760" y="1600200"/>
            <a:ext cx="1920240" cy="457200"/>
          </a:xfrm>
          <a:prstGeom prst="rect">
            <a:avLst/>
          </a:prstGeom>
          <a:noFill/>
          <a:ln/>
        </p:spPr>
        <p:txBody>
          <a:bodyPr wrap="square" lIns="0" tIns="0" rIns="0" bIns="0" rtlCol="0" anchor="t"/>
          <a:lstStyle/>
          <a:p>
            <a:pPr marL="0" indent="0">
              <a:buNone/>
            </a:pPr>
            <a:r>
              <a:rPr lang="en-US" sz="1000" b="1" kern="0" spc="200" dirty="0">
                <a:solidFill>
                  <a:srgbClr val="2EA8FF"/>
                </a:solidFill>
                <a:latin typeface="Calibri" pitchFamily="34" charset="0"/>
                <a:ea typeface="Calibri" pitchFamily="34" charset="-122"/>
                <a:cs typeface="Calibri" pitchFamily="34" charset="-120"/>
              </a:rPr>
              <a:t>16-CHANNEL PWM DRIVER</a:t>
            </a:r>
            <a:endParaRPr lang="en-US" sz="1000" dirty="0"/>
          </a:p>
        </p:txBody>
      </p:sp>
      <p:sp>
        <p:nvSpPr>
          <p:cNvPr id="15" name="Shape 12"/>
          <p:cNvSpPr/>
          <p:nvPr/>
        </p:nvSpPr>
        <p:spPr>
          <a:xfrm>
            <a:off x="7223760" y="2148840"/>
            <a:ext cx="1828800" cy="0"/>
          </a:xfrm>
          <a:prstGeom prst="line">
            <a:avLst/>
          </a:prstGeom>
          <a:noFill/>
          <a:ln w="12700">
            <a:solidFill>
              <a:srgbClr val="1D3552"/>
            </a:solidFill>
            <a:prstDash val="solid"/>
          </a:ln>
        </p:spPr>
      </p:sp>
      <p:sp>
        <p:nvSpPr>
          <p:cNvPr id="16" name="Text 13"/>
          <p:cNvSpPr txBox="1"/>
          <p:nvPr/>
        </p:nvSpPr>
        <p:spPr>
          <a:xfrm>
            <a:off x="7223760" y="2331720"/>
            <a:ext cx="1874520" cy="310896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E6EEF8"/>
                </a:solidFill>
                <a:latin typeface="Calibri" pitchFamily="34" charset="0"/>
                <a:ea typeface="Calibri" pitchFamily="34" charset="-122"/>
                <a:cs typeface="Calibri" pitchFamily="34" charset="-120"/>
              </a:rPr>
              <a:t>I²C link to the Arduino</a:t>
            </a:r>
            <a:endParaRPr lang="en-US" sz="1300" dirty="0"/>
          </a:p>
          <a:p>
            <a:pPr marL="177800" indent="-177800">
              <a:spcAft>
                <a:spcPts val="900"/>
              </a:spcAft>
              <a:buSzPct val="100000"/>
              <a:buChar char="•"/>
            </a:pPr>
            <a:r>
              <a:rPr lang="en-US" sz="1300" dirty="0">
                <a:solidFill>
                  <a:srgbClr val="E6EEF8"/>
                </a:solidFill>
                <a:latin typeface="Calibri" pitchFamily="34" charset="0"/>
                <a:ea typeface="Calibri" pitchFamily="34" charset="-122"/>
                <a:cs typeface="Calibri" pitchFamily="34" charset="-120"/>
              </a:rPr>
              <a:t>Drives all 12 servos</a:t>
            </a:r>
            <a:endParaRPr lang="en-US" sz="1300" dirty="0"/>
          </a:p>
          <a:p>
            <a:pPr marL="177800" indent="-177800">
              <a:spcAft>
                <a:spcPts val="900"/>
              </a:spcAft>
              <a:buSzPct val="100000"/>
              <a:buChar char="•"/>
            </a:pPr>
            <a:r>
              <a:rPr lang="en-US" sz="1300" dirty="0">
                <a:solidFill>
                  <a:srgbClr val="E6EEF8"/>
                </a:solidFill>
                <a:latin typeface="Calibri" pitchFamily="34" charset="0"/>
                <a:ea typeface="Calibri" pitchFamily="34" charset="-122"/>
                <a:cs typeface="Calibri" pitchFamily="34" charset="-120"/>
              </a:rPr>
              <a:t>Offloads PWM generation</a:t>
            </a:r>
            <a:endParaRPr lang="en-US" sz="1300" dirty="0"/>
          </a:p>
          <a:p>
            <a:pPr marL="177800" indent="-177800">
              <a:spcAft>
                <a:spcPts val="900"/>
              </a:spcAft>
              <a:buSzPct val="100000"/>
              <a:buChar char="•"/>
            </a:pPr>
            <a:r>
              <a:rPr lang="en-US" sz="1300" dirty="0">
                <a:solidFill>
                  <a:srgbClr val="E6EEF8"/>
                </a:solidFill>
                <a:latin typeface="Calibri" pitchFamily="34" charset="0"/>
                <a:ea typeface="Calibri" pitchFamily="34" charset="-122"/>
                <a:cs typeface="Calibri" pitchFamily="34" charset="-120"/>
              </a:rPr>
              <a:t>4 channels spare</a:t>
            </a:r>
            <a:endParaRPr lang="en-US" sz="1300" dirty="0"/>
          </a:p>
        </p:txBody>
      </p:sp>
      <p:sp>
        <p:nvSpPr>
          <p:cNvPr id="17" name="Shape 14"/>
          <p:cNvSpPr/>
          <p:nvPr/>
        </p:nvSpPr>
        <p:spPr>
          <a:xfrm>
            <a:off x="9418320" y="822960"/>
            <a:ext cx="2194560" cy="4754880"/>
          </a:xfrm>
          <a:prstGeom prst="rect">
            <a:avLst/>
          </a:prstGeom>
          <a:solidFill>
            <a:srgbClr val="101C30"/>
          </a:solidFill>
          <a:ln w="12700">
            <a:solidFill>
              <a:srgbClr val="2EA8FF"/>
            </a:solidFill>
            <a:prstDash val="solid"/>
          </a:ln>
        </p:spPr>
      </p:sp>
      <p:sp>
        <p:nvSpPr>
          <p:cNvPr id="18" name="Text 15"/>
          <p:cNvSpPr txBox="1"/>
          <p:nvPr/>
        </p:nvSpPr>
        <p:spPr>
          <a:xfrm>
            <a:off x="9601200" y="1005840"/>
            <a:ext cx="1920240" cy="548640"/>
          </a:xfrm>
          <a:prstGeom prst="rect">
            <a:avLst/>
          </a:prstGeom>
          <a:noFill/>
          <a:ln/>
        </p:spPr>
        <p:txBody>
          <a:bodyPr wrap="square" lIns="0" tIns="0" rIns="0" bIns="0" rtlCol="0" anchor="t"/>
          <a:lstStyle/>
          <a:p>
            <a:pPr marL="0" indent="0">
              <a:buNone/>
            </a:pPr>
            <a:r>
              <a:rPr lang="en-US" sz="1800" b="1" kern="0" spc="100" dirty="0">
                <a:solidFill>
                  <a:srgbClr val="E6EEF8"/>
                </a:solidFill>
                <a:latin typeface="Arial Narrow" pitchFamily="34" charset="0"/>
                <a:ea typeface="Arial Narrow" pitchFamily="34" charset="-122"/>
                <a:cs typeface="Arial Narrow" pitchFamily="34" charset="-120"/>
              </a:rPr>
              <a:t>AI THINKER VC02</a:t>
            </a:r>
            <a:endParaRPr lang="en-US" sz="1800" dirty="0"/>
          </a:p>
        </p:txBody>
      </p:sp>
      <p:sp>
        <p:nvSpPr>
          <p:cNvPr id="19" name="Text 16"/>
          <p:cNvSpPr txBox="1"/>
          <p:nvPr/>
        </p:nvSpPr>
        <p:spPr>
          <a:xfrm>
            <a:off x="9601200" y="1600200"/>
            <a:ext cx="1920240" cy="457200"/>
          </a:xfrm>
          <a:prstGeom prst="rect">
            <a:avLst/>
          </a:prstGeom>
          <a:noFill/>
          <a:ln/>
        </p:spPr>
        <p:txBody>
          <a:bodyPr wrap="square" lIns="0" tIns="0" rIns="0" bIns="0" rtlCol="0" anchor="t"/>
          <a:lstStyle/>
          <a:p>
            <a:pPr marL="0" indent="0">
              <a:buNone/>
            </a:pPr>
            <a:r>
              <a:rPr lang="en-US" sz="1000" b="1" kern="0" spc="200" dirty="0">
                <a:solidFill>
                  <a:srgbClr val="2EA8FF"/>
                </a:solidFill>
                <a:latin typeface="Calibri" pitchFamily="34" charset="0"/>
                <a:ea typeface="Calibri" pitchFamily="34" charset="-122"/>
                <a:cs typeface="Calibri" pitchFamily="34" charset="-120"/>
              </a:rPr>
              <a:t>VOICE MODULE</a:t>
            </a:r>
            <a:endParaRPr lang="en-US" sz="1000" dirty="0"/>
          </a:p>
        </p:txBody>
      </p:sp>
      <p:sp>
        <p:nvSpPr>
          <p:cNvPr id="20" name="Shape 17"/>
          <p:cNvSpPr/>
          <p:nvPr/>
        </p:nvSpPr>
        <p:spPr>
          <a:xfrm>
            <a:off x="9601200" y="2148840"/>
            <a:ext cx="1828800" cy="0"/>
          </a:xfrm>
          <a:prstGeom prst="line">
            <a:avLst/>
          </a:prstGeom>
          <a:noFill/>
          <a:ln w="12700">
            <a:solidFill>
              <a:srgbClr val="1D3552"/>
            </a:solidFill>
            <a:prstDash val="solid"/>
          </a:ln>
        </p:spPr>
      </p:sp>
      <p:sp>
        <p:nvSpPr>
          <p:cNvPr id="21" name="Text 18"/>
          <p:cNvSpPr txBox="1"/>
          <p:nvPr/>
        </p:nvSpPr>
        <p:spPr>
          <a:xfrm>
            <a:off x="9646920" y="2377440"/>
            <a:ext cx="1874520" cy="310896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E6EEF8"/>
                </a:solidFill>
                <a:latin typeface="Calibri" pitchFamily="34" charset="0"/>
                <a:ea typeface="Calibri" pitchFamily="34" charset="-122"/>
                <a:cs typeface="Calibri" pitchFamily="34" charset="-120"/>
              </a:rPr>
              <a:t>Fixed, predefined commands</a:t>
            </a:r>
            <a:endParaRPr lang="en-US" sz="1300" dirty="0"/>
          </a:p>
          <a:p>
            <a:pPr marL="177800" indent="-177800">
              <a:spcAft>
                <a:spcPts val="900"/>
              </a:spcAft>
              <a:buSzPct val="100000"/>
              <a:buChar char="•"/>
            </a:pPr>
            <a:r>
              <a:rPr lang="en-US" sz="1300" dirty="0" smtClean="0">
                <a:solidFill>
                  <a:srgbClr val="E6EEF8"/>
                </a:solidFill>
                <a:latin typeface="Calibri" pitchFamily="34" charset="0"/>
                <a:ea typeface="Calibri" pitchFamily="34" charset="-122"/>
                <a:cs typeface="Calibri" pitchFamily="34" charset="-120"/>
              </a:rPr>
              <a:t>Triggers </a:t>
            </a:r>
            <a:r>
              <a:rPr lang="en-US" sz="1300" dirty="0">
                <a:solidFill>
                  <a:srgbClr val="E6EEF8"/>
                </a:solidFill>
                <a:latin typeface="Calibri" pitchFamily="34" charset="0"/>
                <a:ea typeface="Calibri" pitchFamily="34" charset="-122"/>
                <a:cs typeface="Calibri" pitchFamily="34" charset="-120"/>
              </a:rPr>
              <a:t>the Arduino</a:t>
            </a:r>
            <a:endParaRPr lang="en-US" sz="1300" dirty="0"/>
          </a:p>
          <a:p>
            <a:pPr marL="177800" indent="-177800">
              <a:spcAft>
                <a:spcPts val="900"/>
              </a:spcAft>
              <a:buSzPct val="100000"/>
              <a:buChar char="•"/>
            </a:pPr>
            <a:r>
              <a:rPr lang="en-US" sz="1300" dirty="0">
                <a:solidFill>
                  <a:srgbClr val="E6EEF8"/>
                </a:solidFill>
                <a:latin typeface="Calibri" pitchFamily="34" charset="0"/>
                <a:ea typeface="Calibri" pitchFamily="34" charset="-122"/>
                <a:cs typeface="Calibri" pitchFamily="34" charset="-120"/>
              </a:rPr>
              <a:t>No language </a:t>
            </a:r>
            <a:r>
              <a:rPr lang="en-US" sz="1300" dirty="0" smtClean="0">
                <a:solidFill>
                  <a:srgbClr val="E6EEF8"/>
                </a:solidFill>
                <a:latin typeface="Calibri" pitchFamily="34" charset="0"/>
                <a:ea typeface="Calibri" pitchFamily="34" charset="-122"/>
                <a:cs typeface="Calibri" pitchFamily="34" charset="-120"/>
              </a:rPr>
              <a:t>understanding</a:t>
            </a:r>
          </a:p>
          <a:p>
            <a:pPr marL="177800" indent="-177800">
              <a:spcAft>
                <a:spcPts val="900"/>
              </a:spcAft>
              <a:buSzPct val="100000"/>
              <a:buChar char="•"/>
            </a:pPr>
            <a:r>
              <a:rPr lang="en-US" sz="1300" dirty="0" smtClean="0">
                <a:solidFill>
                  <a:srgbClr val="E6EEF8"/>
                </a:solidFill>
                <a:latin typeface="Calibri" pitchFamily="34" charset="0"/>
                <a:ea typeface="Calibri" pitchFamily="34" charset="-122"/>
                <a:cs typeface="Calibri" pitchFamily="34" charset="-120"/>
              </a:rPr>
              <a:t>Easy to make changes in voice commands </a:t>
            </a:r>
          </a:p>
          <a:p>
            <a:pPr marL="177800" indent="-177800">
              <a:spcAft>
                <a:spcPts val="900"/>
              </a:spcAft>
              <a:buSzPct val="100000"/>
              <a:buChar char="•"/>
            </a:pP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7</a:t>
            </a:fld>
            <a:endParaRPr lang="en-US"/>
          </a:p>
        </p:txBody>
      </p:sp>
      <p:cxnSp>
        <p:nvCxnSpPr>
          <p:cNvPr id="22" name="Straight Connector 21"/>
          <p:cNvCxnSpPr/>
          <p:nvPr/>
        </p:nvCxnSpPr>
        <p:spPr>
          <a:xfrm>
            <a:off x="252549" y="1924594"/>
            <a:ext cx="417140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07  WALKING GAIT</a:t>
            </a:r>
            <a:endParaRPr lang="en-US" sz="1100" dirty="0"/>
          </a:p>
        </p:txBody>
      </p:sp>
      <p:sp>
        <p:nvSpPr>
          <p:cNvPr id="3" name="Text 46"/>
          <p:cNvSpPr>
            <a:spLocks noGrp="1"/>
          </p:cNvSpPr>
          <p:nvPr>
            <p:ph type="title" idx="147" hasCustomPrompt="1"/>
          </p:nvPr>
        </p:nvSpPr>
        <p:spPr>
          <a:xfrm>
            <a:off x="548640" y="777240"/>
            <a:ext cx="3749040" cy="1463040"/>
          </a:xfrm>
          <a:prstGeom prst="rect">
            <a:avLst/>
          </a:prstGeom>
          <a:noFill/>
          <a:ln/>
        </p:spPr>
        <p:txBody>
          <a:bodyPr wrap="square" lIns="0" tIns="0" rIns="0" bIns="0" rtlCol="0" anchor="t"/>
          <a:lstStyle/>
          <a:p>
            <a:pPr marL="0" indent="0" algn="l">
              <a:buNone/>
            </a:pPr>
            <a:r>
              <a:rPr lang="en-US" dirty="0" smtClean="0"/>
              <a:t>WALKING IN DIAGONAL PAIRS</a:t>
            </a:r>
            <a:endParaRPr lang="en-US" sz="3000" dirty="0"/>
          </a:p>
        </p:txBody>
      </p:sp>
      <p:sp>
        <p:nvSpPr>
          <p:cNvPr id="4" name="Text 46"/>
          <p:cNvSpPr>
            <a:spLocks noGrp="1"/>
          </p:cNvSpPr>
          <p:nvPr>
            <p:ph type="body" idx="148" hasCustomPrompt="1"/>
          </p:nvPr>
        </p:nvSpPr>
        <p:spPr>
          <a:xfrm>
            <a:off x="548640" y="2377440"/>
            <a:ext cx="3657600" cy="868680"/>
          </a:xfrm>
          <a:prstGeom prst="rect">
            <a:avLst/>
          </a:prstGeom>
          <a:noFill/>
          <a:ln/>
        </p:spPr>
        <p:txBody>
          <a:bodyPr wrap="square" lIns="0" tIns="0" rIns="0" bIns="0" rtlCol="0" anchor="t"/>
          <a:lstStyle/>
          <a:p>
            <a:pPr marL="0" indent="0">
              <a:buNone/>
            </a:pPr>
            <a:r>
              <a:rPr lang="en-US" sz="1600" b="1" dirty="0">
                <a:solidFill>
                  <a:srgbClr val="2EA8FF"/>
                </a:solidFill>
              </a:rPr>
              <a:t>A programmed gait alternates two diagonal leg pairs across all 12 channels.</a:t>
            </a:r>
            <a:endParaRPr lang="en-US" sz="16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Left Front and Right Back swing together, then Right Front and Left Back.</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While one pair swings, the other pair is on the ground.</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A programmed sequence of joint positions and timing on controlled surfaces; </a:t>
            </a:r>
            <a:r>
              <a:rPr lang="en-US" sz="1300" dirty="0" smtClean="0">
                <a:solidFill>
                  <a:srgbClr val="8FA3BC"/>
                </a:solidFill>
                <a:latin typeface="Calibri" pitchFamily="34" charset="0"/>
                <a:ea typeface="Calibri" pitchFamily="34" charset="-122"/>
                <a:cs typeface="Calibri" pitchFamily="34" charset="-120"/>
              </a:rPr>
              <a:t>it can be calibrated through code in Arduino </a:t>
            </a:r>
            <a:endParaRPr lang="en-US" sz="1300" dirty="0"/>
          </a:p>
        </p:txBody>
      </p:sp>
      <p:sp>
        <p:nvSpPr>
          <p:cNvPr id="7" name="Text 4"/>
          <p:cNvSpPr txBox="1"/>
          <p:nvPr/>
        </p:nvSpPr>
        <p:spPr>
          <a:xfrm>
            <a:off x="6217920" y="777240"/>
            <a:ext cx="2697480" cy="274320"/>
          </a:xfrm>
          <a:prstGeom prst="rect">
            <a:avLst/>
          </a:prstGeom>
          <a:noFill/>
          <a:ln/>
        </p:spPr>
        <p:txBody>
          <a:bodyPr wrap="square" lIns="0" tIns="0" rIns="0" bIns="0" rtlCol="0" anchor="t"/>
          <a:lstStyle/>
          <a:p>
            <a:pPr marL="0" indent="0" algn="ctr">
              <a:buNone/>
            </a:pPr>
            <a:r>
              <a:rPr lang="en-US" sz="1100" b="1" kern="0" spc="300" dirty="0">
                <a:solidFill>
                  <a:srgbClr val="2EA8FF"/>
                </a:solidFill>
                <a:latin typeface="Calibri" pitchFamily="34" charset="0"/>
                <a:ea typeface="Calibri" pitchFamily="34" charset="-122"/>
                <a:cs typeface="Calibri" pitchFamily="34" charset="-120"/>
              </a:rPr>
              <a:t>PHASE A</a:t>
            </a:r>
            <a:endParaRPr lang="en-US" sz="1100" dirty="0"/>
          </a:p>
        </p:txBody>
      </p:sp>
      <p:sp>
        <p:nvSpPr>
          <p:cNvPr id="8" name="Text 5"/>
          <p:cNvSpPr txBox="1"/>
          <p:nvPr/>
        </p:nvSpPr>
        <p:spPr>
          <a:xfrm>
            <a:off x="8915400" y="777240"/>
            <a:ext cx="2697480" cy="274320"/>
          </a:xfrm>
          <a:prstGeom prst="rect">
            <a:avLst/>
          </a:prstGeom>
          <a:noFill/>
          <a:ln/>
        </p:spPr>
        <p:txBody>
          <a:bodyPr wrap="square" lIns="0" tIns="0" rIns="0" bIns="0" rtlCol="0" anchor="t"/>
          <a:lstStyle/>
          <a:p>
            <a:pPr marL="0" indent="0" algn="ctr">
              <a:buNone/>
            </a:pPr>
            <a:r>
              <a:rPr lang="en-US" sz="1100" b="1" kern="0" spc="300" dirty="0">
                <a:solidFill>
                  <a:srgbClr val="2EA8FF"/>
                </a:solidFill>
                <a:latin typeface="Calibri" pitchFamily="34" charset="0"/>
                <a:ea typeface="Calibri" pitchFamily="34" charset="-122"/>
                <a:cs typeface="Calibri" pitchFamily="34" charset="-120"/>
              </a:rPr>
              <a:t>PHASE B</a:t>
            </a:r>
            <a:endParaRPr lang="en-US" sz="1100" dirty="0"/>
          </a:p>
        </p:txBody>
      </p:sp>
      <p:sp>
        <p:nvSpPr>
          <p:cNvPr id="9" name="Text 6"/>
          <p:cNvSpPr txBox="1"/>
          <p:nvPr/>
        </p:nvSpPr>
        <p:spPr>
          <a:xfrm>
            <a:off x="4663440" y="1188720"/>
            <a:ext cx="1554480" cy="502920"/>
          </a:xfrm>
          <a:prstGeom prst="rect">
            <a:avLst/>
          </a:prstGeom>
          <a:noFill/>
          <a:ln/>
        </p:spPr>
        <p:txBody>
          <a:bodyPr wrap="square" lIns="0" tIns="0" rIns="0" bIns="0" rtlCol="0" anchor="ctr"/>
          <a:lstStyle/>
          <a:p>
            <a:pPr marL="0" indent="0">
              <a:buNone/>
            </a:pPr>
            <a:r>
              <a:rPr lang="en-US" sz="1300" b="1" kern="0" spc="100" dirty="0">
                <a:solidFill>
                  <a:srgbClr val="E6EEF8"/>
                </a:solidFill>
                <a:latin typeface="Arial Narrow" pitchFamily="34" charset="0"/>
                <a:ea typeface="Arial Narrow" pitchFamily="34" charset="-122"/>
                <a:cs typeface="Arial Narrow" pitchFamily="34" charset="-120"/>
              </a:rPr>
              <a:t>LEFT FRONT</a:t>
            </a:r>
            <a:endParaRPr lang="en-US" sz="1300" dirty="0"/>
          </a:p>
        </p:txBody>
      </p:sp>
      <p:sp>
        <p:nvSpPr>
          <p:cNvPr id="10" name="Shape 7"/>
          <p:cNvSpPr/>
          <p:nvPr/>
        </p:nvSpPr>
        <p:spPr>
          <a:xfrm>
            <a:off x="6217920" y="1188720"/>
            <a:ext cx="2697480" cy="502920"/>
          </a:xfrm>
          <a:prstGeom prst="rect">
            <a:avLst/>
          </a:prstGeom>
          <a:solidFill>
            <a:srgbClr val="2EA8FF"/>
          </a:solidFill>
          <a:ln w="6350">
            <a:solidFill>
              <a:srgbClr val="2EA8FF"/>
            </a:solidFill>
            <a:prstDash val="solid"/>
          </a:ln>
        </p:spPr>
      </p:sp>
      <p:sp>
        <p:nvSpPr>
          <p:cNvPr id="11" name="Text 8"/>
          <p:cNvSpPr txBox="1"/>
          <p:nvPr/>
        </p:nvSpPr>
        <p:spPr>
          <a:xfrm>
            <a:off x="6217920" y="1188720"/>
            <a:ext cx="2697480" cy="502920"/>
          </a:xfrm>
          <a:prstGeom prst="rect">
            <a:avLst/>
          </a:prstGeom>
          <a:noFill/>
          <a:ln/>
        </p:spPr>
        <p:txBody>
          <a:bodyPr wrap="square" lIns="0" tIns="0" rIns="0" bIns="0" rtlCol="0" anchor="ctr"/>
          <a:lstStyle/>
          <a:p>
            <a:pPr marL="0" indent="0" algn="ctr">
              <a:buNone/>
            </a:pPr>
            <a:r>
              <a:rPr lang="en-US" sz="1200" b="1" kern="0" spc="300" dirty="0">
                <a:solidFill>
                  <a:srgbClr val="0A1220"/>
                </a:solidFill>
                <a:latin typeface="Calibri" pitchFamily="34" charset="0"/>
                <a:ea typeface="Calibri" pitchFamily="34" charset="-122"/>
                <a:cs typeface="Calibri" pitchFamily="34" charset="-120"/>
              </a:rPr>
              <a:t>SWING</a:t>
            </a:r>
            <a:endParaRPr lang="en-US" sz="1200" dirty="0"/>
          </a:p>
        </p:txBody>
      </p:sp>
      <p:sp>
        <p:nvSpPr>
          <p:cNvPr id="12" name="Shape 9"/>
          <p:cNvSpPr/>
          <p:nvPr/>
        </p:nvSpPr>
        <p:spPr>
          <a:xfrm>
            <a:off x="8915400" y="1188720"/>
            <a:ext cx="2697480" cy="502920"/>
          </a:xfrm>
          <a:prstGeom prst="rect">
            <a:avLst/>
          </a:prstGeom>
          <a:solidFill>
            <a:srgbClr val="101C30"/>
          </a:solidFill>
          <a:ln w="9525">
            <a:solidFill>
              <a:srgbClr val="8FA3BC"/>
            </a:solidFill>
            <a:prstDash val="solid"/>
          </a:ln>
        </p:spPr>
      </p:sp>
      <p:sp>
        <p:nvSpPr>
          <p:cNvPr id="13" name="Text 10"/>
          <p:cNvSpPr txBox="1"/>
          <p:nvPr/>
        </p:nvSpPr>
        <p:spPr>
          <a:xfrm>
            <a:off x="8915400" y="1188720"/>
            <a:ext cx="2697480" cy="502920"/>
          </a:xfrm>
          <a:prstGeom prst="rect">
            <a:avLst/>
          </a:prstGeom>
          <a:noFill/>
          <a:ln/>
        </p:spPr>
        <p:txBody>
          <a:bodyPr wrap="square" lIns="0" tIns="0" rIns="0" bIns="0" rtlCol="0" anchor="ctr"/>
          <a:lstStyle/>
          <a:p>
            <a:pPr marL="0" indent="0" algn="ctr">
              <a:buNone/>
            </a:pPr>
            <a:r>
              <a:rPr lang="en-US" sz="1200" kern="0" spc="300" dirty="0">
                <a:solidFill>
                  <a:srgbClr val="8FA3BC"/>
                </a:solidFill>
                <a:latin typeface="Calibri" pitchFamily="34" charset="0"/>
                <a:ea typeface="Calibri" pitchFamily="34" charset="-122"/>
                <a:cs typeface="Calibri" pitchFamily="34" charset="-120"/>
              </a:rPr>
              <a:t>ON GROUND</a:t>
            </a:r>
            <a:endParaRPr lang="en-US" sz="1200" dirty="0"/>
          </a:p>
        </p:txBody>
      </p:sp>
      <p:sp>
        <p:nvSpPr>
          <p:cNvPr id="14" name="Text 11"/>
          <p:cNvSpPr txBox="1"/>
          <p:nvPr/>
        </p:nvSpPr>
        <p:spPr>
          <a:xfrm>
            <a:off x="4663440" y="1920240"/>
            <a:ext cx="1554480" cy="502920"/>
          </a:xfrm>
          <a:prstGeom prst="rect">
            <a:avLst/>
          </a:prstGeom>
          <a:noFill/>
          <a:ln/>
        </p:spPr>
        <p:txBody>
          <a:bodyPr wrap="square" lIns="0" tIns="0" rIns="0" bIns="0" rtlCol="0" anchor="ctr"/>
          <a:lstStyle/>
          <a:p>
            <a:pPr marL="0" indent="0">
              <a:buNone/>
            </a:pPr>
            <a:r>
              <a:rPr lang="en-US" sz="1300" b="1" kern="0" spc="100" dirty="0">
                <a:solidFill>
                  <a:srgbClr val="E6EEF8"/>
                </a:solidFill>
                <a:latin typeface="Arial Narrow" pitchFamily="34" charset="0"/>
                <a:ea typeface="Arial Narrow" pitchFamily="34" charset="-122"/>
                <a:cs typeface="Arial Narrow" pitchFamily="34" charset="-120"/>
              </a:rPr>
              <a:t>RIGHT BACK</a:t>
            </a:r>
            <a:endParaRPr lang="en-US" sz="1300" dirty="0"/>
          </a:p>
        </p:txBody>
      </p:sp>
      <p:sp>
        <p:nvSpPr>
          <p:cNvPr id="15" name="Shape 12"/>
          <p:cNvSpPr/>
          <p:nvPr/>
        </p:nvSpPr>
        <p:spPr>
          <a:xfrm>
            <a:off x="6217920" y="1920240"/>
            <a:ext cx="2697480" cy="502920"/>
          </a:xfrm>
          <a:prstGeom prst="rect">
            <a:avLst/>
          </a:prstGeom>
          <a:solidFill>
            <a:srgbClr val="2EA8FF"/>
          </a:solidFill>
          <a:ln w="6350">
            <a:solidFill>
              <a:srgbClr val="2EA8FF"/>
            </a:solidFill>
            <a:prstDash val="solid"/>
          </a:ln>
        </p:spPr>
      </p:sp>
      <p:sp>
        <p:nvSpPr>
          <p:cNvPr id="16" name="Text 13"/>
          <p:cNvSpPr txBox="1"/>
          <p:nvPr/>
        </p:nvSpPr>
        <p:spPr>
          <a:xfrm>
            <a:off x="6217920" y="1920240"/>
            <a:ext cx="2697480" cy="502920"/>
          </a:xfrm>
          <a:prstGeom prst="rect">
            <a:avLst/>
          </a:prstGeom>
          <a:noFill/>
          <a:ln/>
        </p:spPr>
        <p:txBody>
          <a:bodyPr wrap="square" lIns="0" tIns="0" rIns="0" bIns="0" rtlCol="0" anchor="ctr"/>
          <a:lstStyle/>
          <a:p>
            <a:pPr marL="0" indent="0" algn="ctr">
              <a:buNone/>
            </a:pPr>
            <a:r>
              <a:rPr lang="en-US" sz="1200" b="1" kern="0" spc="300" dirty="0">
                <a:solidFill>
                  <a:srgbClr val="0A1220"/>
                </a:solidFill>
                <a:latin typeface="Calibri" pitchFamily="34" charset="0"/>
                <a:ea typeface="Calibri" pitchFamily="34" charset="-122"/>
                <a:cs typeface="Calibri" pitchFamily="34" charset="-120"/>
              </a:rPr>
              <a:t>SWING</a:t>
            </a:r>
            <a:endParaRPr lang="en-US" sz="1200" dirty="0"/>
          </a:p>
        </p:txBody>
      </p:sp>
      <p:sp>
        <p:nvSpPr>
          <p:cNvPr id="17" name="Shape 14"/>
          <p:cNvSpPr/>
          <p:nvPr/>
        </p:nvSpPr>
        <p:spPr>
          <a:xfrm>
            <a:off x="8915400" y="1920240"/>
            <a:ext cx="2697480" cy="502920"/>
          </a:xfrm>
          <a:prstGeom prst="rect">
            <a:avLst/>
          </a:prstGeom>
          <a:solidFill>
            <a:srgbClr val="101C30"/>
          </a:solidFill>
          <a:ln w="9525">
            <a:solidFill>
              <a:srgbClr val="8FA3BC"/>
            </a:solidFill>
            <a:prstDash val="solid"/>
          </a:ln>
        </p:spPr>
      </p:sp>
      <p:sp>
        <p:nvSpPr>
          <p:cNvPr id="18" name="Text 15"/>
          <p:cNvSpPr txBox="1"/>
          <p:nvPr/>
        </p:nvSpPr>
        <p:spPr>
          <a:xfrm>
            <a:off x="8915400" y="1920240"/>
            <a:ext cx="2697480" cy="502920"/>
          </a:xfrm>
          <a:prstGeom prst="rect">
            <a:avLst/>
          </a:prstGeom>
          <a:noFill/>
          <a:ln/>
        </p:spPr>
        <p:txBody>
          <a:bodyPr wrap="square" lIns="0" tIns="0" rIns="0" bIns="0" rtlCol="0" anchor="ctr"/>
          <a:lstStyle/>
          <a:p>
            <a:pPr marL="0" indent="0" algn="ctr">
              <a:buNone/>
            </a:pPr>
            <a:r>
              <a:rPr lang="en-US" sz="1200" kern="0" spc="300" dirty="0">
                <a:solidFill>
                  <a:srgbClr val="8FA3BC"/>
                </a:solidFill>
                <a:latin typeface="Calibri" pitchFamily="34" charset="0"/>
                <a:ea typeface="Calibri" pitchFamily="34" charset="-122"/>
                <a:cs typeface="Calibri" pitchFamily="34" charset="-120"/>
              </a:rPr>
              <a:t>ON GROUND</a:t>
            </a:r>
            <a:endParaRPr lang="en-US" sz="1200" dirty="0"/>
          </a:p>
        </p:txBody>
      </p:sp>
      <p:sp>
        <p:nvSpPr>
          <p:cNvPr id="19" name="Text 16"/>
          <p:cNvSpPr txBox="1"/>
          <p:nvPr/>
        </p:nvSpPr>
        <p:spPr>
          <a:xfrm>
            <a:off x="4663440" y="2651760"/>
            <a:ext cx="1554480" cy="502920"/>
          </a:xfrm>
          <a:prstGeom prst="rect">
            <a:avLst/>
          </a:prstGeom>
          <a:noFill/>
          <a:ln/>
        </p:spPr>
        <p:txBody>
          <a:bodyPr wrap="square" lIns="0" tIns="0" rIns="0" bIns="0" rtlCol="0" anchor="ctr"/>
          <a:lstStyle/>
          <a:p>
            <a:pPr marL="0" indent="0">
              <a:buNone/>
            </a:pPr>
            <a:r>
              <a:rPr lang="en-US" sz="1300" b="1" kern="0" spc="100" dirty="0">
                <a:solidFill>
                  <a:srgbClr val="E6EEF8"/>
                </a:solidFill>
                <a:latin typeface="Arial Narrow" pitchFamily="34" charset="0"/>
                <a:ea typeface="Arial Narrow" pitchFamily="34" charset="-122"/>
                <a:cs typeface="Arial Narrow" pitchFamily="34" charset="-120"/>
              </a:rPr>
              <a:t>RIGHT FRONT</a:t>
            </a:r>
            <a:endParaRPr lang="en-US" sz="1300" dirty="0"/>
          </a:p>
        </p:txBody>
      </p:sp>
      <p:sp>
        <p:nvSpPr>
          <p:cNvPr id="20" name="Shape 17"/>
          <p:cNvSpPr/>
          <p:nvPr/>
        </p:nvSpPr>
        <p:spPr>
          <a:xfrm>
            <a:off x="8915400" y="2651760"/>
            <a:ext cx="2697480" cy="502920"/>
          </a:xfrm>
          <a:prstGeom prst="rect">
            <a:avLst/>
          </a:prstGeom>
          <a:solidFill>
            <a:srgbClr val="2EA8FF"/>
          </a:solidFill>
          <a:ln w="6350">
            <a:solidFill>
              <a:srgbClr val="2EA8FF"/>
            </a:solidFill>
            <a:prstDash val="solid"/>
          </a:ln>
        </p:spPr>
      </p:sp>
      <p:sp>
        <p:nvSpPr>
          <p:cNvPr id="21" name="Text 18"/>
          <p:cNvSpPr txBox="1"/>
          <p:nvPr/>
        </p:nvSpPr>
        <p:spPr>
          <a:xfrm>
            <a:off x="8915400" y="2651760"/>
            <a:ext cx="2697480" cy="502920"/>
          </a:xfrm>
          <a:prstGeom prst="rect">
            <a:avLst/>
          </a:prstGeom>
          <a:noFill/>
          <a:ln/>
        </p:spPr>
        <p:txBody>
          <a:bodyPr wrap="square" lIns="0" tIns="0" rIns="0" bIns="0" rtlCol="0" anchor="ctr"/>
          <a:lstStyle/>
          <a:p>
            <a:pPr marL="0" indent="0" algn="ctr">
              <a:buNone/>
            </a:pPr>
            <a:r>
              <a:rPr lang="en-US" sz="1200" b="1" kern="0" spc="300" dirty="0">
                <a:solidFill>
                  <a:srgbClr val="0A1220"/>
                </a:solidFill>
                <a:latin typeface="Calibri" pitchFamily="34" charset="0"/>
                <a:ea typeface="Calibri" pitchFamily="34" charset="-122"/>
                <a:cs typeface="Calibri" pitchFamily="34" charset="-120"/>
              </a:rPr>
              <a:t>SWING</a:t>
            </a:r>
            <a:endParaRPr lang="en-US" sz="1200" dirty="0"/>
          </a:p>
        </p:txBody>
      </p:sp>
      <p:sp>
        <p:nvSpPr>
          <p:cNvPr id="22" name="Shape 19"/>
          <p:cNvSpPr/>
          <p:nvPr/>
        </p:nvSpPr>
        <p:spPr>
          <a:xfrm>
            <a:off x="6217920" y="2651760"/>
            <a:ext cx="2697480" cy="502920"/>
          </a:xfrm>
          <a:prstGeom prst="rect">
            <a:avLst/>
          </a:prstGeom>
          <a:solidFill>
            <a:srgbClr val="101C30"/>
          </a:solidFill>
          <a:ln w="9525">
            <a:solidFill>
              <a:srgbClr val="8FA3BC"/>
            </a:solidFill>
            <a:prstDash val="solid"/>
          </a:ln>
        </p:spPr>
      </p:sp>
      <p:sp>
        <p:nvSpPr>
          <p:cNvPr id="23" name="Text 20"/>
          <p:cNvSpPr txBox="1"/>
          <p:nvPr/>
        </p:nvSpPr>
        <p:spPr>
          <a:xfrm>
            <a:off x="6217920" y="2651760"/>
            <a:ext cx="2697480" cy="502920"/>
          </a:xfrm>
          <a:prstGeom prst="rect">
            <a:avLst/>
          </a:prstGeom>
          <a:noFill/>
          <a:ln/>
        </p:spPr>
        <p:txBody>
          <a:bodyPr wrap="square" lIns="0" tIns="0" rIns="0" bIns="0" rtlCol="0" anchor="ctr"/>
          <a:lstStyle/>
          <a:p>
            <a:pPr marL="0" indent="0" algn="ctr">
              <a:buNone/>
            </a:pPr>
            <a:r>
              <a:rPr lang="en-US" sz="1200" kern="0" spc="300" dirty="0">
                <a:solidFill>
                  <a:srgbClr val="8FA3BC"/>
                </a:solidFill>
                <a:latin typeface="Calibri" pitchFamily="34" charset="0"/>
                <a:ea typeface="Calibri" pitchFamily="34" charset="-122"/>
                <a:cs typeface="Calibri" pitchFamily="34" charset="-120"/>
              </a:rPr>
              <a:t>ON GROUND</a:t>
            </a:r>
            <a:endParaRPr lang="en-US" sz="1200" dirty="0"/>
          </a:p>
        </p:txBody>
      </p:sp>
      <p:sp>
        <p:nvSpPr>
          <p:cNvPr id="24" name="Text 21"/>
          <p:cNvSpPr txBox="1"/>
          <p:nvPr/>
        </p:nvSpPr>
        <p:spPr>
          <a:xfrm>
            <a:off x="4663440" y="3383280"/>
            <a:ext cx="1554480" cy="502920"/>
          </a:xfrm>
          <a:prstGeom prst="rect">
            <a:avLst/>
          </a:prstGeom>
          <a:noFill/>
          <a:ln/>
        </p:spPr>
        <p:txBody>
          <a:bodyPr wrap="square" lIns="0" tIns="0" rIns="0" bIns="0" rtlCol="0" anchor="ctr"/>
          <a:lstStyle/>
          <a:p>
            <a:pPr marL="0" indent="0">
              <a:buNone/>
            </a:pPr>
            <a:r>
              <a:rPr lang="en-US" sz="1300" b="1" kern="0" spc="100" dirty="0">
                <a:solidFill>
                  <a:srgbClr val="E6EEF8"/>
                </a:solidFill>
                <a:latin typeface="Arial Narrow" pitchFamily="34" charset="0"/>
                <a:ea typeface="Arial Narrow" pitchFamily="34" charset="-122"/>
                <a:cs typeface="Arial Narrow" pitchFamily="34" charset="-120"/>
              </a:rPr>
              <a:t>LEFT BACK</a:t>
            </a:r>
            <a:endParaRPr lang="en-US" sz="1300" dirty="0"/>
          </a:p>
        </p:txBody>
      </p:sp>
      <p:sp>
        <p:nvSpPr>
          <p:cNvPr id="25" name="Shape 22"/>
          <p:cNvSpPr/>
          <p:nvPr/>
        </p:nvSpPr>
        <p:spPr>
          <a:xfrm>
            <a:off x="8915400" y="3383280"/>
            <a:ext cx="2697480" cy="502920"/>
          </a:xfrm>
          <a:prstGeom prst="rect">
            <a:avLst/>
          </a:prstGeom>
          <a:solidFill>
            <a:srgbClr val="2EA8FF"/>
          </a:solidFill>
          <a:ln w="6350">
            <a:solidFill>
              <a:srgbClr val="2EA8FF"/>
            </a:solidFill>
            <a:prstDash val="solid"/>
          </a:ln>
        </p:spPr>
      </p:sp>
      <p:sp>
        <p:nvSpPr>
          <p:cNvPr id="26" name="Text 23"/>
          <p:cNvSpPr txBox="1"/>
          <p:nvPr/>
        </p:nvSpPr>
        <p:spPr>
          <a:xfrm>
            <a:off x="8915400" y="3383280"/>
            <a:ext cx="2697480" cy="502920"/>
          </a:xfrm>
          <a:prstGeom prst="rect">
            <a:avLst/>
          </a:prstGeom>
          <a:noFill/>
          <a:ln/>
        </p:spPr>
        <p:txBody>
          <a:bodyPr wrap="square" lIns="0" tIns="0" rIns="0" bIns="0" rtlCol="0" anchor="ctr"/>
          <a:lstStyle/>
          <a:p>
            <a:pPr marL="0" indent="0" algn="ctr">
              <a:buNone/>
            </a:pPr>
            <a:r>
              <a:rPr lang="en-US" sz="1200" b="1" kern="0" spc="300" dirty="0">
                <a:solidFill>
                  <a:srgbClr val="0A1220"/>
                </a:solidFill>
                <a:latin typeface="Calibri" pitchFamily="34" charset="0"/>
                <a:ea typeface="Calibri" pitchFamily="34" charset="-122"/>
                <a:cs typeface="Calibri" pitchFamily="34" charset="-120"/>
              </a:rPr>
              <a:t>SWING</a:t>
            </a:r>
            <a:endParaRPr lang="en-US" sz="1200" dirty="0"/>
          </a:p>
        </p:txBody>
      </p:sp>
      <p:sp>
        <p:nvSpPr>
          <p:cNvPr id="27" name="Shape 24"/>
          <p:cNvSpPr/>
          <p:nvPr/>
        </p:nvSpPr>
        <p:spPr>
          <a:xfrm>
            <a:off x="6217920" y="3383280"/>
            <a:ext cx="2697480" cy="502920"/>
          </a:xfrm>
          <a:prstGeom prst="rect">
            <a:avLst/>
          </a:prstGeom>
          <a:solidFill>
            <a:srgbClr val="101C30"/>
          </a:solidFill>
          <a:ln w="9525">
            <a:solidFill>
              <a:srgbClr val="8FA3BC"/>
            </a:solidFill>
            <a:prstDash val="solid"/>
          </a:ln>
        </p:spPr>
      </p:sp>
      <p:sp>
        <p:nvSpPr>
          <p:cNvPr id="28" name="Text 25"/>
          <p:cNvSpPr txBox="1"/>
          <p:nvPr/>
        </p:nvSpPr>
        <p:spPr>
          <a:xfrm>
            <a:off x="6217920" y="3383280"/>
            <a:ext cx="2697480" cy="502920"/>
          </a:xfrm>
          <a:prstGeom prst="rect">
            <a:avLst/>
          </a:prstGeom>
          <a:noFill/>
          <a:ln/>
        </p:spPr>
        <p:txBody>
          <a:bodyPr wrap="square" lIns="0" tIns="0" rIns="0" bIns="0" rtlCol="0" anchor="ctr"/>
          <a:lstStyle/>
          <a:p>
            <a:pPr marL="0" indent="0" algn="ctr">
              <a:buNone/>
            </a:pPr>
            <a:r>
              <a:rPr lang="en-US" sz="1200" kern="0" spc="300" dirty="0">
                <a:solidFill>
                  <a:srgbClr val="8FA3BC"/>
                </a:solidFill>
                <a:latin typeface="Calibri" pitchFamily="34" charset="0"/>
                <a:ea typeface="Calibri" pitchFamily="34" charset="-122"/>
                <a:cs typeface="Calibri" pitchFamily="34" charset="-120"/>
              </a:rPr>
              <a:t>ON GROUND</a:t>
            </a:r>
            <a:endParaRPr lang="en-US" sz="1200" dirty="0"/>
          </a:p>
        </p:txBody>
      </p:sp>
      <p:sp>
        <p:nvSpPr>
          <p:cNvPr id="29" name="Shape 26"/>
          <p:cNvSpPr/>
          <p:nvPr/>
        </p:nvSpPr>
        <p:spPr>
          <a:xfrm>
            <a:off x="6217920" y="4206240"/>
            <a:ext cx="5394960" cy="0"/>
          </a:xfrm>
          <a:prstGeom prst="line">
            <a:avLst/>
          </a:prstGeom>
          <a:noFill/>
          <a:ln w="9525">
            <a:solidFill>
              <a:srgbClr val="8FA3BC"/>
            </a:solidFill>
            <a:prstDash val="solid"/>
            <a:headEnd type="triangle"/>
            <a:tailEnd type="triangle"/>
          </a:ln>
        </p:spPr>
      </p:sp>
      <p:sp>
        <p:nvSpPr>
          <p:cNvPr id="30" name="Text 27"/>
          <p:cNvSpPr txBox="1"/>
          <p:nvPr/>
        </p:nvSpPr>
        <p:spPr>
          <a:xfrm>
            <a:off x="6217920" y="4251960"/>
            <a:ext cx="5394960" cy="274320"/>
          </a:xfrm>
          <a:prstGeom prst="rect">
            <a:avLst/>
          </a:prstGeom>
          <a:noFill/>
          <a:ln/>
        </p:spPr>
        <p:txBody>
          <a:bodyPr wrap="square" lIns="0" tIns="0" rIns="0" bIns="0" rtlCol="0" anchor="t"/>
          <a:lstStyle/>
          <a:p>
            <a:pPr marL="0" indent="0" algn="ctr">
              <a:buNone/>
            </a:pPr>
            <a:r>
              <a:rPr lang="en-US" sz="1100" dirty="0">
                <a:solidFill>
                  <a:srgbClr val="8FA3BC"/>
                </a:solidFill>
                <a:latin typeface="Calibri" pitchFamily="34" charset="0"/>
                <a:ea typeface="Calibri" pitchFamily="34" charset="-122"/>
                <a:cs typeface="Calibri" pitchFamily="34" charset="-120"/>
              </a:rPr>
              <a:t>one gait cycle</a:t>
            </a:r>
            <a:endParaRPr lang="en-US" sz="1100" dirty="0"/>
          </a:p>
        </p:txBody>
      </p:sp>
      <p:sp>
        <p:nvSpPr>
          <p:cNvPr id="31" name="Text 28"/>
          <p:cNvSpPr txBox="1"/>
          <p:nvPr/>
        </p:nvSpPr>
        <p:spPr>
          <a:xfrm>
            <a:off x="4663440" y="4709160"/>
            <a:ext cx="1554480" cy="274320"/>
          </a:xfrm>
          <a:prstGeom prst="rect">
            <a:avLst/>
          </a:prstGeom>
          <a:noFill/>
          <a:ln/>
        </p:spPr>
        <p:txBody>
          <a:bodyPr wrap="square" lIns="0" tIns="0" rIns="0" bIns="0" rtlCol="0" anchor="t"/>
          <a:lstStyle/>
          <a:p>
            <a:pPr marL="0" indent="0">
              <a:buNone/>
            </a:pPr>
            <a:r>
              <a:rPr lang="en-US" sz="1100" b="1" kern="0" spc="300" dirty="0">
                <a:solidFill>
                  <a:srgbClr val="8FA3BC"/>
                </a:solidFill>
                <a:latin typeface="Calibri" pitchFamily="34" charset="0"/>
                <a:ea typeface="Calibri" pitchFamily="34" charset="-122"/>
                <a:cs typeface="Calibri" pitchFamily="34" charset="-120"/>
              </a:rPr>
              <a:t>TOP VIEW</a:t>
            </a:r>
            <a:endParaRPr lang="en-US" sz="1100" dirty="0"/>
          </a:p>
        </p:txBody>
      </p:sp>
      <p:sp>
        <p:nvSpPr>
          <p:cNvPr id="32" name="Shape 29"/>
          <p:cNvSpPr/>
          <p:nvPr/>
        </p:nvSpPr>
        <p:spPr>
          <a:xfrm>
            <a:off x="7063740" y="4983480"/>
            <a:ext cx="1005840" cy="1005840"/>
          </a:xfrm>
          <a:prstGeom prst="rect">
            <a:avLst/>
          </a:prstGeom>
          <a:solidFill>
            <a:srgbClr val="101C30"/>
          </a:solidFill>
          <a:ln w="9525">
            <a:solidFill>
              <a:srgbClr val="8FA3BC"/>
            </a:solidFill>
            <a:prstDash val="solid"/>
          </a:ln>
        </p:spPr>
      </p:sp>
      <p:sp>
        <p:nvSpPr>
          <p:cNvPr id="33" name="Shape 30"/>
          <p:cNvSpPr/>
          <p:nvPr/>
        </p:nvSpPr>
        <p:spPr>
          <a:xfrm>
            <a:off x="6908292" y="4828032"/>
            <a:ext cx="310896" cy="310896"/>
          </a:xfrm>
          <a:prstGeom prst="ellipse">
            <a:avLst/>
          </a:prstGeom>
          <a:solidFill>
            <a:srgbClr val="2EA8FF"/>
          </a:solidFill>
          <a:ln w="12700">
            <a:solidFill>
              <a:srgbClr val="2EA8FF"/>
            </a:solidFill>
            <a:prstDash val="solid"/>
          </a:ln>
        </p:spPr>
      </p:sp>
      <p:sp>
        <p:nvSpPr>
          <p:cNvPr id="34" name="Text 31"/>
          <p:cNvSpPr txBox="1"/>
          <p:nvPr/>
        </p:nvSpPr>
        <p:spPr>
          <a:xfrm>
            <a:off x="6908292" y="4828032"/>
            <a:ext cx="310896" cy="310896"/>
          </a:xfrm>
          <a:prstGeom prst="rect">
            <a:avLst/>
          </a:prstGeom>
          <a:noFill/>
          <a:ln/>
        </p:spPr>
        <p:txBody>
          <a:bodyPr wrap="square" lIns="0" tIns="0" rIns="0" bIns="0" rtlCol="0" anchor="ctr"/>
          <a:lstStyle/>
          <a:p>
            <a:pPr marL="0" indent="0" algn="ctr">
              <a:buNone/>
            </a:pPr>
            <a:r>
              <a:rPr lang="en-US" sz="800" b="1" dirty="0">
                <a:solidFill>
                  <a:srgbClr val="0A1220"/>
                </a:solidFill>
                <a:latin typeface="Calibri" pitchFamily="34" charset="0"/>
                <a:ea typeface="Calibri" pitchFamily="34" charset="-122"/>
                <a:cs typeface="Calibri" pitchFamily="34" charset="-120"/>
              </a:rPr>
              <a:t>LF</a:t>
            </a:r>
            <a:endParaRPr lang="en-US" sz="800" dirty="0"/>
          </a:p>
        </p:txBody>
      </p:sp>
      <p:sp>
        <p:nvSpPr>
          <p:cNvPr id="35" name="Shape 32"/>
          <p:cNvSpPr/>
          <p:nvPr/>
        </p:nvSpPr>
        <p:spPr>
          <a:xfrm>
            <a:off x="7914132" y="4828032"/>
            <a:ext cx="310896" cy="310896"/>
          </a:xfrm>
          <a:prstGeom prst="ellipse">
            <a:avLst/>
          </a:prstGeom>
          <a:solidFill>
            <a:srgbClr val="0A1220"/>
          </a:solidFill>
          <a:ln w="12700">
            <a:solidFill>
              <a:srgbClr val="8FA3BC"/>
            </a:solidFill>
            <a:prstDash val="solid"/>
          </a:ln>
        </p:spPr>
      </p:sp>
      <p:sp>
        <p:nvSpPr>
          <p:cNvPr id="36" name="Text 33"/>
          <p:cNvSpPr txBox="1"/>
          <p:nvPr/>
        </p:nvSpPr>
        <p:spPr>
          <a:xfrm>
            <a:off x="7914132" y="4828032"/>
            <a:ext cx="310896" cy="310896"/>
          </a:xfrm>
          <a:prstGeom prst="rect">
            <a:avLst/>
          </a:prstGeom>
          <a:noFill/>
          <a:ln/>
        </p:spPr>
        <p:txBody>
          <a:bodyPr wrap="square" lIns="0" tIns="0" rIns="0" bIns="0" rtlCol="0" anchor="ctr"/>
          <a:lstStyle/>
          <a:p>
            <a:pPr marL="0" indent="0" algn="ctr">
              <a:buNone/>
            </a:pPr>
            <a:r>
              <a:rPr lang="en-US" sz="800" b="1" dirty="0">
                <a:solidFill>
                  <a:srgbClr val="8FA3BC"/>
                </a:solidFill>
                <a:latin typeface="Calibri" pitchFamily="34" charset="0"/>
                <a:ea typeface="Calibri" pitchFamily="34" charset="-122"/>
                <a:cs typeface="Calibri" pitchFamily="34" charset="-120"/>
              </a:rPr>
              <a:t>RF</a:t>
            </a:r>
            <a:endParaRPr lang="en-US" sz="800" dirty="0"/>
          </a:p>
        </p:txBody>
      </p:sp>
      <p:sp>
        <p:nvSpPr>
          <p:cNvPr id="37" name="Shape 34"/>
          <p:cNvSpPr/>
          <p:nvPr/>
        </p:nvSpPr>
        <p:spPr>
          <a:xfrm>
            <a:off x="6908292" y="5833872"/>
            <a:ext cx="310896" cy="310896"/>
          </a:xfrm>
          <a:prstGeom prst="ellipse">
            <a:avLst/>
          </a:prstGeom>
          <a:solidFill>
            <a:srgbClr val="0A1220"/>
          </a:solidFill>
          <a:ln w="12700">
            <a:solidFill>
              <a:srgbClr val="8FA3BC"/>
            </a:solidFill>
            <a:prstDash val="solid"/>
          </a:ln>
        </p:spPr>
      </p:sp>
      <p:sp>
        <p:nvSpPr>
          <p:cNvPr id="38" name="Text 35"/>
          <p:cNvSpPr txBox="1"/>
          <p:nvPr/>
        </p:nvSpPr>
        <p:spPr>
          <a:xfrm>
            <a:off x="6908292" y="5833872"/>
            <a:ext cx="310896" cy="310896"/>
          </a:xfrm>
          <a:prstGeom prst="rect">
            <a:avLst/>
          </a:prstGeom>
          <a:noFill/>
          <a:ln/>
        </p:spPr>
        <p:txBody>
          <a:bodyPr wrap="square" lIns="0" tIns="0" rIns="0" bIns="0" rtlCol="0" anchor="ctr"/>
          <a:lstStyle/>
          <a:p>
            <a:pPr marL="0" indent="0" algn="ctr">
              <a:buNone/>
            </a:pPr>
            <a:r>
              <a:rPr lang="en-US" sz="800" b="1" dirty="0">
                <a:solidFill>
                  <a:srgbClr val="8FA3BC"/>
                </a:solidFill>
                <a:latin typeface="Calibri" pitchFamily="34" charset="0"/>
                <a:ea typeface="Calibri" pitchFamily="34" charset="-122"/>
                <a:cs typeface="Calibri" pitchFamily="34" charset="-120"/>
              </a:rPr>
              <a:t>LB</a:t>
            </a:r>
            <a:endParaRPr lang="en-US" sz="800" dirty="0"/>
          </a:p>
        </p:txBody>
      </p:sp>
      <p:sp>
        <p:nvSpPr>
          <p:cNvPr id="39" name="Shape 36"/>
          <p:cNvSpPr/>
          <p:nvPr/>
        </p:nvSpPr>
        <p:spPr>
          <a:xfrm>
            <a:off x="7914132" y="5833872"/>
            <a:ext cx="310896" cy="310896"/>
          </a:xfrm>
          <a:prstGeom prst="ellipse">
            <a:avLst/>
          </a:prstGeom>
          <a:solidFill>
            <a:srgbClr val="2EA8FF"/>
          </a:solidFill>
          <a:ln w="12700">
            <a:solidFill>
              <a:srgbClr val="2EA8FF"/>
            </a:solidFill>
            <a:prstDash val="solid"/>
          </a:ln>
        </p:spPr>
      </p:sp>
      <p:sp>
        <p:nvSpPr>
          <p:cNvPr id="40" name="Text 37"/>
          <p:cNvSpPr txBox="1"/>
          <p:nvPr/>
        </p:nvSpPr>
        <p:spPr>
          <a:xfrm>
            <a:off x="7914132" y="5833872"/>
            <a:ext cx="310896" cy="310896"/>
          </a:xfrm>
          <a:prstGeom prst="rect">
            <a:avLst/>
          </a:prstGeom>
          <a:noFill/>
          <a:ln/>
        </p:spPr>
        <p:txBody>
          <a:bodyPr wrap="square" lIns="0" tIns="0" rIns="0" bIns="0" rtlCol="0" anchor="ctr"/>
          <a:lstStyle/>
          <a:p>
            <a:pPr marL="0" indent="0" algn="ctr">
              <a:buNone/>
            </a:pPr>
            <a:r>
              <a:rPr lang="en-US" sz="800" b="1" dirty="0">
                <a:solidFill>
                  <a:srgbClr val="0A1220"/>
                </a:solidFill>
                <a:latin typeface="Calibri" pitchFamily="34" charset="0"/>
                <a:ea typeface="Calibri" pitchFamily="34" charset="-122"/>
                <a:cs typeface="Calibri" pitchFamily="34" charset="-120"/>
              </a:rPr>
              <a:t>RB</a:t>
            </a:r>
            <a:endParaRPr lang="en-US" sz="800" dirty="0"/>
          </a:p>
        </p:txBody>
      </p:sp>
      <p:sp>
        <p:nvSpPr>
          <p:cNvPr id="41" name="Shape 38"/>
          <p:cNvSpPr/>
          <p:nvPr/>
        </p:nvSpPr>
        <p:spPr>
          <a:xfrm>
            <a:off x="9761220" y="4983480"/>
            <a:ext cx="1005840" cy="1005840"/>
          </a:xfrm>
          <a:prstGeom prst="rect">
            <a:avLst/>
          </a:prstGeom>
          <a:solidFill>
            <a:srgbClr val="101C30"/>
          </a:solidFill>
          <a:ln w="9525">
            <a:solidFill>
              <a:srgbClr val="8FA3BC"/>
            </a:solidFill>
            <a:prstDash val="solid"/>
          </a:ln>
        </p:spPr>
      </p:sp>
      <p:sp>
        <p:nvSpPr>
          <p:cNvPr id="42" name="Shape 39"/>
          <p:cNvSpPr/>
          <p:nvPr/>
        </p:nvSpPr>
        <p:spPr>
          <a:xfrm>
            <a:off x="9605772" y="4828032"/>
            <a:ext cx="310896" cy="310896"/>
          </a:xfrm>
          <a:prstGeom prst="ellipse">
            <a:avLst/>
          </a:prstGeom>
          <a:solidFill>
            <a:srgbClr val="0A1220"/>
          </a:solidFill>
          <a:ln w="12700">
            <a:solidFill>
              <a:srgbClr val="8FA3BC"/>
            </a:solidFill>
            <a:prstDash val="solid"/>
          </a:ln>
        </p:spPr>
      </p:sp>
      <p:sp>
        <p:nvSpPr>
          <p:cNvPr id="43" name="Text 40"/>
          <p:cNvSpPr txBox="1"/>
          <p:nvPr/>
        </p:nvSpPr>
        <p:spPr>
          <a:xfrm>
            <a:off x="9605772" y="4828032"/>
            <a:ext cx="310896" cy="310896"/>
          </a:xfrm>
          <a:prstGeom prst="rect">
            <a:avLst/>
          </a:prstGeom>
          <a:noFill/>
          <a:ln/>
        </p:spPr>
        <p:txBody>
          <a:bodyPr wrap="square" lIns="0" tIns="0" rIns="0" bIns="0" rtlCol="0" anchor="ctr"/>
          <a:lstStyle/>
          <a:p>
            <a:pPr marL="0" indent="0" algn="ctr">
              <a:buNone/>
            </a:pPr>
            <a:r>
              <a:rPr lang="en-US" sz="800" b="1" dirty="0">
                <a:solidFill>
                  <a:srgbClr val="8FA3BC"/>
                </a:solidFill>
                <a:latin typeface="Calibri" pitchFamily="34" charset="0"/>
                <a:ea typeface="Calibri" pitchFamily="34" charset="-122"/>
                <a:cs typeface="Calibri" pitchFamily="34" charset="-120"/>
              </a:rPr>
              <a:t>LF</a:t>
            </a:r>
            <a:endParaRPr lang="en-US" sz="800" dirty="0"/>
          </a:p>
        </p:txBody>
      </p:sp>
      <p:sp>
        <p:nvSpPr>
          <p:cNvPr id="44" name="Shape 41"/>
          <p:cNvSpPr/>
          <p:nvPr/>
        </p:nvSpPr>
        <p:spPr>
          <a:xfrm>
            <a:off x="10611612" y="4828032"/>
            <a:ext cx="310896" cy="310896"/>
          </a:xfrm>
          <a:prstGeom prst="ellipse">
            <a:avLst/>
          </a:prstGeom>
          <a:solidFill>
            <a:srgbClr val="2EA8FF"/>
          </a:solidFill>
          <a:ln w="12700">
            <a:solidFill>
              <a:srgbClr val="2EA8FF"/>
            </a:solidFill>
            <a:prstDash val="solid"/>
          </a:ln>
        </p:spPr>
      </p:sp>
      <p:sp>
        <p:nvSpPr>
          <p:cNvPr id="45" name="Text 42"/>
          <p:cNvSpPr txBox="1"/>
          <p:nvPr/>
        </p:nvSpPr>
        <p:spPr>
          <a:xfrm>
            <a:off x="10611612" y="4828032"/>
            <a:ext cx="310896" cy="310896"/>
          </a:xfrm>
          <a:prstGeom prst="rect">
            <a:avLst/>
          </a:prstGeom>
          <a:noFill/>
          <a:ln/>
        </p:spPr>
        <p:txBody>
          <a:bodyPr wrap="square" lIns="0" tIns="0" rIns="0" bIns="0" rtlCol="0" anchor="ctr"/>
          <a:lstStyle/>
          <a:p>
            <a:pPr marL="0" indent="0" algn="ctr">
              <a:buNone/>
            </a:pPr>
            <a:r>
              <a:rPr lang="en-US" sz="800" b="1" dirty="0">
                <a:solidFill>
                  <a:srgbClr val="0A1220"/>
                </a:solidFill>
                <a:latin typeface="Calibri" pitchFamily="34" charset="0"/>
                <a:ea typeface="Calibri" pitchFamily="34" charset="-122"/>
                <a:cs typeface="Calibri" pitchFamily="34" charset="-120"/>
              </a:rPr>
              <a:t>RF</a:t>
            </a:r>
            <a:endParaRPr lang="en-US" sz="800" dirty="0"/>
          </a:p>
        </p:txBody>
      </p:sp>
      <p:sp>
        <p:nvSpPr>
          <p:cNvPr id="46" name="Shape 43"/>
          <p:cNvSpPr/>
          <p:nvPr/>
        </p:nvSpPr>
        <p:spPr>
          <a:xfrm>
            <a:off x="9605772" y="5833872"/>
            <a:ext cx="310896" cy="310896"/>
          </a:xfrm>
          <a:prstGeom prst="ellipse">
            <a:avLst/>
          </a:prstGeom>
          <a:solidFill>
            <a:srgbClr val="2EA8FF"/>
          </a:solidFill>
          <a:ln w="12700">
            <a:solidFill>
              <a:srgbClr val="2EA8FF"/>
            </a:solidFill>
            <a:prstDash val="solid"/>
          </a:ln>
        </p:spPr>
      </p:sp>
      <p:sp>
        <p:nvSpPr>
          <p:cNvPr id="47" name="Text 44"/>
          <p:cNvSpPr txBox="1"/>
          <p:nvPr/>
        </p:nvSpPr>
        <p:spPr>
          <a:xfrm>
            <a:off x="9605772" y="5833872"/>
            <a:ext cx="310896" cy="310896"/>
          </a:xfrm>
          <a:prstGeom prst="rect">
            <a:avLst/>
          </a:prstGeom>
          <a:noFill/>
          <a:ln/>
        </p:spPr>
        <p:txBody>
          <a:bodyPr wrap="square" lIns="0" tIns="0" rIns="0" bIns="0" rtlCol="0" anchor="ctr"/>
          <a:lstStyle/>
          <a:p>
            <a:pPr marL="0" indent="0" algn="ctr">
              <a:buNone/>
            </a:pPr>
            <a:r>
              <a:rPr lang="en-US" sz="800" b="1" dirty="0">
                <a:solidFill>
                  <a:srgbClr val="0A1220"/>
                </a:solidFill>
                <a:latin typeface="Calibri" pitchFamily="34" charset="0"/>
                <a:ea typeface="Calibri" pitchFamily="34" charset="-122"/>
                <a:cs typeface="Calibri" pitchFamily="34" charset="-120"/>
              </a:rPr>
              <a:t>LB</a:t>
            </a:r>
            <a:endParaRPr lang="en-US" sz="800" dirty="0"/>
          </a:p>
        </p:txBody>
      </p:sp>
      <p:sp>
        <p:nvSpPr>
          <p:cNvPr id="48" name="Shape 45"/>
          <p:cNvSpPr/>
          <p:nvPr/>
        </p:nvSpPr>
        <p:spPr>
          <a:xfrm>
            <a:off x="10611612" y="5833872"/>
            <a:ext cx="310896" cy="310896"/>
          </a:xfrm>
          <a:prstGeom prst="ellipse">
            <a:avLst/>
          </a:prstGeom>
          <a:solidFill>
            <a:srgbClr val="0A1220"/>
          </a:solidFill>
          <a:ln w="12700">
            <a:solidFill>
              <a:srgbClr val="8FA3BC"/>
            </a:solidFill>
            <a:prstDash val="solid"/>
          </a:ln>
        </p:spPr>
      </p:sp>
      <p:sp>
        <p:nvSpPr>
          <p:cNvPr id="49" name="Text 46"/>
          <p:cNvSpPr txBox="1"/>
          <p:nvPr/>
        </p:nvSpPr>
        <p:spPr>
          <a:xfrm>
            <a:off x="10611612" y="5833872"/>
            <a:ext cx="310896" cy="310896"/>
          </a:xfrm>
          <a:prstGeom prst="rect">
            <a:avLst/>
          </a:prstGeom>
          <a:noFill/>
          <a:ln/>
        </p:spPr>
        <p:txBody>
          <a:bodyPr wrap="square" lIns="0" tIns="0" rIns="0" bIns="0" rtlCol="0" anchor="ctr"/>
          <a:lstStyle/>
          <a:p>
            <a:pPr marL="0" indent="0" algn="ctr">
              <a:buNone/>
            </a:pPr>
            <a:r>
              <a:rPr lang="en-US" sz="800" b="1" dirty="0">
                <a:solidFill>
                  <a:srgbClr val="8FA3BC"/>
                </a:solidFill>
                <a:latin typeface="Calibri" pitchFamily="34" charset="0"/>
                <a:ea typeface="Calibri" pitchFamily="34" charset="-122"/>
                <a:cs typeface="Calibri" pitchFamily="34" charset="-120"/>
              </a:rPr>
              <a:t>RB</a:t>
            </a:r>
            <a:endParaRPr lang="en-US" sz="800" dirty="0"/>
          </a:p>
        </p:txBody>
      </p:sp>
      <p:sp>
        <p:nvSpPr>
          <p:cNvPr id="6"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8</a:t>
            </a:fld>
            <a:endParaRPr lang="en-US"/>
          </a:p>
        </p:txBody>
      </p:sp>
      <p:cxnSp>
        <p:nvCxnSpPr>
          <p:cNvPr id="51" name="Straight Connector 50"/>
          <p:cNvCxnSpPr/>
          <p:nvPr/>
        </p:nvCxnSpPr>
        <p:spPr>
          <a:xfrm>
            <a:off x="256674" y="1920240"/>
            <a:ext cx="3949566"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08  WORKING PROTOTYPE</a:t>
            </a:r>
            <a:endParaRPr lang="en-US" sz="1100" dirty="0"/>
          </a:p>
        </p:txBody>
      </p:sp>
      <p:sp>
        <p:nvSpPr>
          <p:cNvPr id="3" name="Text 46"/>
          <p:cNvSpPr>
            <a:spLocks noGrp="1"/>
          </p:cNvSpPr>
          <p:nvPr>
            <p:ph type="title" idx="147" hasCustomPrompt="1"/>
          </p:nvPr>
        </p:nvSpPr>
        <p:spPr>
          <a:xfrm>
            <a:off x="548640" y="777240"/>
            <a:ext cx="3749040" cy="1463040"/>
          </a:xfrm>
          <a:prstGeom prst="rect">
            <a:avLst/>
          </a:prstGeom>
          <a:noFill/>
          <a:ln/>
        </p:spPr>
        <p:txBody>
          <a:bodyPr wrap="square" lIns="0" tIns="0" rIns="0" bIns="0" rtlCol="0" anchor="t"/>
          <a:lstStyle/>
          <a:p>
            <a:pPr marL="0" indent="0" algn="l">
              <a:buNone/>
            </a:pPr>
            <a:r>
              <a:rPr lang="en-US" sz="3000" dirty="0" smtClean="0"/>
              <a:t>PRESENTING PLUTO:</a:t>
            </a:r>
            <a:br>
              <a:rPr lang="en-US" sz="3000" dirty="0" smtClean="0"/>
            </a:br>
            <a:r>
              <a:rPr lang="en-US" dirty="0" smtClean="0"/>
              <a:t>A SCOUT BOT</a:t>
            </a:r>
            <a:endParaRPr lang="en-US" sz="3000" dirty="0"/>
          </a:p>
        </p:txBody>
      </p:sp>
      <p:sp>
        <p:nvSpPr>
          <p:cNvPr id="4" name="Text 46"/>
          <p:cNvSpPr>
            <a:spLocks noGrp="1"/>
          </p:cNvSpPr>
          <p:nvPr>
            <p:ph type="body" idx="148" hasCustomPrompt="1"/>
          </p:nvPr>
        </p:nvSpPr>
        <p:spPr>
          <a:xfrm>
            <a:off x="548640" y="2377440"/>
            <a:ext cx="3657600" cy="868680"/>
          </a:xfrm>
          <a:prstGeom prst="rect">
            <a:avLst/>
          </a:prstGeom>
          <a:noFill/>
          <a:ln/>
        </p:spPr>
        <p:txBody>
          <a:bodyPr wrap="square" lIns="0" tIns="0" rIns="0" bIns="0" rtlCol="0" anchor="t"/>
          <a:lstStyle/>
          <a:p>
            <a:pPr marL="0" indent="0">
              <a:buNone/>
            </a:pPr>
            <a:r>
              <a:rPr lang="en-US" sz="1600" b="1" dirty="0">
                <a:solidFill>
                  <a:srgbClr val="2EA8FF"/>
                </a:solidFill>
              </a:rPr>
              <a:t>A built, working Phase 1 platform with voice-triggered motion routines.</a:t>
            </a:r>
            <a:endParaRPr lang="en-US" sz="16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400" dirty="0">
                <a:solidFill>
                  <a:srgbClr val="8FA3BC"/>
                </a:solidFill>
              </a:rPr>
              <a:t>Four legs, 12 servos and a 3D-printed structure, controlled by an Arduino Uno.</a:t>
            </a:r>
            <a:endParaRPr lang="en-US" sz="1400" dirty="0"/>
          </a:p>
          <a:p>
            <a:pPr marL="0" indent="0">
              <a:spcAft>
                <a:spcPts val="900"/>
              </a:spcAft>
              <a:buNone/>
            </a:pPr>
            <a:r>
              <a:rPr lang="en-US" sz="1400" dirty="0">
                <a:solidFill>
                  <a:srgbClr val="8FA3BC"/>
                </a:solidFill>
              </a:rPr>
              <a:t>Five programmed routines run as stored joint positions and timing</a:t>
            </a:r>
            <a:r>
              <a:rPr lang="en-US" sz="1400" dirty="0" smtClean="0">
                <a:solidFill>
                  <a:srgbClr val="8FA3BC"/>
                </a:solidFill>
              </a:rPr>
              <a:t>.</a:t>
            </a:r>
          </a:p>
          <a:p>
            <a:pPr marL="0" indent="0">
              <a:spcAft>
                <a:spcPts val="900"/>
              </a:spcAft>
              <a:buNone/>
            </a:pPr>
            <a:r>
              <a:rPr lang="en-US" sz="1400" dirty="0" smtClean="0"/>
              <a:t>For power we used battery with 16 channel PCA to run the motors </a:t>
            </a:r>
          </a:p>
          <a:p>
            <a:pPr marL="0" indent="0">
              <a:spcAft>
                <a:spcPts val="900"/>
              </a:spcAft>
              <a:buNone/>
            </a:pPr>
            <a:r>
              <a:rPr lang="en-US" sz="1400" dirty="0" smtClean="0"/>
              <a:t>Here each leg having 3 degrees of freedom</a:t>
            </a:r>
            <a:endParaRPr lang="en-US" sz="1400" dirty="0"/>
          </a:p>
        </p:txBody>
      </p:sp>
      <p:sp>
        <p:nvSpPr>
          <p:cNvPr id="7" name="Shape 4"/>
          <p:cNvSpPr/>
          <p:nvPr/>
        </p:nvSpPr>
        <p:spPr>
          <a:xfrm>
            <a:off x="5486400" y="868680"/>
            <a:ext cx="5486400" cy="0"/>
          </a:xfrm>
          <a:prstGeom prst="line">
            <a:avLst/>
          </a:prstGeom>
          <a:noFill/>
          <a:ln w="12700">
            <a:solidFill>
              <a:srgbClr val="2EA8FF"/>
            </a:solidFill>
            <a:prstDash val="solid"/>
            <a:headEnd type="triangle"/>
            <a:tailEnd type="triangle"/>
          </a:ln>
        </p:spPr>
      </p:sp>
      <p:sp>
        <p:nvSpPr>
          <p:cNvPr id="8" name="Text 5"/>
          <p:cNvSpPr txBox="1"/>
          <p:nvPr/>
        </p:nvSpPr>
        <p:spPr>
          <a:xfrm>
            <a:off x="5486400" y="566928"/>
            <a:ext cx="5486400" cy="256032"/>
          </a:xfrm>
          <a:prstGeom prst="rect">
            <a:avLst/>
          </a:prstGeom>
          <a:noFill/>
          <a:ln/>
        </p:spPr>
        <p:txBody>
          <a:bodyPr wrap="square" lIns="0" tIns="0" rIns="0" bIns="0" rtlCol="0" anchor="t"/>
          <a:lstStyle/>
          <a:p>
            <a:pPr marL="0" indent="0" algn="ctr">
              <a:buNone/>
            </a:pPr>
            <a:r>
              <a:rPr lang="en-US" sz="1100" dirty="0">
                <a:solidFill>
                  <a:srgbClr val="2EA8FF"/>
                </a:solidFill>
                <a:latin typeface="Calibri" pitchFamily="34" charset="0"/>
                <a:ea typeface="Calibri" pitchFamily="34" charset="-122"/>
                <a:cs typeface="Calibri" pitchFamily="34" charset="-120"/>
              </a:rPr>
              <a:t>35.5 cm  [confirm]</a:t>
            </a:r>
            <a:endParaRPr lang="en-US" sz="1100" dirty="0"/>
          </a:p>
        </p:txBody>
      </p:sp>
      <p:sp>
        <p:nvSpPr>
          <p:cNvPr id="9" name="Shape 6"/>
          <p:cNvSpPr/>
          <p:nvPr/>
        </p:nvSpPr>
        <p:spPr>
          <a:xfrm>
            <a:off x="5212080" y="1188720"/>
            <a:ext cx="0" cy="3108960"/>
          </a:xfrm>
          <a:prstGeom prst="line">
            <a:avLst/>
          </a:prstGeom>
          <a:noFill/>
          <a:ln w="12700">
            <a:solidFill>
              <a:srgbClr val="2EA8FF"/>
            </a:solidFill>
            <a:prstDash val="solid"/>
            <a:headEnd type="triangle"/>
            <a:tailEnd type="triangle"/>
          </a:ln>
        </p:spPr>
      </p:sp>
      <p:sp>
        <p:nvSpPr>
          <p:cNvPr id="10" name="Text 7"/>
          <p:cNvSpPr txBox="1"/>
          <p:nvPr/>
        </p:nvSpPr>
        <p:spPr>
          <a:xfrm>
            <a:off x="4572000" y="2560320"/>
            <a:ext cx="594360" cy="274320"/>
          </a:xfrm>
          <a:prstGeom prst="rect">
            <a:avLst/>
          </a:prstGeom>
          <a:noFill/>
          <a:ln/>
        </p:spPr>
        <p:txBody>
          <a:bodyPr wrap="square" lIns="0" tIns="0" rIns="0" bIns="0" rtlCol="0" anchor="t"/>
          <a:lstStyle/>
          <a:p>
            <a:pPr marL="0" indent="0" algn="r">
              <a:buNone/>
            </a:pPr>
            <a:r>
              <a:rPr lang="en-US" sz="1100" dirty="0">
                <a:solidFill>
                  <a:srgbClr val="2EA8FF"/>
                </a:solidFill>
                <a:latin typeface="Calibri" pitchFamily="34" charset="0"/>
                <a:ea typeface="Calibri" pitchFamily="34" charset="-122"/>
                <a:cs typeface="Calibri" pitchFamily="34" charset="-120"/>
              </a:rPr>
              <a:t>30 cm</a:t>
            </a:r>
            <a:endParaRPr lang="en-US" sz="1100" dirty="0"/>
          </a:p>
        </p:txBody>
      </p:sp>
      <p:sp>
        <p:nvSpPr>
          <p:cNvPr id="11" name="Shape 8"/>
          <p:cNvSpPr/>
          <p:nvPr/>
        </p:nvSpPr>
        <p:spPr>
          <a:xfrm>
            <a:off x="5486400" y="1188720"/>
            <a:ext cx="5486400" cy="3108960"/>
          </a:xfrm>
          <a:prstGeom prst="rect">
            <a:avLst/>
          </a:prstGeom>
          <a:solidFill>
            <a:srgbClr val="101C30"/>
          </a:solidFill>
          <a:ln w="12700">
            <a:solidFill>
              <a:srgbClr val="8FA3BC"/>
            </a:solidFill>
            <a:prstDash val="dash"/>
          </a:ln>
        </p:spPr>
      </p:sp>
      <p:sp>
        <p:nvSpPr>
          <p:cNvPr id="12" name="Text 9"/>
          <p:cNvSpPr txBox="1"/>
          <p:nvPr/>
        </p:nvSpPr>
        <p:spPr>
          <a:xfrm>
            <a:off x="5486400" y="1188720"/>
            <a:ext cx="5486400" cy="3108960"/>
          </a:xfrm>
          <a:prstGeom prst="rect">
            <a:avLst/>
          </a:prstGeom>
          <a:noFill/>
          <a:ln/>
        </p:spPr>
        <p:txBody>
          <a:bodyPr wrap="square" lIns="0" tIns="0" rIns="0" bIns="0" rtlCol="0" anchor="ctr"/>
          <a:lstStyle/>
          <a:p>
            <a:pPr marL="0" indent="0" algn="ctr">
              <a:buNone/>
            </a:pPr>
            <a:r>
              <a:rPr lang="en-US" sz="1600" i="1" dirty="0">
                <a:solidFill>
                  <a:srgbClr val="8FA3BC"/>
                </a:solidFill>
                <a:latin typeface="Calibri" pitchFamily="34" charset="0"/>
                <a:ea typeface="Calibri" pitchFamily="34" charset="-122"/>
                <a:cs typeface="Calibri" pitchFamily="34" charset="-120"/>
              </a:rPr>
              <a:t>[Insert photo: PLUTO full robot]</a:t>
            </a:r>
            <a:endParaRPr lang="en-US" sz="1600" dirty="0"/>
          </a:p>
        </p:txBody>
      </p:sp>
      <p:sp>
        <p:nvSpPr>
          <p:cNvPr id="13" name="Text 10"/>
          <p:cNvSpPr txBox="1"/>
          <p:nvPr/>
        </p:nvSpPr>
        <p:spPr>
          <a:xfrm>
            <a:off x="5486400" y="4370832"/>
            <a:ext cx="5486400" cy="256032"/>
          </a:xfrm>
          <a:prstGeom prst="rect">
            <a:avLst/>
          </a:prstGeom>
          <a:noFill/>
          <a:ln/>
        </p:spPr>
        <p:txBody>
          <a:bodyPr wrap="square" lIns="0" tIns="0" rIns="0" bIns="0" rtlCol="0" anchor="t"/>
          <a:lstStyle/>
          <a:p>
            <a:pPr marL="0" indent="0" algn="ctr">
              <a:buNone/>
            </a:pPr>
            <a:r>
              <a:rPr lang="en-US" sz="1100" dirty="0">
                <a:solidFill>
                  <a:srgbClr val="2EA8FF"/>
                </a:solidFill>
                <a:latin typeface="Calibri" pitchFamily="34" charset="0"/>
                <a:ea typeface="Calibri" pitchFamily="34" charset="-122"/>
                <a:cs typeface="Calibri" pitchFamily="34" charset="-120"/>
              </a:rPr>
              <a:t>width 22 cm  [confirm]</a:t>
            </a:r>
            <a:endParaRPr lang="en-US" sz="1100" dirty="0"/>
          </a:p>
        </p:txBody>
      </p:sp>
      <p:sp>
        <p:nvSpPr>
          <p:cNvPr id="14" name="Text 11"/>
          <p:cNvSpPr txBox="1"/>
          <p:nvPr/>
        </p:nvSpPr>
        <p:spPr>
          <a:xfrm>
            <a:off x="4663440" y="4800600"/>
            <a:ext cx="3657600" cy="256032"/>
          </a:xfrm>
          <a:prstGeom prst="rect">
            <a:avLst/>
          </a:prstGeom>
          <a:noFill/>
          <a:ln/>
        </p:spPr>
        <p:txBody>
          <a:bodyPr wrap="square" lIns="0" tIns="0" rIns="0" bIns="0" rtlCol="0" anchor="t"/>
          <a:lstStyle/>
          <a:p>
            <a:pPr marL="0" indent="0">
              <a:buNone/>
            </a:pPr>
            <a:r>
              <a:rPr lang="en-US" sz="1100" b="1" kern="0" spc="300" dirty="0">
                <a:solidFill>
                  <a:srgbClr val="2EA8FF"/>
                </a:solidFill>
                <a:latin typeface="Calibri" pitchFamily="34" charset="0"/>
                <a:ea typeface="Calibri" pitchFamily="34" charset="-122"/>
                <a:cs typeface="Calibri" pitchFamily="34" charset="-120"/>
              </a:rPr>
              <a:t>MOTION ROUTINES</a:t>
            </a:r>
            <a:endParaRPr lang="en-US" sz="1100" dirty="0"/>
          </a:p>
        </p:txBody>
      </p:sp>
      <p:sp>
        <p:nvSpPr>
          <p:cNvPr id="15" name="Shape 12"/>
          <p:cNvSpPr/>
          <p:nvPr/>
        </p:nvSpPr>
        <p:spPr>
          <a:xfrm>
            <a:off x="4663440" y="5120640"/>
            <a:ext cx="1188720" cy="457200"/>
          </a:xfrm>
          <a:prstGeom prst="rect">
            <a:avLst/>
          </a:prstGeom>
          <a:solidFill>
            <a:srgbClr val="0A1220"/>
          </a:solidFill>
          <a:ln w="9525">
            <a:solidFill>
              <a:srgbClr val="2EA8FF"/>
            </a:solidFill>
            <a:prstDash val="solid"/>
          </a:ln>
        </p:spPr>
      </p:sp>
      <p:sp>
        <p:nvSpPr>
          <p:cNvPr id="16" name="Text 13"/>
          <p:cNvSpPr txBox="1"/>
          <p:nvPr/>
        </p:nvSpPr>
        <p:spPr>
          <a:xfrm>
            <a:off x="4663440" y="5120640"/>
            <a:ext cx="1188720" cy="457200"/>
          </a:xfrm>
          <a:prstGeom prst="rect">
            <a:avLst/>
          </a:prstGeom>
          <a:noFill/>
          <a:ln/>
        </p:spPr>
        <p:txBody>
          <a:bodyPr wrap="square" lIns="0" tIns="0" rIns="0" bIns="0" rtlCol="0" anchor="ctr"/>
          <a:lstStyle/>
          <a:p>
            <a:pPr marL="0" indent="0" algn="ctr">
              <a:buNone/>
            </a:pPr>
            <a:r>
              <a:rPr lang="en-US" sz="1200" b="1" dirty="0">
                <a:solidFill>
                  <a:srgbClr val="2EA8FF"/>
                </a:solidFill>
                <a:latin typeface="Calibri" pitchFamily="34" charset="0"/>
                <a:ea typeface="Calibri" pitchFamily="34" charset="-122"/>
                <a:cs typeface="Calibri" pitchFamily="34" charset="-120"/>
              </a:rPr>
              <a:t>STAND</a:t>
            </a:r>
            <a:endParaRPr lang="en-US" sz="1200" dirty="0"/>
          </a:p>
        </p:txBody>
      </p:sp>
      <p:sp>
        <p:nvSpPr>
          <p:cNvPr id="17" name="Shape 14"/>
          <p:cNvSpPr/>
          <p:nvPr/>
        </p:nvSpPr>
        <p:spPr>
          <a:xfrm>
            <a:off x="5989320" y="5120640"/>
            <a:ext cx="1188720" cy="457200"/>
          </a:xfrm>
          <a:prstGeom prst="rect">
            <a:avLst/>
          </a:prstGeom>
          <a:solidFill>
            <a:srgbClr val="0A1220"/>
          </a:solidFill>
          <a:ln w="9525">
            <a:solidFill>
              <a:srgbClr val="2EA8FF"/>
            </a:solidFill>
            <a:prstDash val="solid"/>
          </a:ln>
        </p:spPr>
      </p:sp>
      <p:sp>
        <p:nvSpPr>
          <p:cNvPr id="18" name="Text 15"/>
          <p:cNvSpPr txBox="1"/>
          <p:nvPr/>
        </p:nvSpPr>
        <p:spPr>
          <a:xfrm>
            <a:off x="5989320" y="5120640"/>
            <a:ext cx="1188720" cy="457200"/>
          </a:xfrm>
          <a:prstGeom prst="rect">
            <a:avLst/>
          </a:prstGeom>
          <a:noFill/>
          <a:ln/>
        </p:spPr>
        <p:txBody>
          <a:bodyPr wrap="square" lIns="0" tIns="0" rIns="0" bIns="0" rtlCol="0" anchor="ctr"/>
          <a:lstStyle/>
          <a:p>
            <a:pPr marL="0" indent="0" algn="ctr">
              <a:buNone/>
            </a:pPr>
            <a:r>
              <a:rPr lang="en-US" sz="1200" b="1" dirty="0">
                <a:solidFill>
                  <a:srgbClr val="2EA8FF"/>
                </a:solidFill>
                <a:latin typeface="Calibri" pitchFamily="34" charset="0"/>
                <a:ea typeface="Calibri" pitchFamily="34" charset="-122"/>
                <a:cs typeface="Calibri" pitchFamily="34" charset="-120"/>
              </a:rPr>
              <a:t>SIT</a:t>
            </a:r>
            <a:endParaRPr lang="en-US" sz="1200" dirty="0"/>
          </a:p>
        </p:txBody>
      </p:sp>
      <p:sp>
        <p:nvSpPr>
          <p:cNvPr id="19" name="Shape 16"/>
          <p:cNvSpPr/>
          <p:nvPr/>
        </p:nvSpPr>
        <p:spPr>
          <a:xfrm>
            <a:off x="7315200" y="5120640"/>
            <a:ext cx="1188720" cy="457200"/>
          </a:xfrm>
          <a:prstGeom prst="rect">
            <a:avLst/>
          </a:prstGeom>
          <a:solidFill>
            <a:srgbClr val="0A1220"/>
          </a:solidFill>
          <a:ln w="9525">
            <a:solidFill>
              <a:srgbClr val="2EA8FF"/>
            </a:solidFill>
            <a:prstDash val="solid"/>
          </a:ln>
        </p:spPr>
      </p:sp>
      <p:sp>
        <p:nvSpPr>
          <p:cNvPr id="20" name="Text 17"/>
          <p:cNvSpPr txBox="1"/>
          <p:nvPr/>
        </p:nvSpPr>
        <p:spPr>
          <a:xfrm>
            <a:off x="7315200" y="5120640"/>
            <a:ext cx="1188720" cy="457200"/>
          </a:xfrm>
          <a:prstGeom prst="rect">
            <a:avLst/>
          </a:prstGeom>
          <a:noFill/>
          <a:ln/>
        </p:spPr>
        <p:txBody>
          <a:bodyPr wrap="square" lIns="0" tIns="0" rIns="0" bIns="0" rtlCol="0" anchor="ctr"/>
          <a:lstStyle/>
          <a:p>
            <a:pPr marL="0" indent="0" algn="ctr">
              <a:buNone/>
            </a:pPr>
            <a:r>
              <a:rPr lang="en-US" sz="1200" b="1" dirty="0">
                <a:solidFill>
                  <a:srgbClr val="2EA8FF"/>
                </a:solidFill>
                <a:latin typeface="Calibri" pitchFamily="34" charset="0"/>
                <a:ea typeface="Calibri" pitchFamily="34" charset="-122"/>
                <a:cs typeface="Calibri" pitchFamily="34" charset="-120"/>
              </a:rPr>
              <a:t>WALK</a:t>
            </a:r>
            <a:endParaRPr lang="en-US" sz="1200" dirty="0"/>
          </a:p>
        </p:txBody>
      </p:sp>
      <p:sp>
        <p:nvSpPr>
          <p:cNvPr id="21" name="Shape 18"/>
          <p:cNvSpPr/>
          <p:nvPr/>
        </p:nvSpPr>
        <p:spPr>
          <a:xfrm>
            <a:off x="8641080" y="5120640"/>
            <a:ext cx="1188720" cy="457200"/>
          </a:xfrm>
          <a:prstGeom prst="rect">
            <a:avLst/>
          </a:prstGeom>
          <a:solidFill>
            <a:srgbClr val="0A1220"/>
          </a:solidFill>
          <a:ln w="9525">
            <a:solidFill>
              <a:srgbClr val="2EA8FF"/>
            </a:solidFill>
            <a:prstDash val="solid"/>
          </a:ln>
        </p:spPr>
      </p:sp>
      <p:sp>
        <p:nvSpPr>
          <p:cNvPr id="22" name="Text 19"/>
          <p:cNvSpPr txBox="1"/>
          <p:nvPr/>
        </p:nvSpPr>
        <p:spPr>
          <a:xfrm>
            <a:off x="8641080" y="5120640"/>
            <a:ext cx="1188720" cy="457200"/>
          </a:xfrm>
          <a:prstGeom prst="rect">
            <a:avLst/>
          </a:prstGeom>
          <a:noFill/>
          <a:ln/>
        </p:spPr>
        <p:txBody>
          <a:bodyPr wrap="square" lIns="0" tIns="0" rIns="0" bIns="0" rtlCol="0" anchor="ctr"/>
          <a:lstStyle/>
          <a:p>
            <a:pPr marL="0" indent="0" algn="ctr">
              <a:buNone/>
            </a:pPr>
            <a:r>
              <a:rPr lang="en-US" sz="1200" b="1" dirty="0">
                <a:solidFill>
                  <a:srgbClr val="2EA8FF"/>
                </a:solidFill>
                <a:latin typeface="Calibri" pitchFamily="34" charset="0"/>
                <a:ea typeface="Calibri" pitchFamily="34" charset="-122"/>
                <a:cs typeface="Calibri" pitchFamily="34" charset="-120"/>
              </a:rPr>
              <a:t>BOW</a:t>
            </a:r>
            <a:endParaRPr lang="en-US" sz="1200" dirty="0"/>
          </a:p>
        </p:txBody>
      </p:sp>
      <p:sp>
        <p:nvSpPr>
          <p:cNvPr id="23" name="Shape 20"/>
          <p:cNvSpPr/>
          <p:nvPr/>
        </p:nvSpPr>
        <p:spPr>
          <a:xfrm>
            <a:off x="9966960" y="5120640"/>
            <a:ext cx="1463040" cy="457200"/>
          </a:xfrm>
          <a:prstGeom prst="rect">
            <a:avLst/>
          </a:prstGeom>
          <a:solidFill>
            <a:srgbClr val="0A1220"/>
          </a:solidFill>
          <a:ln w="9525">
            <a:solidFill>
              <a:srgbClr val="2EA8FF"/>
            </a:solidFill>
            <a:prstDash val="solid"/>
          </a:ln>
        </p:spPr>
      </p:sp>
      <p:sp>
        <p:nvSpPr>
          <p:cNvPr id="24" name="Text 21"/>
          <p:cNvSpPr txBox="1"/>
          <p:nvPr/>
        </p:nvSpPr>
        <p:spPr>
          <a:xfrm>
            <a:off x="9966960" y="5120640"/>
            <a:ext cx="1463040" cy="457200"/>
          </a:xfrm>
          <a:prstGeom prst="rect">
            <a:avLst/>
          </a:prstGeom>
          <a:noFill/>
          <a:ln/>
        </p:spPr>
        <p:txBody>
          <a:bodyPr wrap="square" lIns="0" tIns="0" rIns="0" bIns="0" rtlCol="0" anchor="ctr"/>
          <a:lstStyle/>
          <a:p>
            <a:pPr marL="0" indent="0" algn="ctr">
              <a:buNone/>
            </a:pPr>
            <a:r>
              <a:rPr lang="en-US" sz="1200" b="1" dirty="0">
                <a:solidFill>
                  <a:srgbClr val="2EA8FF"/>
                </a:solidFill>
                <a:latin typeface="Calibri" pitchFamily="34" charset="0"/>
                <a:ea typeface="Calibri" pitchFamily="34" charset="-122"/>
                <a:cs typeface="Calibri" pitchFamily="34" charset="-120"/>
              </a:rPr>
              <a:t>HANDSHAKE</a:t>
            </a:r>
            <a:endParaRPr lang="en-US" sz="1200" dirty="0"/>
          </a:p>
        </p:txBody>
      </p:sp>
      <p:sp>
        <p:nvSpPr>
          <p:cNvPr id="6"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9</a:t>
            </a:fld>
            <a:endParaRPr lang="en-US"/>
          </a:p>
        </p:txBody>
      </p:sp>
      <p:cxnSp>
        <p:nvCxnSpPr>
          <p:cNvPr id="27" name="Straight Connector 26"/>
          <p:cNvCxnSpPr/>
          <p:nvPr/>
        </p:nvCxnSpPr>
        <p:spPr>
          <a:xfrm>
            <a:off x="287383" y="1915886"/>
            <a:ext cx="4010297"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09  DEMONSTRATION</a:t>
            </a:r>
            <a:endParaRPr lang="en-US" sz="1100" dirty="0"/>
          </a:p>
        </p:txBody>
      </p:sp>
      <p:sp>
        <p:nvSpPr>
          <p:cNvPr id="3" name="Text 46"/>
          <p:cNvSpPr>
            <a:spLocks noGrp="1"/>
          </p:cNvSpPr>
          <p:nvPr>
            <p:ph type="title" idx="147" hasCustomPrompt="1"/>
          </p:nvPr>
        </p:nvSpPr>
        <p:spPr>
          <a:xfrm>
            <a:off x="548640" y="777240"/>
            <a:ext cx="3749040" cy="1463040"/>
          </a:xfrm>
          <a:prstGeom prst="rect">
            <a:avLst/>
          </a:prstGeom>
          <a:noFill/>
          <a:ln/>
        </p:spPr>
        <p:txBody>
          <a:bodyPr wrap="square" lIns="0" tIns="0" rIns="0" bIns="0" rtlCol="0" anchor="t"/>
          <a:lstStyle/>
          <a:p>
            <a:pPr marL="0" indent="0" algn="l">
              <a:buNone/>
            </a:pPr>
            <a:r>
              <a:rPr lang="en-US" dirty="0" smtClean="0"/>
              <a:t>TURNING COMMAND TO MOTION</a:t>
            </a:r>
            <a:endParaRPr lang="en-US" sz="3000" dirty="0"/>
          </a:p>
        </p:txBody>
      </p:sp>
      <p:sp>
        <p:nvSpPr>
          <p:cNvPr id="4" name="Text 46"/>
          <p:cNvSpPr>
            <a:spLocks noGrp="1"/>
          </p:cNvSpPr>
          <p:nvPr>
            <p:ph type="body" idx="148" hasCustomPrompt="1"/>
          </p:nvPr>
        </p:nvSpPr>
        <p:spPr>
          <a:xfrm>
            <a:off x="548640" y="2377440"/>
            <a:ext cx="3657600" cy="868680"/>
          </a:xfrm>
          <a:prstGeom prst="rect">
            <a:avLst/>
          </a:prstGeom>
          <a:noFill/>
          <a:ln/>
        </p:spPr>
        <p:txBody>
          <a:bodyPr wrap="square" lIns="0" tIns="0" rIns="0" bIns="0" rtlCol="0" anchor="t"/>
          <a:lstStyle/>
          <a:p>
            <a:pPr marL="0" indent="0">
              <a:buNone/>
            </a:pPr>
            <a:r>
              <a:rPr lang="en-US" sz="1600" b="1" dirty="0">
                <a:solidFill>
                  <a:srgbClr val="2EA8FF"/>
                </a:solidFill>
              </a:rPr>
              <a:t>The prototype running its routines on a controlled surface.</a:t>
            </a:r>
            <a:endParaRPr lang="en-US" sz="16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400" dirty="0">
                <a:solidFill>
                  <a:srgbClr val="8FA3BC"/>
                </a:solidFill>
              </a:rPr>
              <a:t>Watch the chain in action: a spoken command, recognition by the VC02, then the matching routine on all 12 joints.</a:t>
            </a:r>
            <a:endParaRPr lang="en-US" sz="1400" dirty="0"/>
          </a:p>
          <a:p>
            <a:pPr marL="0" indent="0">
              <a:spcAft>
                <a:spcPts val="900"/>
              </a:spcAft>
              <a:buNone/>
            </a:pPr>
            <a:r>
              <a:rPr lang="en-US" sz="1400" dirty="0">
                <a:solidFill>
                  <a:srgbClr val="8FA3BC"/>
                </a:solidFill>
              </a:rPr>
              <a:t>These are programmed motions, not decisions made by the robot.</a:t>
            </a:r>
            <a:endParaRPr lang="en-US" sz="1400" dirty="0"/>
          </a:p>
        </p:txBody>
      </p:sp>
      <p:sp>
        <p:nvSpPr>
          <p:cNvPr id="9" name="Text 6"/>
          <p:cNvSpPr txBox="1"/>
          <p:nvPr/>
        </p:nvSpPr>
        <p:spPr>
          <a:xfrm>
            <a:off x="6679476" y="1038500"/>
            <a:ext cx="3117667" cy="302632"/>
          </a:xfrm>
          <a:prstGeom prst="rect">
            <a:avLst/>
          </a:prstGeom>
          <a:noFill/>
          <a:ln/>
        </p:spPr>
        <p:txBody>
          <a:bodyPr wrap="square" lIns="0" tIns="0" rIns="0" bIns="0" rtlCol="0" anchor="t"/>
          <a:lstStyle/>
          <a:p>
            <a:pPr marL="0" indent="0" algn="ctr">
              <a:buNone/>
            </a:pPr>
            <a:r>
              <a:rPr lang="en-US" sz="1600" b="1" kern="0" spc="300" dirty="0">
                <a:solidFill>
                  <a:srgbClr val="2EA8FF"/>
                </a:solidFill>
                <a:latin typeface="Calibri" pitchFamily="34" charset="0"/>
                <a:ea typeface="Calibri" pitchFamily="34" charset="-122"/>
                <a:cs typeface="Calibri" pitchFamily="34" charset="-120"/>
              </a:rPr>
              <a:t>WHAT TO WATCH</a:t>
            </a:r>
            <a:endParaRPr lang="en-US" sz="1600" dirty="0"/>
          </a:p>
        </p:txBody>
      </p:sp>
      <p:sp>
        <p:nvSpPr>
          <p:cNvPr id="10" name="Shape 7"/>
          <p:cNvSpPr/>
          <p:nvPr/>
        </p:nvSpPr>
        <p:spPr>
          <a:xfrm>
            <a:off x="5835614" y="1828800"/>
            <a:ext cx="1463040" cy="1097280"/>
          </a:xfrm>
          <a:prstGeom prst="rect">
            <a:avLst/>
          </a:prstGeom>
          <a:solidFill>
            <a:srgbClr val="101C30"/>
          </a:solidFill>
          <a:ln w="12700">
            <a:solidFill>
              <a:srgbClr val="2EA8FF"/>
            </a:solidFill>
            <a:prstDash val="solid"/>
          </a:ln>
        </p:spPr>
      </p:sp>
      <p:sp>
        <p:nvSpPr>
          <p:cNvPr id="11" name="Text 8"/>
          <p:cNvSpPr txBox="1"/>
          <p:nvPr/>
        </p:nvSpPr>
        <p:spPr>
          <a:xfrm>
            <a:off x="5881334" y="1828800"/>
            <a:ext cx="1371600" cy="1097280"/>
          </a:xfrm>
          <a:prstGeom prst="rect">
            <a:avLst/>
          </a:prstGeom>
          <a:noFill/>
          <a:ln/>
        </p:spPr>
        <p:txBody>
          <a:bodyPr wrap="square" lIns="0" tIns="0" rIns="0" bIns="0" rtlCol="0" anchor="ctr"/>
          <a:lstStyle/>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COMMAND</a:t>
            </a:r>
            <a:endParaRPr lang="en-US" sz="1300" dirty="0"/>
          </a:p>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SPOKEN</a:t>
            </a:r>
            <a:endParaRPr lang="en-US" sz="1300" dirty="0"/>
          </a:p>
        </p:txBody>
      </p:sp>
      <p:sp>
        <p:nvSpPr>
          <p:cNvPr id="12" name="Shape 9"/>
          <p:cNvSpPr/>
          <p:nvPr/>
        </p:nvSpPr>
        <p:spPr>
          <a:xfrm>
            <a:off x="7344373" y="2420985"/>
            <a:ext cx="1771977" cy="0"/>
          </a:xfrm>
          <a:prstGeom prst="line">
            <a:avLst/>
          </a:prstGeom>
          <a:noFill/>
          <a:ln w="15875">
            <a:solidFill>
              <a:srgbClr val="2EA8FF"/>
            </a:solidFill>
            <a:prstDash val="solid"/>
            <a:tailEnd type="triangle"/>
          </a:ln>
        </p:spPr>
      </p:sp>
      <p:sp>
        <p:nvSpPr>
          <p:cNvPr id="13" name="Shape 10"/>
          <p:cNvSpPr/>
          <p:nvPr/>
        </p:nvSpPr>
        <p:spPr>
          <a:xfrm>
            <a:off x="9116351" y="1852748"/>
            <a:ext cx="1463040" cy="1097280"/>
          </a:xfrm>
          <a:prstGeom prst="rect">
            <a:avLst/>
          </a:prstGeom>
          <a:solidFill>
            <a:srgbClr val="101C30"/>
          </a:solidFill>
          <a:ln w="12700">
            <a:solidFill>
              <a:srgbClr val="2EA8FF"/>
            </a:solidFill>
            <a:prstDash val="solid"/>
          </a:ln>
        </p:spPr>
      </p:sp>
      <p:sp>
        <p:nvSpPr>
          <p:cNvPr id="14" name="Text 11"/>
          <p:cNvSpPr txBox="1"/>
          <p:nvPr/>
        </p:nvSpPr>
        <p:spPr>
          <a:xfrm>
            <a:off x="9162071" y="1867991"/>
            <a:ext cx="1371600" cy="1097280"/>
          </a:xfrm>
          <a:prstGeom prst="rect">
            <a:avLst/>
          </a:prstGeom>
          <a:noFill/>
          <a:ln/>
        </p:spPr>
        <p:txBody>
          <a:bodyPr wrap="square" lIns="0" tIns="0" rIns="0" bIns="0" rtlCol="0" anchor="ctr"/>
          <a:lstStyle/>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VC02</a:t>
            </a:r>
            <a:endParaRPr lang="en-US" sz="1300" dirty="0"/>
          </a:p>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RECOGNISES</a:t>
            </a:r>
            <a:endParaRPr lang="en-US" sz="1300" dirty="0"/>
          </a:p>
        </p:txBody>
      </p:sp>
      <p:sp>
        <p:nvSpPr>
          <p:cNvPr id="15" name="Shape 12"/>
          <p:cNvSpPr/>
          <p:nvPr/>
        </p:nvSpPr>
        <p:spPr>
          <a:xfrm>
            <a:off x="9797143" y="2950028"/>
            <a:ext cx="0" cy="820786"/>
          </a:xfrm>
          <a:prstGeom prst="line">
            <a:avLst/>
          </a:prstGeom>
          <a:noFill/>
          <a:ln w="15875">
            <a:solidFill>
              <a:srgbClr val="2EA8FF"/>
            </a:solidFill>
            <a:prstDash val="solid"/>
            <a:tailEnd type="triangle"/>
          </a:ln>
        </p:spPr>
      </p:sp>
      <p:sp>
        <p:nvSpPr>
          <p:cNvPr id="16" name="Shape 13"/>
          <p:cNvSpPr/>
          <p:nvPr/>
        </p:nvSpPr>
        <p:spPr>
          <a:xfrm>
            <a:off x="9081517" y="3755571"/>
            <a:ext cx="1463040" cy="1097280"/>
          </a:xfrm>
          <a:prstGeom prst="rect">
            <a:avLst/>
          </a:prstGeom>
          <a:solidFill>
            <a:srgbClr val="101C30"/>
          </a:solidFill>
          <a:ln w="12700">
            <a:solidFill>
              <a:srgbClr val="2EA8FF"/>
            </a:solidFill>
            <a:prstDash val="solid"/>
          </a:ln>
        </p:spPr>
      </p:sp>
      <p:sp>
        <p:nvSpPr>
          <p:cNvPr id="17" name="Text 14"/>
          <p:cNvSpPr txBox="1"/>
          <p:nvPr/>
        </p:nvSpPr>
        <p:spPr>
          <a:xfrm>
            <a:off x="9116351" y="3740328"/>
            <a:ext cx="1371600" cy="1097280"/>
          </a:xfrm>
          <a:prstGeom prst="rect">
            <a:avLst/>
          </a:prstGeom>
          <a:noFill/>
          <a:ln/>
        </p:spPr>
        <p:txBody>
          <a:bodyPr wrap="square" lIns="0" tIns="0" rIns="0" bIns="0" rtlCol="0" anchor="ctr"/>
          <a:lstStyle/>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ARDUINO</a:t>
            </a:r>
            <a:endParaRPr lang="en-US" sz="1300" dirty="0"/>
          </a:p>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RUNS ROUTINE</a:t>
            </a:r>
            <a:endParaRPr lang="en-US" sz="1300" dirty="0"/>
          </a:p>
        </p:txBody>
      </p:sp>
      <p:sp>
        <p:nvSpPr>
          <p:cNvPr id="18" name="Shape 15"/>
          <p:cNvSpPr/>
          <p:nvPr/>
        </p:nvSpPr>
        <p:spPr>
          <a:xfrm flipH="1">
            <a:off x="7344373" y="4225833"/>
            <a:ext cx="1771977" cy="0"/>
          </a:xfrm>
          <a:prstGeom prst="line">
            <a:avLst/>
          </a:prstGeom>
          <a:noFill/>
          <a:ln w="15875">
            <a:solidFill>
              <a:srgbClr val="2EA8FF"/>
            </a:solidFill>
            <a:prstDash val="solid"/>
            <a:tailEnd type="triangle"/>
          </a:ln>
        </p:spPr>
      </p:sp>
      <p:sp>
        <p:nvSpPr>
          <p:cNvPr id="19" name="Shape 16"/>
          <p:cNvSpPr/>
          <p:nvPr/>
        </p:nvSpPr>
        <p:spPr>
          <a:xfrm>
            <a:off x="5881334" y="3646715"/>
            <a:ext cx="1463040" cy="1097280"/>
          </a:xfrm>
          <a:prstGeom prst="rect">
            <a:avLst/>
          </a:prstGeom>
          <a:solidFill>
            <a:srgbClr val="101C30"/>
          </a:solidFill>
          <a:ln w="12700">
            <a:solidFill>
              <a:srgbClr val="2EA8FF"/>
            </a:solidFill>
            <a:prstDash val="solid"/>
          </a:ln>
        </p:spPr>
      </p:sp>
      <p:sp>
        <p:nvSpPr>
          <p:cNvPr id="20" name="Text 17"/>
          <p:cNvSpPr txBox="1"/>
          <p:nvPr/>
        </p:nvSpPr>
        <p:spPr>
          <a:xfrm>
            <a:off x="5916167" y="3646715"/>
            <a:ext cx="1371600" cy="1097280"/>
          </a:xfrm>
          <a:prstGeom prst="rect">
            <a:avLst/>
          </a:prstGeom>
          <a:noFill/>
          <a:ln/>
        </p:spPr>
        <p:txBody>
          <a:bodyPr wrap="square" lIns="0" tIns="0" rIns="0" bIns="0" rtlCol="0" anchor="ctr"/>
          <a:lstStyle/>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12 JOINTS</a:t>
            </a:r>
            <a:endParaRPr lang="en-US" sz="1300" dirty="0"/>
          </a:p>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MOVE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10</a:t>
            </a:fld>
            <a:endParaRPr lang="en-US"/>
          </a:p>
        </p:txBody>
      </p:sp>
      <p:cxnSp>
        <p:nvCxnSpPr>
          <p:cNvPr id="28" name="Straight Connector 27"/>
          <p:cNvCxnSpPr/>
          <p:nvPr/>
        </p:nvCxnSpPr>
        <p:spPr>
          <a:xfrm flipV="1">
            <a:off x="296091" y="1828800"/>
            <a:ext cx="3910149" cy="3919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10  PURPOSEFUL UPGRADE</a:t>
            </a:r>
            <a:endParaRPr lang="en-US" sz="1100" dirty="0"/>
          </a:p>
        </p:txBody>
      </p:sp>
      <p:sp>
        <p:nvSpPr>
          <p:cNvPr id="3" name="Text 46"/>
          <p:cNvSpPr>
            <a:spLocks noGrp="1"/>
          </p:cNvSpPr>
          <p:nvPr>
            <p:ph type="title" idx="147" hasCustomPrompt="1"/>
          </p:nvPr>
        </p:nvSpPr>
        <p:spPr>
          <a:xfrm>
            <a:off x="548640" y="777240"/>
            <a:ext cx="3749040" cy="1463040"/>
          </a:xfrm>
          <a:prstGeom prst="rect">
            <a:avLst/>
          </a:prstGeom>
          <a:noFill/>
          <a:ln/>
        </p:spPr>
        <p:txBody>
          <a:bodyPr wrap="square" lIns="0" tIns="0" rIns="0" bIns="0" rtlCol="0" anchor="t"/>
          <a:lstStyle/>
          <a:p>
            <a:pPr marL="0" indent="0" algn="l">
              <a:buNone/>
            </a:pPr>
            <a:r>
              <a:rPr lang="en-US" sz="3000" b="1" kern="0" spc="100" dirty="0">
                <a:solidFill>
                  <a:srgbClr val="E6EEF8"/>
                </a:solidFill>
              </a:rPr>
              <a:t>PROPOSED: GIVE PLUTO SENSES</a:t>
            </a:r>
            <a:endParaRPr lang="en-US" sz="3000" dirty="0"/>
          </a:p>
        </p:txBody>
      </p:sp>
      <p:sp>
        <p:nvSpPr>
          <p:cNvPr id="4" name="Text 46"/>
          <p:cNvSpPr>
            <a:spLocks noGrp="1"/>
          </p:cNvSpPr>
          <p:nvPr>
            <p:ph type="body" idx="148" hasCustomPrompt="1"/>
          </p:nvPr>
        </p:nvSpPr>
        <p:spPr>
          <a:xfrm>
            <a:off x="548640" y="2377440"/>
            <a:ext cx="3657600" cy="868680"/>
          </a:xfrm>
          <a:prstGeom prst="rect">
            <a:avLst/>
          </a:prstGeom>
          <a:noFill/>
          <a:ln/>
        </p:spPr>
        <p:txBody>
          <a:bodyPr wrap="square" lIns="0" tIns="0" rIns="0" bIns="0" rtlCol="0" anchor="t"/>
          <a:lstStyle/>
          <a:p>
            <a:pPr marL="0" indent="0">
              <a:buNone/>
            </a:pPr>
            <a:r>
              <a:rPr lang="en-US" sz="1400" b="1" dirty="0">
                <a:solidFill>
                  <a:srgbClr val="2EA8FF"/>
                </a:solidFill>
                <a:latin typeface="Calibri" pitchFamily="34" charset="0"/>
                <a:ea typeface="Calibri" pitchFamily="34" charset="-122"/>
                <a:cs typeface="Calibri" pitchFamily="34" charset="-120"/>
              </a:rPr>
              <a:t>Each module adds one piece of information the human operator needs.</a:t>
            </a:r>
            <a:endParaRPr lang="en-US" sz="14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Everything here is proposed and not installed.</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Camera, proximity sensing, LED illumination, temperature sensing and a wireless link would let the robot report back.</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A Raspberry Pi comes later for processing and vision. Modules can be added one at a time.</a:t>
            </a:r>
            <a:endParaRPr lang="en-US" sz="1300" dirty="0"/>
          </a:p>
        </p:txBody>
      </p:sp>
      <p:sp>
        <p:nvSpPr>
          <p:cNvPr id="7" name="Shape 4"/>
          <p:cNvSpPr/>
          <p:nvPr/>
        </p:nvSpPr>
        <p:spPr>
          <a:xfrm>
            <a:off x="4663440" y="640080"/>
            <a:ext cx="2743200" cy="256032"/>
          </a:xfrm>
          <a:prstGeom prst="rect">
            <a:avLst/>
          </a:prstGeom>
          <a:solidFill>
            <a:srgbClr val="0A1220"/>
          </a:solidFill>
          <a:ln w="9525">
            <a:solidFill>
              <a:srgbClr val="5FB8B0"/>
            </a:solidFill>
            <a:prstDash val="dash"/>
          </a:ln>
        </p:spPr>
      </p:sp>
      <p:sp>
        <p:nvSpPr>
          <p:cNvPr id="8" name="Text 5"/>
          <p:cNvSpPr txBox="1"/>
          <p:nvPr/>
        </p:nvSpPr>
        <p:spPr>
          <a:xfrm>
            <a:off x="4663440" y="640080"/>
            <a:ext cx="2743200" cy="256032"/>
          </a:xfrm>
          <a:prstGeom prst="rect">
            <a:avLst/>
          </a:prstGeom>
          <a:noFill/>
          <a:ln/>
        </p:spPr>
        <p:txBody>
          <a:bodyPr wrap="square" lIns="0" tIns="0" rIns="0" bIns="0" rtlCol="0" anchor="ctr"/>
          <a:lstStyle/>
          <a:p>
            <a:pPr marL="0" indent="0" algn="ctr">
              <a:buNone/>
            </a:pPr>
            <a:r>
              <a:rPr lang="en-US" sz="900" b="1" kern="0" spc="200" dirty="0">
                <a:solidFill>
                  <a:srgbClr val="5FB8B0"/>
                </a:solidFill>
                <a:latin typeface="Calibri" pitchFamily="34" charset="0"/>
                <a:ea typeface="Calibri" pitchFamily="34" charset="-122"/>
                <a:cs typeface="Calibri" pitchFamily="34" charset="-120"/>
              </a:rPr>
              <a:t>PROPOSED  ·  NOT INSTALLED</a:t>
            </a:r>
            <a:endParaRPr lang="en-US" sz="900" dirty="0"/>
          </a:p>
        </p:txBody>
      </p:sp>
      <p:sp>
        <p:nvSpPr>
          <p:cNvPr id="9" name="Shape 6"/>
          <p:cNvSpPr/>
          <p:nvPr/>
        </p:nvSpPr>
        <p:spPr>
          <a:xfrm>
            <a:off x="4663440" y="1051560"/>
            <a:ext cx="2194560" cy="1645920"/>
          </a:xfrm>
          <a:prstGeom prst="rect">
            <a:avLst/>
          </a:prstGeom>
          <a:solidFill>
            <a:srgbClr val="101C30"/>
          </a:solidFill>
          <a:ln w="12700">
            <a:solidFill>
              <a:srgbClr val="5FB8B0"/>
            </a:solidFill>
            <a:prstDash val="dash"/>
          </a:ln>
        </p:spPr>
      </p:sp>
      <p:sp>
        <p:nvSpPr>
          <p:cNvPr id="10" name="Text 7"/>
          <p:cNvSpPr txBox="1"/>
          <p:nvPr/>
        </p:nvSpPr>
        <p:spPr>
          <a:xfrm>
            <a:off x="4828032" y="1188720"/>
            <a:ext cx="1920240" cy="548640"/>
          </a:xfrm>
          <a:prstGeom prst="rect">
            <a:avLst/>
          </a:prstGeom>
          <a:noFill/>
          <a:ln/>
        </p:spPr>
        <p:txBody>
          <a:bodyPr wrap="square" lIns="0" tIns="0" rIns="0" bIns="0" rtlCol="0" anchor="t"/>
          <a:lstStyle/>
          <a:p>
            <a:pPr marL="0" indent="0">
              <a:buNone/>
            </a:pPr>
            <a:r>
              <a:rPr lang="en-US" sz="1400" b="1" kern="0" spc="100" dirty="0">
                <a:solidFill>
                  <a:srgbClr val="5FB8B0"/>
                </a:solidFill>
                <a:latin typeface="Arial Narrow" pitchFamily="34" charset="0"/>
                <a:ea typeface="Arial Narrow" pitchFamily="34" charset="-122"/>
                <a:cs typeface="Arial Narrow" pitchFamily="34" charset="-120"/>
              </a:rPr>
              <a:t>CAMERA</a:t>
            </a:r>
            <a:endParaRPr lang="en-US" sz="1400" dirty="0"/>
          </a:p>
        </p:txBody>
      </p:sp>
      <p:sp>
        <p:nvSpPr>
          <p:cNvPr id="11" name="Text 8"/>
          <p:cNvSpPr txBox="1"/>
          <p:nvPr/>
        </p:nvSpPr>
        <p:spPr>
          <a:xfrm>
            <a:off x="4828032" y="1783080"/>
            <a:ext cx="1920240" cy="822960"/>
          </a:xfrm>
          <a:prstGeom prst="rect">
            <a:avLst/>
          </a:prstGeom>
          <a:noFill/>
          <a:ln/>
        </p:spPr>
        <p:txBody>
          <a:bodyPr wrap="square" lIns="0" tIns="0" rIns="0" bIns="0" rtlCol="0" anchor="t"/>
          <a:lstStyle/>
          <a:p>
            <a:pPr marL="0" indent="0">
              <a:buNone/>
            </a:pPr>
            <a:r>
              <a:rPr lang="en-US" sz="1200" dirty="0">
                <a:solidFill>
                  <a:srgbClr val="8FA3BC"/>
                </a:solidFill>
                <a:latin typeface="Calibri" pitchFamily="34" charset="0"/>
                <a:ea typeface="Calibri" pitchFamily="34" charset="-122"/>
                <a:cs typeface="Calibri" pitchFamily="34" charset="-120"/>
              </a:rPr>
              <a:t>Lets the operator see the space</a:t>
            </a:r>
            <a:endParaRPr lang="en-US" sz="1200" dirty="0"/>
          </a:p>
        </p:txBody>
      </p:sp>
      <p:sp>
        <p:nvSpPr>
          <p:cNvPr id="12" name="Shape 9"/>
          <p:cNvSpPr/>
          <p:nvPr/>
        </p:nvSpPr>
        <p:spPr>
          <a:xfrm>
            <a:off x="7040880" y="1051560"/>
            <a:ext cx="2194560" cy="1645920"/>
          </a:xfrm>
          <a:prstGeom prst="rect">
            <a:avLst/>
          </a:prstGeom>
          <a:solidFill>
            <a:srgbClr val="101C30"/>
          </a:solidFill>
          <a:ln w="12700">
            <a:solidFill>
              <a:srgbClr val="5FB8B0"/>
            </a:solidFill>
            <a:prstDash val="dash"/>
          </a:ln>
        </p:spPr>
      </p:sp>
      <p:sp>
        <p:nvSpPr>
          <p:cNvPr id="13" name="Text 10"/>
          <p:cNvSpPr txBox="1"/>
          <p:nvPr/>
        </p:nvSpPr>
        <p:spPr>
          <a:xfrm>
            <a:off x="7205472" y="1188720"/>
            <a:ext cx="1920240" cy="548640"/>
          </a:xfrm>
          <a:prstGeom prst="rect">
            <a:avLst/>
          </a:prstGeom>
          <a:noFill/>
          <a:ln/>
        </p:spPr>
        <p:txBody>
          <a:bodyPr wrap="square" lIns="0" tIns="0" rIns="0" bIns="0" rtlCol="0" anchor="t"/>
          <a:lstStyle/>
          <a:p>
            <a:pPr marL="0" indent="0">
              <a:buNone/>
            </a:pPr>
            <a:r>
              <a:rPr lang="en-US" sz="1400" b="1" kern="0" spc="100" dirty="0">
                <a:solidFill>
                  <a:srgbClr val="5FB8B0"/>
                </a:solidFill>
                <a:latin typeface="Arial Narrow" pitchFamily="34" charset="0"/>
                <a:ea typeface="Arial Narrow" pitchFamily="34" charset="-122"/>
                <a:cs typeface="Arial Narrow" pitchFamily="34" charset="-120"/>
              </a:rPr>
              <a:t>PROXIMITY SENSING</a:t>
            </a:r>
            <a:endParaRPr lang="en-US" sz="1400" dirty="0"/>
          </a:p>
        </p:txBody>
      </p:sp>
      <p:sp>
        <p:nvSpPr>
          <p:cNvPr id="14" name="Text 11"/>
          <p:cNvSpPr txBox="1"/>
          <p:nvPr/>
        </p:nvSpPr>
        <p:spPr>
          <a:xfrm>
            <a:off x="7205472" y="1783080"/>
            <a:ext cx="1920240" cy="822960"/>
          </a:xfrm>
          <a:prstGeom prst="rect">
            <a:avLst/>
          </a:prstGeom>
          <a:noFill/>
          <a:ln/>
        </p:spPr>
        <p:txBody>
          <a:bodyPr wrap="square" lIns="0" tIns="0" rIns="0" bIns="0" rtlCol="0" anchor="t"/>
          <a:lstStyle/>
          <a:p>
            <a:pPr marL="0" indent="0">
              <a:buNone/>
            </a:pPr>
            <a:r>
              <a:rPr lang="en-US" sz="1200" dirty="0">
                <a:solidFill>
                  <a:srgbClr val="8FA3BC"/>
                </a:solidFill>
                <a:latin typeface="Calibri" pitchFamily="34" charset="0"/>
                <a:ea typeface="Calibri" pitchFamily="34" charset="-122"/>
                <a:cs typeface="Calibri" pitchFamily="34" charset="-120"/>
              </a:rPr>
              <a:t>Detects nearby objects</a:t>
            </a:r>
            <a:endParaRPr lang="en-US" sz="1200" dirty="0"/>
          </a:p>
        </p:txBody>
      </p:sp>
      <p:sp>
        <p:nvSpPr>
          <p:cNvPr id="15" name="Shape 12"/>
          <p:cNvSpPr/>
          <p:nvPr/>
        </p:nvSpPr>
        <p:spPr>
          <a:xfrm>
            <a:off x="9418320" y="1051560"/>
            <a:ext cx="2194560" cy="1645920"/>
          </a:xfrm>
          <a:prstGeom prst="rect">
            <a:avLst/>
          </a:prstGeom>
          <a:solidFill>
            <a:srgbClr val="101C30"/>
          </a:solidFill>
          <a:ln w="12700">
            <a:solidFill>
              <a:srgbClr val="5FB8B0"/>
            </a:solidFill>
            <a:prstDash val="dash"/>
          </a:ln>
        </p:spPr>
      </p:sp>
      <p:sp>
        <p:nvSpPr>
          <p:cNvPr id="16" name="Text 13"/>
          <p:cNvSpPr txBox="1"/>
          <p:nvPr/>
        </p:nvSpPr>
        <p:spPr>
          <a:xfrm>
            <a:off x="9582912" y="1188720"/>
            <a:ext cx="1920240" cy="548640"/>
          </a:xfrm>
          <a:prstGeom prst="rect">
            <a:avLst/>
          </a:prstGeom>
          <a:noFill/>
          <a:ln/>
        </p:spPr>
        <p:txBody>
          <a:bodyPr wrap="square" lIns="0" tIns="0" rIns="0" bIns="0" rtlCol="0" anchor="t"/>
          <a:lstStyle/>
          <a:p>
            <a:pPr marL="0" indent="0">
              <a:buNone/>
            </a:pPr>
            <a:r>
              <a:rPr lang="en-US" sz="1400" b="1" kern="0" spc="100" dirty="0">
                <a:solidFill>
                  <a:srgbClr val="5FB8B0"/>
                </a:solidFill>
                <a:latin typeface="Arial Narrow" pitchFamily="34" charset="0"/>
                <a:ea typeface="Arial Narrow" pitchFamily="34" charset="-122"/>
                <a:cs typeface="Arial Narrow" pitchFamily="34" charset="-120"/>
              </a:rPr>
              <a:t>LED ILLUMINATION</a:t>
            </a:r>
            <a:endParaRPr lang="en-US" sz="1400" dirty="0"/>
          </a:p>
        </p:txBody>
      </p:sp>
      <p:sp>
        <p:nvSpPr>
          <p:cNvPr id="17" name="Text 14"/>
          <p:cNvSpPr txBox="1"/>
          <p:nvPr/>
        </p:nvSpPr>
        <p:spPr>
          <a:xfrm>
            <a:off x="9582912" y="1783080"/>
            <a:ext cx="1920240" cy="822960"/>
          </a:xfrm>
          <a:prstGeom prst="rect">
            <a:avLst/>
          </a:prstGeom>
          <a:noFill/>
          <a:ln/>
        </p:spPr>
        <p:txBody>
          <a:bodyPr wrap="square" lIns="0" tIns="0" rIns="0" bIns="0" rtlCol="0" anchor="t"/>
          <a:lstStyle/>
          <a:p>
            <a:pPr marL="0" indent="0">
              <a:buNone/>
            </a:pPr>
            <a:r>
              <a:rPr lang="en-US" sz="1200" dirty="0">
                <a:solidFill>
                  <a:srgbClr val="8FA3BC"/>
                </a:solidFill>
                <a:latin typeface="Calibri" pitchFamily="34" charset="0"/>
                <a:ea typeface="Calibri" pitchFamily="34" charset="-122"/>
                <a:cs typeface="Calibri" pitchFamily="34" charset="-120"/>
              </a:rPr>
              <a:t>Lights dark areas for the camera</a:t>
            </a:r>
            <a:endParaRPr lang="en-US" sz="1200" dirty="0"/>
          </a:p>
        </p:txBody>
      </p:sp>
      <p:sp>
        <p:nvSpPr>
          <p:cNvPr id="18" name="Shape 15"/>
          <p:cNvSpPr/>
          <p:nvPr/>
        </p:nvSpPr>
        <p:spPr>
          <a:xfrm>
            <a:off x="4663440" y="2880360"/>
            <a:ext cx="2194560" cy="1645920"/>
          </a:xfrm>
          <a:prstGeom prst="rect">
            <a:avLst/>
          </a:prstGeom>
          <a:solidFill>
            <a:srgbClr val="101C30"/>
          </a:solidFill>
          <a:ln w="12700">
            <a:solidFill>
              <a:srgbClr val="5FB8B0"/>
            </a:solidFill>
            <a:prstDash val="dash"/>
          </a:ln>
        </p:spPr>
      </p:sp>
      <p:sp>
        <p:nvSpPr>
          <p:cNvPr id="19" name="Text 16"/>
          <p:cNvSpPr txBox="1"/>
          <p:nvPr/>
        </p:nvSpPr>
        <p:spPr>
          <a:xfrm>
            <a:off x="4828032" y="3017520"/>
            <a:ext cx="1920240" cy="548640"/>
          </a:xfrm>
          <a:prstGeom prst="rect">
            <a:avLst/>
          </a:prstGeom>
          <a:noFill/>
          <a:ln/>
        </p:spPr>
        <p:txBody>
          <a:bodyPr wrap="square" lIns="0" tIns="0" rIns="0" bIns="0" rtlCol="0" anchor="t"/>
          <a:lstStyle/>
          <a:p>
            <a:pPr marL="0" indent="0">
              <a:buNone/>
            </a:pPr>
            <a:r>
              <a:rPr lang="en-US" sz="1400" b="1" kern="0" spc="100" dirty="0" smtClean="0">
                <a:solidFill>
                  <a:srgbClr val="5FB8B0"/>
                </a:solidFill>
                <a:latin typeface="Arial Narrow" pitchFamily="34" charset="0"/>
                <a:ea typeface="Arial Narrow" pitchFamily="34" charset="-122"/>
                <a:cs typeface="Arial Narrow" pitchFamily="34" charset="-120"/>
              </a:rPr>
              <a:t>VARIOUS </a:t>
            </a:r>
            <a:r>
              <a:rPr lang="en-US" sz="1400" b="1" kern="0" spc="100" dirty="0" smtClean="0">
                <a:solidFill>
                  <a:srgbClr val="5FB8B0"/>
                </a:solidFill>
                <a:latin typeface="Arial Narrow" pitchFamily="34" charset="0"/>
                <a:ea typeface="Arial Narrow" pitchFamily="34" charset="-122"/>
                <a:cs typeface="Arial Narrow" pitchFamily="34" charset="-120"/>
              </a:rPr>
              <a:t>SENSORS</a:t>
            </a:r>
            <a:endParaRPr lang="en-US" sz="1400" dirty="0"/>
          </a:p>
        </p:txBody>
      </p:sp>
      <p:sp>
        <p:nvSpPr>
          <p:cNvPr id="20" name="Text 17"/>
          <p:cNvSpPr txBox="1"/>
          <p:nvPr/>
        </p:nvSpPr>
        <p:spPr>
          <a:xfrm>
            <a:off x="4828032" y="3611880"/>
            <a:ext cx="1920240" cy="822960"/>
          </a:xfrm>
          <a:prstGeom prst="rect">
            <a:avLst/>
          </a:prstGeom>
          <a:noFill/>
          <a:ln/>
        </p:spPr>
        <p:txBody>
          <a:bodyPr wrap="square" lIns="0" tIns="0" rIns="0" bIns="0" rtlCol="0" anchor="t"/>
          <a:lstStyle/>
          <a:p>
            <a:pPr marL="0" indent="0">
              <a:buNone/>
            </a:pPr>
            <a:r>
              <a:rPr lang="en-US" sz="1200" dirty="0">
                <a:solidFill>
                  <a:srgbClr val="8FA3BC"/>
                </a:solidFill>
                <a:latin typeface="Calibri" pitchFamily="34" charset="0"/>
                <a:ea typeface="Calibri" pitchFamily="34" charset="-122"/>
                <a:cs typeface="Calibri" pitchFamily="34" charset="-120"/>
              </a:rPr>
              <a:t>Reports conditions to the </a:t>
            </a:r>
            <a:r>
              <a:rPr lang="en-US" sz="1200" dirty="0" smtClean="0">
                <a:solidFill>
                  <a:srgbClr val="8FA3BC"/>
                </a:solidFill>
                <a:latin typeface="Calibri" pitchFamily="34" charset="0"/>
                <a:ea typeface="Calibri" pitchFamily="34" charset="-122"/>
                <a:cs typeface="Calibri" pitchFamily="34" charset="-120"/>
              </a:rPr>
              <a:t>operator</a:t>
            </a:r>
          </a:p>
          <a:p>
            <a:pPr marL="0" indent="0">
              <a:buNone/>
            </a:pPr>
            <a:r>
              <a:rPr lang="en-US" sz="1200" dirty="0" smtClean="0">
                <a:solidFill>
                  <a:srgbClr val="8FA3BC"/>
                </a:solidFill>
                <a:latin typeface="Calibri" pitchFamily="34" charset="0"/>
                <a:ea typeface="Calibri" pitchFamily="34" charset="-122"/>
                <a:cs typeface="Calibri" pitchFamily="34" charset="-120"/>
              </a:rPr>
              <a:t>Sensors can be modified according to its applications</a:t>
            </a:r>
            <a:endParaRPr lang="en-US" sz="1200" dirty="0"/>
          </a:p>
        </p:txBody>
      </p:sp>
      <p:sp>
        <p:nvSpPr>
          <p:cNvPr id="21" name="Shape 18"/>
          <p:cNvSpPr/>
          <p:nvPr/>
        </p:nvSpPr>
        <p:spPr>
          <a:xfrm>
            <a:off x="7040880" y="2880360"/>
            <a:ext cx="2194560" cy="1645920"/>
          </a:xfrm>
          <a:prstGeom prst="rect">
            <a:avLst/>
          </a:prstGeom>
          <a:solidFill>
            <a:srgbClr val="101C30"/>
          </a:solidFill>
          <a:ln w="12700">
            <a:solidFill>
              <a:srgbClr val="5FB8B0"/>
            </a:solidFill>
            <a:prstDash val="dash"/>
          </a:ln>
        </p:spPr>
      </p:sp>
      <p:sp>
        <p:nvSpPr>
          <p:cNvPr id="22" name="Text 19"/>
          <p:cNvSpPr txBox="1"/>
          <p:nvPr/>
        </p:nvSpPr>
        <p:spPr>
          <a:xfrm>
            <a:off x="7205472" y="3017520"/>
            <a:ext cx="1920240" cy="548640"/>
          </a:xfrm>
          <a:prstGeom prst="rect">
            <a:avLst/>
          </a:prstGeom>
          <a:noFill/>
          <a:ln/>
        </p:spPr>
        <p:txBody>
          <a:bodyPr wrap="square" lIns="0" tIns="0" rIns="0" bIns="0" rtlCol="0" anchor="t"/>
          <a:lstStyle/>
          <a:p>
            <a:pPr marL="0" indent="0">
              <a:buNone/>
            </a:pPr>
            <a:r>
              <a:rPr lang="en-US" sz="1400" b="1" kern="0" spc="100" dirty="0">
                <a:solidFill>
                  <a:srgbClr val="5FB8B0"/>
                </a:solidFill>
                <a:latin typeface="Arial Narrow" pitchFamily="34" charset="0"/>
                <a:ea typeface="Arial Narrow" pitchFamily="34" charset="-122"/>
                <a:cs typeface="Arial Narrow" pitchFamily="34" charset="-120"/>
              </a:rPr>
              <a:t>WIRELESS LINK</a:t>
            </a:r>
            <a:endParaRPr lang="en-US" sz="1400" dirty="0"/>
          </a:p>
        </p:txBody>
      </p:sp>
      <p:sp>
        <p:nvSpPr>
          <p:cNvPr id="23" name="Text 20"/>
          <p:cNvSpPr txBox="1"/>
          <p:nvPr/>
        </p:nvSpPr>
        <p:spPr>
          <a:xfrm>
            <a:off x="7205472" y="3611880"/>
            <a:ext cx="1920240" cy="822960"/>
          </a:xfrm>
          <a:prstGeom prst="rect">
            <a:avLst/>
          </a:prstGeom>
          <a:noFill/>
          <a:ln/>
        </p:spPr>
        <p:txBody>
          <a:bodyPr wrap="square" lIns="0" tIns="0" rIns="0" bIns="0" rtlCol="0" anchor="t"/>
          <a:lstStyle/>
          <a:p>
            <a:pPr marL="0" indent="0">
              <a:buNone/>
            </a:pPr>
            <a:r>
              <a:rPr lang="en-US" sz="1200" dirty="0">
                <a:solidFill>
                  <a:srgbClr val="8FA3BC"/>
                </a:solidFill>
                <a:latin typeface="Calibri" pitchFamily="34" charset="0"/>
                <a:ea typeface="Calibri" pitchFamily="34" charset="-122"/>
                <a:cs typeface="Calibri" pitchFamily="34" charset="-120"/>
              </a:rPr>
              <a:t>Returns video and sensor </a:t>
            </a:r>
            <a:r>
              <a:rPr lang="en-US" sz="1200" dirty="0" smtClean="0">
                <a:solidFill>
                  <a:srgbClr val="8FA3BC"/>
                </a:solidFill>
                <a:latin typeface="Calibri" pitchFamily="34" charset="0"/>
                <a:ea typeface="Calibri" pitchFamily="34" charset="-122"/>
                <a:cs typeface="Calibri" pitchFamily="34" charset="-120"/>
              </a:rPr>
              <a:t>data</a:t>
            </a:r>
          </a:p>
          <a:p>
            <a:pPr marL="0" indent="0">
              <a:buNone/>
            </a:pPr>
            <a:r>
              <a:rPr lang="en-US" sz="1200" dirty="0" smtClean="0">
                <a:solidFill>
                  <a:srgbClr val="8FA3BC"/>
                </a:solidFill>
                <a:latin typeface="Calibri" pitchFamily="34" charset="0"/>
                <a:ea typeface="Calibri" pitchFamily="34" charset="-122"/>
                <a:cs typeface="Calibri" pitchFamily="34" charset="-120"/>
              </a:rPr>
              <a:t>Through Internet or it will be stored and then later on </a:t>
            </a:r>
            <a:r>
              <a:rPr lang="en-US" sz="1200" dirty="0" err="1" smtClean="0">
                <a:solidFill>
                  <a:srgbClr val="8FA3BC"/>
                </a:solidFill>
                <a:latin typeface="Calibri" pitchFamily="34" charset="0"/>
                <a:ea typeface="Calibri" pitchFamily="34" charset="-122"/>
                <a:cs typeface="Calibri" pitchFamily="34" charset="-120"/>
              </a:rPr>
              <a:t>analyse</a:t>
            </a:r>
            <a:endParaRPr lang="en-US" sz="1200" dirty="0"/>
          </a:p>
        </p:txBody>
      </p:sp>
      <p:sp>
        <p:nvSpPr>
          <p:cNvPr id="24" name="Shape 21"/>
          <p:cNvSpPr/>
          <p:nvPr/>
        </p:nvSpPr>
        <p:spPr>
          <a:xfrm>
            <a:off x="9418320" y="2880360"/>
            <a:ext cx="2194560" cy="1645920"/>
          </a:xfrm>
          <a:prstGeom prst="rect">
            <a:avLst/>
          </a:prstGeom>
          <a:solidFill>
            <a:srgbClr val="101C30"/>
          </a:solidFill>
          <a:ln w="12700">
            <a:solidFill>
              <a:srgbClr val="C9A24B"/>
            </a:solidFill>
            <a:prstDash val="dash"/>
          </a:ln>
        </p:spPr>
      </p:sp>
      <p:sp>
        <p:nvSpPr>
          <p:cNvPr id="25" name="Text 22"/>
          <p:cNvSpPr txBox="1"/>
          <p:nvPr/>
        </p:nvSpPr>
        <p:spPr>
          <a:xfrm>
            <a:off x="9582912" y="3017520"/>
            <a:ext cx="1920240" cy="548640"/>
          </a:xfrm>
          <a:prstGeom prst="rect">
            <a:avLst/>
          </a:prstGeom>
          <a:noFill/>
          <a:ln/>
        </p:spPr>
        <p:txBody>
          <a:bodyPr wrap="square" lIns="0" tIns="0" rIns="0" bIns="0" rtlCol="0" anchor="t"/>
          <a:lstStyle/>
          <a:p>
            <a:pPr marL="0" indent="0">
              <a:buNone/>
            </a:pPr>
            <a:r>
              <a:rPr lang="en-US" sz="1400" b="1" kern="0" spc="100" dirty="0">
                <a:solidFill>
                  <a:srgbClr val="C9A24B"/>
                </a:solidFill>
                <a:latin typeface="Arial Narrow" pitchFamily="34" charset="0"/>
                <a:ea typeface="Arial Narrow" pitchFamily="34" charset="-122"/>
                <a:cs typeface="Arial Narrow" pitchFamily="34" charset="-120"/>
              </a:rPr>
              <a:t>RASPBERRY PI  (LATER)</a:t>
            </a:r>
            <a:endParaRPr lang="en-US" sz="1400" dirty="0"/>
          </a:p>
        </p:txBody>
      </p:sp>
      <p:sp>
        <p:nvSpPr>
          <p:cNvPr id="26" name="Text 23"/>
          <p:cNvSpPr txBox="1"/>
          <p:nvPr/>
        </p:nvSpPr>
        <p:spPr>
          <a:xfrm>
            <a:off x="9582912" y="3611880"/>
            <a:ext cx="1920240" cy="822960"/>
          </a:xfrm>
          <a:prstGeom prst="rect">
            <a:avLst/>
          </a:prstGeom>
          <a:noFill/>
          <a:ln/>
        </p:spPr>
        <p:txBody>
          <a:bodyPr wrap="square" lIns="0" tIns="0" rIns="0" bIns="0" rtlCol="0" anchor="t"/>
          <a:lstStyle/>
          <a:p>
            <a:pPr marL="0" indent="0">
              <a:buNone/>
            </a:pPr>
            <a:r>
              <a:rPr lang="en-US" sz="1200" dirty="0">
                <a:solidFill>
                  <a:srgbClr val="8FA3BC"/>
                </a:solidFill>
                <a:latin typeface="Calibri" pitchFamily="34" charset="0"/>
                <a:ea typeface="Calibri" pitchFamily="34" charset="-122"/>
                <a:cs typeface="Calibri" pitchFamily="34" charset="-120"/>
              </a:rPr>
              <a:t>Processing, sensor fusion, vision, obstacle awareness, adaptive gait</a:t>
            </a:r>
            <a:endParaRPr lang="en-US" sz="1200" dirty="0"/>
          </a:p>
        </p:txBody>
      </p:sp>
      <p:sp>
        <p:nvSpPr>
          <p:cNvPr id="27" name="Text 24"/>
          <p:cNvSpPr txBox="1"/>
          <p:nvPr/>
        </p:nvSpPr>
        <p:spPr>
          <a:xfrm>
            <a:off x="4663440" y="4892040"/>
            <a:ext cx="4572000" cy="256032"/>
          </a:xfrm>
          <a:prstGeom prst="rect">
            <a:avLst/>
          </a:prstGeom>
          <a:noFill/>
          <a:ln/>
        </p:spPr>
        <p:txBody>
          <a:bodyPr wrap="square" lIns="0" tIns="0" rIns="0" bIns="0" rtlCol="0" anchor="t"/>
          <a:lstStyle/>
          <a:p>
            <a:pPr marL="0" indent="0">
              <a:buNone/>
            </a:pPr>
            <a:r>
              <a:rPr lang="en-US" sz="1100" b="1" kern="0" spc="300" dirty="0">
                <a:solidFill>
                  <a:srgbClr val="5FB8B0"/>
                </a:solidFill>
                <a:latin typeface="Calibri" pitchFamily="34" charset="0"/>
                <a:ea typeface="Calibri" pitchFamily="34" charset="-122"/>
                <a:cs typeface="Calibri" pitchFamily="34" charset="-120"/>
              </a:rPr>
              <a:t>PROPOSED DATA PATH</a:t>
            </a:r>
            <a:endParaRPr lang="en-US" sz="1100" dirty="0"/>
          </a:p>
        </p:txBody>
      </p:sp>
      <p:sp>
        <p:nvSpPr>
          <p:cNvPr id="28" name="Shape 25"/>
          <p:cNvSpPr/>
          <p:nvPr/>
        </p:nvSpPr>
        <p:spPr>
          <a:xfrm>
            <a:off x="4663440" y="5212080"/>
            <a:ext cx="1828800" cy="868680"/>
          </a:xfrm>
          <a:prstGeom prst="rect">
            <a:avLst/>
          </a:prstGeom>
          <a:solidFill>
            <a:srgbClr val="101C30"/>
          </a:solidFill>
          <a:ln w="12700">
            <a:solidFill>
              <a:srgbClr val="5FB8B0"/>
            </a:solidFill>
            <a:prstDash val="dash"/>
          </a:ln>
        </p:spPr>
      </p:sp>
      <p:sp>
        <p:nvSpPr>
          <p:cNvPr id="29" name="Text 26"/>
          <p:cNvSpPr txBox="1"/>
          <p:nvPr/>
        </p:nvSpPr>
        <p:spPr>
          <a:xfrm>
            <a:off x="4709160" y="5212080"/>
            <a:ext cx="1737360" cy="868680"/>
          </a:xfrm>
          <a:prstGeom prst="rect">
            <a:avLst/>
          </a:prstGeom>
          <a:noFill/>
          <a:ln/>
        </p:spPr>
        <p:txBody>
          <a:bodyPr wrap="square" lIns="0" tIns="0" rIns="0" bIns="0" rtlCol="0" anchor="ctr"/>
          <a:lstStyle/>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CAMERA +</a:t>
            </a:r>
            <a:endParaRPr lang="en-US" sz="1300" dirty="0"/>
          </a:p>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SENSORS</a:t>
            </a:r>
            <a:endParaRPr lang="en-US" sz="1300" dirty="0"/>
          </a:p>
        </p:txBody>
      </p:sp>
      <p:sp>
        <p:nvSpPr>
          <p:cNvPr id="30" name="Shape 27"/>
          <p:cNvSpPr/>
          <p:nvPr/>
        </p:nvSpPr>
        <p:spPr>
          <a:xfrm>
            <a:off x="6510528" y="5641848"/>
            <a:ext cx="512064" cy="0"/>
          </a:xfrm>
          <a:prstGeom prst="line">
            <a:avLst/>
          </a:prstGeom>
          <a:noFill/>
          <a:ln w="15875">
            <a:solidFill>
              <a:srgbClr val="5FB8B0"/>
            </a:solidFill>
            <a:prstDash val="dash"/>
            <a:tailEnd type="triangle"/>
          </a:ln>
        </p:spPr>
      </p:sp>
      <p:sp>
        <p:nvSpPr>
          <p:cNvPr id="31" name="Shape 28"/>
          <p:cNvSpPr/>
          <p:nvPr/>
        </p:nvSpPr>
        <p:spPr>
          <a:xfrm>
            <a:off x="7040880" y="5212080"/>
            <a:ext cx="1828800" cy="868680"/>
          </a:xfrm>
          <a:prstGeom prst="rect">
            <a:avLst/>
          </a:prstGeom>
          <a:solidFill>
            <a:srgbClr val="101C30"/>
          </a:solidFill>
          <a:ln w="12700">
            <a:solidFill>
              <a:srgbClr val="5FB8B0"/>
            </a:solidFill>
            <a:prstDash val="dash"/>
          </a:ln>
        </p:spPr>
      </p:sp>
      <p:sp>
        <p:nvSpPr>
          <p:cNvPr id="32" name="Text 29"/>
          <p:cNvSpPr txBox="1"/>
          <p:nvPr/>
        </p:nvSpPr>
        <p:spPr>
          <a:xfrm>
            <a:off x="7086600" y="5212080"/>
            <a:ext cx="1737360" cy="868680"/>
          </a:xfrm>
          <a:prstGeom prst="rect">
            <a:avLst/>
          </a:prstGeom>
          <a:noFill/>
          <a:ln/>
        </p:spPr>
        <p:txBody>
          <a:bodyPr wrap="square" lIns="0" tIns="0" rIns="0" bIns="0" rtlCol="0" anchor="ctr"/>
          <a:lstStyle/>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WIRELESS</a:t>
            </a:r>
            <a:endParaRPr lang="en-US" sz="1300" dirty="0"/>
          </a:p>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LINK</a:t>
            </a:r>
            <a:endParaRPr lang="en-US" sz="1300" dirty="0"/>
          </a:p>
        </p:txBody>
      </p:sp>
      <p:sp>
        <p:nvSpPr>
          <p:cNvPr id="33" name="Shape 30"/>
          <p:cNvSpPr/>
          <p:nvPr/>
        </p:nvSpPr>
        <p:spPr>
          <a:xfrm>
            <a:off x="8887968" y="5641848"/>
            <a:ext cx="512064" cy="0"/>
          </a:xfrm>
          <a:prstGeom prst="line">
            <a:avLst/>
          </a:prstGeom>
          <a:noFill/>
          <a:ln w="15875">
            <a:solidFill>
              <a:srgbClr val="5FB8B0"/>
            </a:solidFill>
            <a:prstDash val="dash"/>
            <a:tailEnd type="triangle"/>
          </a:ln>
        </p:spPr>
      </p:sp>
      <p:sp>
        <p:nvSpPr>
          <p:cNvPr id="34" name="Shape 31"/>
          <p:cNvSpPr/>
          <p:nvPr/>
        </p:nvSpPr>
        <p:spPr>
          <a:xfrm>
            <a:off x="9418320" y="5212080"/>
            <a:ext cx="1828800" cy="868680"/>
          </a:xfrm>
          <a:prstGeom prst="rect">
            <a:avLst/>
          </a:prstGeom>
          <a:solidFill>
            <a:srgbClr val="101C30"/>
          </a:solidFill>
          <a:ln w="12700">
            <a:solidFill>
              <a:srgbClr val="2EA8FF"/>
            </a:solidFill>
            <a:prstDash val="solid"/>
          </a:ln>
        </p:spPr>
      </p:sp>
      <p:sp>
        <p:nvSpPr>
          <p:cNvPr id="35" name="Text 32"/>
          <p:cNvSpPr txBox="1"/>
          <p:nvPr/>
        </p:nvSpPr>
        <p:spPr>
          <a:xfrm>
            <a:off x="9464040" y="5212080"/>
            <a:ext cx="1737360" cy="868680"/>
          </a:xfrm>
          <a:prstGeom prst="rect">
            <a:avLst/>
          </a:prstGeom>
          <a:noFill/>
          <a:ln/>
        </p:spPr>
        <p:txBody>
          <a:bodyPr wrap="square" lIns="0" tIns="0" rIns="0" bIns="0" rtlCol="0" anchor="ctr"/>
          <a:lstStyle/>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OPERATOR</a:t>
            </a:r>
            <a:endParaRPr lang="en-US" sz="1300" dirty="0"/>
          </a:p>
          <a:p>
            <a:pPr marL="0" indent="0" algn="ctr">
              <a:buNone/>
            </a:pPr>
            <a:r>
              <a:rPr lang="en-US" sz="1300" b="1" kern="0" spc="100" dirty="0">
                <a:solidFill>
                  <a:srgbClr val="E6EEF8"/>
                </a:solidFill>
                <a:latin typeface="Arial Narrow" pitchFamily="34" charset="0"/>
                <a:ea typeface="Arial Narrow" pitchFamily="34" charset="-122"/>
                <a:cs typeface="Arial Narrow" pitchFamily="34" charset="-120"/>
              </a:rPr>
              <a:t>(HUMAN)</a:t>
            </a:r>
            <a:endParaRPr lang="en-US" sz="1300" dirty="0"/>
          </a:p>
        </p:txBody>
      </p:sp>
      <p:sp>
        <p:nvSpPr>
          <p:cNvPr id="6"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11</a:t>
            </a:fld>
            <a:endParaRPr lang="en-US"/>
          </a:p>
        </p:txBody>
      </p:sp>
      <p:cxnSp>
        <p:nvCxnSpPr>
          <p:cNvPr id="37" name="Straight Connector 36"/>
          <p:cNvCxnSpPr/>
          <p:nvPr/>
        </p:nvCxnSpPr>
        <p:spPr>
          <a:xfrm flipV="1">
            <a:off x="182880" y="2011680"/>
            <a:ext cx="4258491" cy="870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11  APPLICATIONS</a:t>
            </a:r>
            <a:endParaRPr lang="en-US" sz="1100" dirty="0"/>
          </a:p>
        </p:txBody>
      </p:sp>
      <p:sp>
        <p:nvSpPr>
          <p:cNvPr id="3" name="Text 46"/>
          <p:cNvSpPr>
            <a:spLocks noGrp="1"/>
          </p:cNvSpPr>
          <p:nvPr>
            <p:ph type="title" idx="147" hasCustomPrompt="1"/>
          </p:nvPr>
        </p:nvSpPr>
        <p:spPr>
          <a:xfrm>
            <a:off x="548640" y="777240"/>
            <a:ext cx="3749040" cy="1463040"/>
          </a:xfrm>
          <a:prstGeom prst="rect">
            <a:avLst/>
          </a:prstGeom>
          <a:noFill/>
          <a:ln/>
        </p:spPr>
        <p:txBody>
          <a:bodyPr wrap="square" lIns="0" tIns="0" rIns="0" bIns="0" rtlCol="0" anchor="t"/>
          <a:lstStyle/>
          <a:p>
            <a:pPr marL="0" indent="0" algn="l">
              <a:buNone/>
            </a:pPr>
            <a:r>
              <a:rPr lang="en-US" sz="3000" b="1" kern="0" spc="100" dirty="0">
                <a:solidFill>
                  <a:srgbClr val="E6EEF8"/>
                </a:solidFill>
              </a:rPr>
              <a:t>WHERE IT COULD BE USEFUL</a:t>
            </a:r>
            <a:endParaRPr lang="en-US" sz="3000" dirty="0"/>
          </a:p>
        </p:txBody>
      </p:sp>
      <p:sp>
        <p:nvSpPr>
          <p:cNvPr id="4" name="Text 46"/>
          <p:cNvSpPr>
            <a:spLocks noGrp="1"/>
          </p:cNvSpPr>
          <p:nvPr>
            <p:ph type="body" idx="148" hasCustomPrompt="1"/>
          </p:nvPr>
        </p:nvSpPr>
        <p:spPr>
          <a:xfrm>
            <a:off x="548640" y="2377440"/>
            <a:ext cx="3657600" cy="868680"/>
          </a:xfrm>
          <a:prstGeom prst="rect">
            <a:avLst/>
          </a:prstGeom>
          <a:noFill/>
          <a:ln/>
        </p:spPr>
        <p:txBody>
          <a:bodyPr wrap="square" lIns="0" tIns="0" rIns="0" bIns="0" rtlCol="0" anchor="t"/>
          <a:lstStyle/>
          <a:p>
            <a:pPr marL="0" indent="0">
              <a:buNone/>
            </a:pPr>
            <a:r>
              <a:rPr lang="en-US" sz="1600" b="1" dirty="0">
                <a:solidFill>
                  <a:srgbClr val="2EA8FF"/>
                </a:solidFill>
              </a:rPr>
              <a:t>Each use is a potential future one and depends on a named upgrade.</a:t>
            </a:r>
            <a:endParaRPr lang="en-US" sz="16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400" dirty="0">
                <a:solidFill>
                  <a:srgbClr val="8FA3BC"/>
                </a:solidFill>
              </a:rPr>
              <a:t>These are directions, </a:t>
            </a:r>
            <a:r>
              <a:rPr lang="en-US" sz="1400" dirty="0" smtClean="0"/>
              <a:t>where</a:t>
            </a:r>
            <a:r>
              <a:rPr lang="en-US" sz="1400" dirty="0" smtClean="0">
                <a:solidFill>
                  <a:srgbClr val="8FA3BC"/>
                </a:solidFill>
              </a:rPr>
              <a:t> </a:t>
            </a:r>
            <a:r>
              <a:rPr lang="en-US" sz="1400" dirty="0">
                <a:solidFill>
                  <a:srgbClr val="8FA3BC"/>
                </a:solidFill>
              </a:rPr>
              <a:t>PLUTO </a:t>
            </a:r>
            <a:r>
              <a:rPr lang="en-US" sz="1400" dirty="0" smtClean="0"/>
              <a:t>can be useful in future</a:t>
            </a:r>
            <a:r>
              <a:rPr lang="en-US" sz="1400" dirty="0" smtClean="0">
                <a:solidFill>
                  <a:srgbClr val="8FA3BC"/>
                </a:solidFill>
              </a:rPr>
              <a:t>.</a:t>
            </a:r>
            <a:endParaRPr lang="en-US" sz="1400" dirty="0"/>
          </a:p>
          <a:p>
            <a:pPr marL="0" indent="0">
              <a:spcAft>
                <a:spcPts val="900"/>
              </a:spcAft>
              <a:buNone/>
            </a:pPr>
            <a:r>
              <a:rPr lang="en-US" sz="1400" dirty="0">
                <a:solidFill>
                  <a:srgbClr val="8FA3BC"/>
                </a:solidFill>
              </a:rPr>
              <a:t>Each use needs the upgrades named on its card.</a:t>
            </a:r>
            <a:endParaRPr lang="en-US" sz="1400" dirty="0"/>
          </a:p>
          <a:p>
            <a:pPr marL="0" indent="0">
              <a:spcAft>
                <a:spcPts val="900"/>
              </a:spcAft>
              <a:buNone/>
            </a:pPr>
            <a:r>
              <a:rPr lang="en-US" sz="1400" dirty="0">
                <a:solidFill>
                  <a:srgbClr val="8FA3BC"/>
                </a:solidFill>
              </a:rPr>
              <a:t>In every case the operator remains the decision-maker</a:t>
            </a:r>
            <a:r>
              <a:rPr lang="en-US" sz="1400" dirty="0" smtClean="0">
                <a:solidFill>
                  <a:srgbClr val="8FA3BC"/>
                </a:solidFill>
              </a:rPr>
              <a:t>.</a:t>
            </a:r>
          </a:p>
          <a:p>
            <a:pPr marL="0" indent="0">
              <a:spcAft>
                <a:spcPts val="900"/>
              </a:spcAft>
              <a:buNone/>
            </a:pPr>
            <a:r>
              <a:rPr lang="en-US" sz="1400" dirty="0" smtClean="0"/>
              <a:t>This will help reducing human risk factor </a:t>
            </a:r>
            <a:endParaRPr lang="en-US" sz="1400" dirty="0"/>
          </a:p>
        </p:txBody>
      </p:sp>
      <p:sp>
        <p:nvSpPr>
          <p:cNvPr id="7" name="Shape 4"/>
          <p:cNvSpPr/>
          <p:nvPr/>
        </p:nvSpPr>
        <p:spPr>
          <a:xfrm>
            <a:off x="4663440" y="731520"/>
            <a:ext cx="3383280" cy="1691640"/>
          </a:xfrm>
          <a:prstGeom prst="rect">
            <a:avLst/>
          </a:prstGeom>
          <a:solidFill>
            <a:srgbClr val="101C30"/>
          </a:solidFill>
          <a:ln w="12700">
            <a:solidFill>
              <a:srgbClr val="5FB8B0"/>
            </a:solidFill>
            <a:prstDash val="dash"/>
          </a:ln>
        </p:spPr>
      </p:sp>
      <p:sp>
        <p:nvSpPr>
          <p:cNvPr id="8" name="Shape 5"/>
          <p:cNvSpPr/>
          <p:nvPr/>
        </p:nvSpPr>
        <p:spPr>
          <a:xfrm>
            <a:off x="4846320" y="841248"/>
            <a:ext cx="2011680" cy="256032"/>
          </a:xfrm>
          <a:prstGeom prst="rect">
            <a:avLst/>
          </a:prstGeom>
          <a:solidFill>
            <a:srgbClr val="0A1220"/>
          </a:solidFill>
          <a:ln w="9525">
            <a:solidFill>
              <a:srgbClr val="5FB8B0"/>
            </a:solidFill>
            <a:prstDash val="dash"/>
          </a:ln>
        </p:spPr>
      </p:sp>
      <p:sp>
        <p:nvSpPr>
          <p:cNvPr id="9" name="Text 6"/>
          <p:cNvSpPr txBox="1"/>
          <p:nvPr/>
        </p:nvSpPr>
        <p:spPr>
          <a:xfrm>
            <a:off x="4846320" y="841248"/>
            <a:ext cx="2011680" cy="256032"/>
          </a:xfrm>
          <a:prstGeom prst="rect">
            <a:avLst/>
          </a:prstGeom>
          <a:noFill/>
          <a:ln/>
        </p:spPr>
        <p:txBody>
          <a:bodyPr wrap="square" lIns="0" tIns="0" rIns="0" bIns="0" rtlCol="0" anchor="ctr"/>
          <a:lstStyle/>
          <a:p>
            <a:pPr marL="0" indent="0" algn="ctr">
              <a:buNone/>
            </a:pPr>
            <a:r>
              <a:rPr lang="en-US" sz="900" b="1" kern="0" spc="200" dirty="0">
                <a:solidFill>
                  <a:srgbClr val="5FB8B0"/>
                </a:solidFill>
                <a:latin typeface="Calibri" pitchFamily="34" charset="0"/>
                <a:ea typeface="Calibri" pitchFamily="34" charset="-122"/>
                <a:cs typeface="Calibri" pitchFamily="34" charset="-120"/>
              </a:rPr>
              <a:t>POTENTIAL FUTURE USE</a:t>
            </a:r>
            <a:endParaRPr lang="en-US" sz="900" dirty="0"/>
          </a:p>
        </p:txBody>
      </p:sp>
      <p:sp>
        <p:nvSpPr>
          <p:cNvPr id="10" name="Text 7"/>
          <p:cNvSpPr txBox="1"/>
          <p:nvPr/>
        </p:nvSpPr>
        <p:spPr>
          <a:xfrm>
            <a:off x="4846320" y="1188720"/>
            <a:ext cx="3017520" cy="320040"/>
          </a:xfrm>
          <a:prstGeom prst="rect">
            <a:avLst/>
          </a:prstGeom>
          <a:noFill/>
          <a:ln/>
        </p:spPr>
        <p:txBody>
          <a:bodyPr wrap="square" lIns="0" tIns="0" rIns="0" bIns="0" rtlCol="0" anchor="t"/>
          <a:lstStyle/>
          <a:p>
            <a:pPr marL="0" indent="0">
              <a:buNone/>
            </a:pPr>
            <a:r>
              <a:rPr lang="en-US" sz="1500" b="1" kern="0" spc="100" dirty="0">
                <a:solidFill>
                  <a:srgbClr val="E6EEF8"/>
                </a:solidFill>
                <a:latin typeface="Arial Narrow" pitchFamily="34" charset="0"/>
                <a:ea typeface="Arial Narrow" pitchFamily="34" charset="-122"/>
                <a:cs typeface="Arial Narrow" pitchFamily="34" charset="-120"/>
              </a:rPr>
              <a:t>INDUSTRIAL INSPECTION</a:t>
            </a:r>
            <a:endParaRPr lang="en-US" sz="1500" dirty="0"/>
          </a:p>
        </p:txBody>
      </p:sp>
      <p:sp>
        <p:nvSpPr>
          <p:cNvPr id="11" name="Text 8"/>
          <p:cNvSpPr txBox="1"/>
          <p:nvPr/>
        </p:nvSpPr>
        <p:spPr>
          <a:xfrm>
            <a:off x="4846320" y="1536192"/>
            <a:ext cx="3017520" cy="411480"/>
          </a:xfrm>
          <a:prstGeom prst="rect">
            <a:avLst/>
          </a:prstGeom>
          <a:noFill/>
          <a:ln/>
        </p:spPr>
        <p:txBody>
          <a:bodyPr wrap="square" lIns="0" tIns="0" rIns="0" bIns="0" rtlCol="0" anchor="t"/>
          <a:lstStyle/>
          <a:p>
            <a:pPr marL="0" indent="0">
              <a:buNone/>
            </a:pPr>
            <a:r>
              <a:rPr lang="en-US" sz="1200" dirty="0">
                <a:solidFill>
                  <a:srgbClr val="E6EEF8"/>
                </a:solidFill>
                <a:latin typeface="Calibri" pitchFamily="34" charset="0"/>
                <a:ea typeface="Calibri" pitchFamily="34" charset="-122"/>
                <a:cs typeface="Calibri" pitchFamily="34" charset="-120"/>
              </a:rPr>
              <a:t>Look into machinery areas before a person goes in</a:t>
            </a:r>
            <a:endParaRPr lang="en-US" sz="1200" dirty="0"/>
          </a:p>
        </p:txBody>
      </p:sp>
      <p:sp>
        <p:nvSpPr>
          <p:cNvPr id="12" name="Text 9"/>
          <p:cNvSpPr txBox="1"/>
          <p:nvPr/>
        </p:nvSpPr>
        <p:spPr>
          <a:xfrm>
            <a:off x="4846320" y="1993392"/>
            <a:ext cx="3017520" cy="365760"/>
          </a:xfrm>
          <a:prstGeom prst="rect">
            <a:avLst/>
          </a:prstGeom>
          <a:noFill/>
          <a:ln/>
        </p:spPr>
        <p:txBody>
          <a:bodyPr wrap="square" lIns="0" tIns="0" rIns="0" bIns="0" rtlCol="0" anchor="t"/>
          <a:lstStyle/>
          <a:p>
            <a:pPr marL="0" indent="0">
              <a:buNone/>
            </a:pPr>
            <a:r>
              <a:rPr lang="en-US" sz="1100" dirty="0">
                <a:solidFill>
                  <a:srgbClr val="5FB8B0"/>
                </a:solidFill>
                <a:latin typeface="Calibri" pitchFamily="34" charset="0"/>
                <a:ea typeface="Calibri" pitchFamily="34" charset="-122"/>
                <a:cs typeface="Calibri" pitchFamily="34" charset="-120"/>
              </a:rPr>
              <a:t>NEEDS:  Camera, LED illumination</a:t>
            </a:r>
            <a:endParaRPr lang="en-US" sz="1100" dirty="0"/>
          </a:p>
        </p:txBody>
      </p:sp>
      <p:sp>
        <p:nvSpPr>
          <p:cNvPr id="13" name="Shape 10"/>
          <p:cNvSpPr/>
          <p:nvPr/>
        </p:nvSpPr>
        <p:spPr>
          <a:xfrm>
            <a:off x="8229600" y="731520"/>
            <a:ext cx="3383280" cy="1691640"/>
          </a:xfrm>
          <a:prstGeom prst="rect">
            <a:avLst/>
          </a:prstGeom>
          <a:solidFill>
            <a:srgbClr val="101C30"/>
          </a:solidFill>
          <a:ln w="12700">
            <a:solidFill>
              <a:srgbClr val="5FB8B0"/>
            </a:solidFill>
            <a:prstDash val="dash"/>
          </a:ln>
        </p:spPr>
      </p:sp>
      <p:sp>
        <p:nvSpPr>
          <p:cNvPr id="14" name="Shape 11"/>
          <p:cNvSpPr/>
          <p:nvPr/>
        </p:nvSpPr>
        <p:spPr>
          <a:xfrm>
            <a:off x="8412480" y="841248"/>
            <a:ext cx="2011680" cy="256032"/>
          </a:xfrm>
          <a:prstGeom prst="rect">
            <a:avLst/>
          </a:prstGeom>
          <a:solidFill>
            <a:srgbClr val="0A1220"/>
          </a:solidFill>
          <a:ln w="9525">
            <a:solidFill>
              <a:srgbClr val="5FB8B0"/>
            </a:solidFill>
            <a:prstDash val="dash"/>
          </a:ln>
        </p:spPr>
      </p:sp>
      <p:sp>
        <p:nvSpPr>
          <p:cNvPr id="15" name="Text 12"/>
          <p:cNvSpPr txBox="1"/>
          <p:nvPr/>
        </p:nvSpPr>
        <p:spPr>
          <a:xfrm>
            <a:off x="8412480" y="841248"/>
            <a:ext cx="2011680" cy="256032"/>
          </a:xfrm>
          <a:prstGeom prst="rect">
            <a:avLst/>
          </a:prstGeom>
          <a:noFill/>
          <a:ln/>
        </p:spPr>
        <p:txBody>
          <a:bodyPr wrap="square" lIns="0" tIns="0" rIns="0" bIns="0" rtlCol="0" anchor="ctr"/>
          <a:lstStyle/>
          <a:p>
            <a:pPr marL="0" indent="0" algn="ctr">
              <a:buNone/>
            </a:pPr>
            <a:r>
              <a:rPr lang="en-US" sz="900" b="1" kern="0" spc="200" dirty="0">
                <a:solidFill>
                  <a:srgbClr val="5FB8B0"/>
                </a:solidFill>
                <a:latin typeface="Calibri" pitchFamily="34" charset="0"/>
                <a:ea typeface="Calibri" pitchFamily="34" charset="-122"/>
                <a:cs typeface="Calibri" pitchFamily="34" charset="-120"/>
              </a:rPr>
              <a:t>POTENTIAL FUTURE USE</a:t>
            </a:r>
            <a:endParaRPr lang="en-US" sz="900" dirty="0"/>
          </a:p>
        </p:txBody>
      </p:sp>
      <p:sp>
        <p:nvSpPr>
          <p:cNvPr id="16" name="Text 13"/>
          <p:cNvSpPr txBox="1"/>
          <p:nvPr/>
        </p:nvSpPr>
        <p:spPr>
          <a:xfrm>
            <a:off x="8412480" y="1188720"/>
            <a:ext cx="3017520" cy="320040"/>
          </a:xfrm>
          <a:prstGeom prst="rect">
            <a:avLst/>
          </a:prstGeom>
          <a:noFill/>
          <a:ln/>
        </p:spPr>
        <p:txBody>
          <a:bodyPr wrap="square" lIns="0" tIns="0" rIns="0" bIns="0" rtlCol="0" anchor="t"/>
          <a:lstStyle/>
          <a:p>
            <a:pPr marL="0" indent="0">
              <a:buNone/>
            </a:pPr>
            <a:r>
              <a:rPr lang="en-US" sz="1500" b="1" kern="0" spc="100" dirty="0" smtClean="0">
                <a:solidFill>
                  <a:srgbClr val="E6EEF8"/>
                </a:solidFill>
                <a:latin typeface="Arial Narrow" pitchFamily="34" charset="0"/>
                <a:ea typeface="Arial Narrow" pitchFamily="34" charset="-122"/>
                <a:cs typeface="Arial Narrow" pitchFamily="34" charset="-120"/>
              </a:rPr>
              <a:t>SECURITY SURVILLIENCE</a:t>
            </a:r>
            <a:endParaRPr lang="en-US" sz="1500" dirty="0"/>
          </a:p>
        </p:txBody>
      </p:sp>
      <p:sp>
        <p:nvSpPr>
          <p:cNvPr id="17" name="Text 14"/>
          <p:cNvSpPr txBox="1"/>
          <p:nvPr/>
        </p:nvSpPr>
        <p:spPr>
          <a:xfrm>
            <a:off x="8412480" y="1536192"/>
            <a:ext cx="3017520" cy="411480"/>
          </a:xfrm>
          <a:prstGeom prst="rect">
            <a:avLst/>
          </a:prstGeom>
          <a:noFill/>
          <a:ln/>
        </p:spPr>
        <p:txBody>
          <a:bodyPr wrap="square" lIns="0" tIns="0" rIns="0" bIns="0" rtlCol="0" anchor="t"/>
          <a:lstStyle/>
          <a:p>
            <a:pPr marL="0" indent="0">
              <a:buNone/>
            </a:pPr>
            <a:r>
              <a:rPr lang="en-US" sz="1200" dirty="0" smtClean="0">
                <a:solidFill>
                  <a:srgbClr val="E6EEF8"/>
                </a:solidFill>
                <a:latin typeface="Calibri" pitchFamily="34" charset="0"/>
                <a:ea typeface="Calibri" pitchFamily="34" charset="-122"/>
                <a:cs typeface="Calibri" pitchFamily="34" charset="-120"/>
              </a:rPr>
              <a:t>Will help large campuses in surveillance and could also help in defense sectors</a:t>
            </a:r>
            <a:endParaRPr lang="en-US" sz="1200" dirty="0"/>
          </a:p>
        </p:txBody>
      </p:sp>
      <p:sp>
        <p:nvSpPr>
          <p:cNvPr id="18" name="Text 15"/>
          <p:cNvSpPr txBox="1"/>
          <p:nvPr/>
        </p:nvSpPr>
        <p:spPr>
          <a:xfrm>
            <a:off x="8412480" y="1993392"/>
            <a:ext cx="3017520" cy="365760"/>
          </a:xfrm>
          <a:prstGeom prst="rect">
            <a:avLst/>
          </a:prstGeom>
          <a:noFill/>
          <a:ln/>
        </p:spPr>
        <p:txBody>
          <a:bodyPr wrap="square" lIns="0" tIns="0" rIns="0" bIns="0" rtlCol="0" anchor="t"/>
          <a:lstStyle/>
          <a:p>
            <a:pPr marL="0" indent="0">
              <a:buNone/>
            </a:pPr>
            <a:r>
              <a:rPr lang="en-US" sz="1100" dirty="0">
                <a:solidFill>
                  <a:srgbClr val="5FB8B0"/>
                </a:solidFill>
                <a:latin typeface="Calibri" pitchFamily="34" charset="0"/>
                <a:ea typeface="Calibri" pitchFamily="34" charset="-122"/>
                <a:cs typeface="Calibri" pitchFamily="34" charset="-120"/>
              </a:rPr>
              <a:t>NEEDS:  Camera, LED, proximity sensing</a:t>
            </a:r>
            <a:endParaRPr lang="en-US" sz="1100" dirty="0"/>
          </a:p>
        </p:txBody>
      </p:sp>
      <p:sp>
        <p:nvSpPr>
          <p:cNvPr id="19" name="Shape 16"/>
          <p:cNvSpPr/>
          <p:nvPr/>
        </p:nvSpPr>
        <p:spPr>
          <a:xfrm>
            <a:off x="4663440" y="2560320"/>
            <a:ext cx="3383280" cy="1691640"/>
          </a:xfrm>
          <a:prstGeom prst="rect">
            <a:avLst/>
          </a:prstGeom>
          <a:solidFill>
            <a:srgbClr val="101C30"/>
          </a:solidFill>
          <a:ln w="12700">
            <a:solidFill>
              <a:srgbClr val="5FB8B0"/>
            </a:solidFill>
            <a:prstDash val="dash"/>
          </a:ln>
        </p:spPr>
      </p:sp>
      <p:sp>
        <p:nvSpPr>
          <p:cNvPr id="20" name="Shape 17"/>
          <p:cNvSpPr/>
          <p:nvPr/>
        </p:nvSpPr>
        <p:spPr>
          <a:xfrm>
            <a:off x="4846320" y="2670048"/>
            <a:ext cx="2011680" cy="256032"/>
          </a:xfrm>
          <a:prstGeom prst="rect">
            <a:avLst/>
          </a:prstGeom>
          <a:solidFill>
            <a:srgbClr val="0A1220"/>
          </a:solidFill>
          <a:ln w="9525">
            <a:solidFill>
              <a:srgbClr val="5FB8B0"/>
            </a:solidFill>
            <a:prstDash val="dash"/>
          </a:ln>
        </p:spPr>
      </p:sp>
      <p:sp>
        <p:nvSpPr>
          <p:cNvPr id="21" name="Text 18"/>
          <p:cNvSpPr txBox="1"/>
          <p:nvPr/>
        </p:nvSpPr>
        <p:spPr>
          <a:xfrm>
            <a:off x="4846320" y="2670048"/>
            <a:ext cx="2011680" cy="256032"/>
          </a:xfrm>
          <a:prstGeom prst="rect">
            <a:avLst/>
          </a:prstGeom>
          <a:noFill/>
          <a:ln/>
        </p:spPr>
        <p:txBody>
          <a:bodyPr wrap="square" lIns="0" tIns="0" rIns="0" bIns="0" rtlCol="0" anchor="ctr"/>
          <a:lstStyle/>
          <a:p>
            <a:pPr marL="0" indent="0" algn="ctr">
              <a:buNone/>
            </a:pPr>
            <a:r>
              <a:rPr lang="en-US" sz="900" b="1" kern="0" spc="200" dirty="0">
                <a:solidFill>
                  <a:srgbClr val="5FB8B0"/>
                </a:solidFill>
                <a:latin typeface="Calibri" pitchFamily="34" charset="0"/>
                <a:ea typeface="Calibri" pitchFamily="34" charset="-122"/>
                <a:cs typeface="Calibri" pitchFamily="34" charset="-120"/>
              </a:rPr>
              <a:t>POTENTIAL FUTURE USE</a:t>
            </a:r>
            <a:endParaRPr lang="en-US" sz="900" dirty="0"/>
          </a:p>
        </p:txBody>
      </p:sp>
      <p:sp>
        <p:nvSpPr>
          <p:cNvPr id="22" name="Text 19"/>
          <p:cNvSpPr txBox="1"/>
          <p:nvPr/>
        </p:nvSpPr>
        <p:spPr>
          <a:xfrm>
            <a:off x="4846320" y="3017520"/>
            <a:ext cx="3017520" cy="320040"/>
          </a:xfrm>
          <a:prstGeom prst="rect">
            <a:avLst/>
          </a:prstGeom>
          <a:noFill/>
          <a:ln/>
        </p:spPr>
        <p:txBody>
          <a:bodyPr wrap="square" lIns="0" tIns="0" rIns="0" bIns="0" rtlCol="0" anchor="t"/>
          <a:lstStyle/>
          <a:p>
            <a:pPr marL="0" indent="0">
              <a:buNone/>
            </a:pPr>
            <a:r>
              <a:rPr lang="en-US" sz="1500" b="1" kern="0" spc="100" dirty="0" smtClean="0">
                <a:solidFill>
                  <a:srgbClr val="E6EEF8"/>
                </a:solidFill>
                <a:latin typeface="Arial Narrow" pitchFamily="34" charset="0"/>
                <a:ea typeface="Arial Narrow" pitchFamily="34" charset="-122"/>
                <a:cs typeface="Arial Narrow" pitchFamily="34" charset="-120"/>
              </a:rPr>
              <a:t>POST-DISASTER RESCUE</a:t>
            </a:r>
            <a:endParaRPr lang="en-US" sz="1500" dirty="0"/>
          </a:p>
        </p:txBody>
      </p:sp>
      <p:sp>
        <p:nvSpPr>
          <p:cNvPr id="23" name="Text 20"/>
          <p:cNvSpPr txBox="1"/>
          <p:nvPr/>
        </p:nvSpPr>
        <p:spPr>
          <a:xfrm>
            <a:off x="4846320" y="3364992"/>
            <a:ext cx="3017520" cy="411480"/>
          </a:xfrm>
          <a:prstGeom prst="rect">
            <a:avLst/>
          </a:prstGeom>
          <a:noFill/>
          <a:ln/>
        </p:spPr>
        <p:txBody>
          <a:bodyPr wrap="square" lIns="0" tIns="0" rIns="0" bIns="0" rtlCol="0" anchor="t"/>
          <a:lstStyle/>
          <a:p>
            <a:pPr marL="0" indent="0">
              <a:buNone/>
            </a:pPr>
            <a:r>
              <a:rPr lang="en-US" sz="1200" dirty="0" smtClean="0">
                <a:solidFill>
                  <a:srgbClr val="E6EEF8"/>
                </a:solidFill>
                <a:latin typeface="Calibri" pitchFamily="34" charset="0"/>
                <a:ea typeface="Calibri" pitchFamily="34" charset="-122"/>
                <a:cs typeface="Calibri" pitchFamily="34" charset="-120"/>
              </a:rPr>
              <a:t>This bot will be a efficient option to search and rescue people after a disaster </a:t>
            </a:r>
            <a:endParaRPr lang="en-US" sz="1200" dirty="0"/>
          </a:p>
        </p:txBody>
      </p:sp>
      <p:sp>
        <p:nvSpPr>
          <p:cNvPr id="24" name="Text 21"/>
          <p:cNvSpPr txBox="1"/>
          <p:nvPr/>
        </p:nvSpPr>
        <p:spPr>
          <a:xfrm>
            <a:off x="4846320" y="3822192"/>
            <a:ext cx="3017520" cy="365760"/>
          </a:xfrm>
          <a:prstGeom prst="rect">
            <a:avLst/>
          </a:prstGeom>
          <a:noFill/>
          <a:ln/>
        </p:spPr>
        <p:txBody>
          <a:bodyPr wrap="square" lIns="0" tIns="0" rIns="0" bIns="0" rtlCol="0" anchor="t"/>
          <a:lstStyle/>
          <a:p>
            <a:pPr marL="0" indent="0">
              <a:buNone/>
            </a:pPr>
            <a:r>
              <a:rPr lang="en-US" sz="1100" dirty="0">
                <a:solidFill>
                  <a:srgbClr val="5FB8B0"/>
                </a:solidFill>
                <a:latin typeface="Calibri" pitchFamily="34" charset="0"/>
                <a:ea typeface="Calibri" pitchFamily="34" charset="-122"/>
                <a:cs typeface="Calibri" pitchFamily="34" charset="-120"/>
              </a:rPr>
              <a:t>NEEDS:  Camera, wireless link</a:t>
            </a:r>
            <a:endParaRPr lang="en-US" sz="1100" dirty="0"/>
          </a:p>
        </p:txBody>
      </p:sp>
      <p:sp>
        <p:nvSpPr>
          <p:cNvPr id="25" name="Shape 22"/>
          <p:cNvSpPr/>
          <p:nvPr/>
        </p:nvSpPr>
        <p:spPr>
          <a:xfrm>
            <a:off x="8229600" y="2560320"/>
            <a:ext cx="3383280" cy="1691640"/>
          </a:xfrm>
          <a:prstGeom prst="rect">
            <a:avLst/>
          </a:prstGeom>
          <a:solidFill>
            <a:srgbClr val="101C30"/>
          </a:solidFill>
          <a:ln w="12700">
            <a:solidFill>
              <a:srgbClr val="5FB8B0"/>
            </a:solidFill>
            <a:prstDash val="dash"/>
          </a:ln>
        </p:spPr>
      </p:sp>
      <p:sp>
        <p:nvSpPr>
          <p:cNvPr id="26" name="Shape 23"/>
          <p:cNvSpPr/>
          <p:nvPr/>
        </p:nvSpPr>
        <p:spPr>
          <a:xfrm>
            <a:off x="8412480" y="2670048"/>
            <a:ext cx="2011680" cy="256032"/>
          </a:xfrm>
          <a:prstGeom prst="rect">
            <a:avLst/>
          </a:prstGeom>
          <a:solidFill>
            <a:srgbClr val="0A1220"/>
          </a:solidFill>
          <a:ln w="9525">
            <a:solidFill>
              <a:srgbClr val="5FB8B0"/>
            </a:solidFill>
            <a:prstDash val="dash"/>
          </a:ln>
        </p:spPr>
      </p:sp>
      <p:sp>
        <p:nvSpPr>
          <p:cNvPr id="27" name="Text 24"/>
          <p:cNvSpPr txBox="1"/>
          <p:nvPr/>
        </p:nvSpPr>
        <p:spPr>
          <a:xfrm>
            <a:off x="8412480" y="2670048"/>
            <a:ext cx="2011680" cy="256032"/>
          </a:xfrm>
          <a:prstGeom prst="rect">
            <a:avLst/>
          </a:prstGeom>
          <a:noFill/>
          <a:ln/>
        </p:spPr>
        <p:txBody>
          <a:bodyPr wrap="square" lIns="0" tIns="0" rIns="0" bIns="0" rtlCol="0" anchor="ctr"/>
          <a:lstStyle/>
          <a:p>
            <a:pPr marL="0" indent="0" algn="ctr">
              <a:buNone/>
            </a:pPr>
            <a:r>
              <a:rPr lang="en-US" sz="900" b="1" kern="0" spc="200" dirty="0">
                <a:solidFill>
                  <a:srgbClr val="5FB8B0"/>
                </a:solidFill>
                <a:latin typeface="Calibri" pitchFamily="34" charset="0"/>
                <a:ea typeface="Calibri" pitchFamily="34" charset="-122"/>
                <a:cs typeface="Calibri" pitchFamily="34" charset="-120"/>
              </a:rPr>
              <a:t>POTENTIAL FUTURE USE</a:t>
            </a:r>
            <a:endParaRPr lang="en-US" sz="900" dirty="0"/>
          </a:p>
        </p:txBody>
      </p:sp>
      <p:sp>
        <p:nvSpPr>
          <p:cNvPr id="28" name="Text 25"/>
          <p:cNvSpPr txBox="1"/>
          <p:nvPr/>
        </p:nvSpPr>
        <p:spPr>
          <a:xfrm>
            <a:off x="8412480" y="3017520"/>
            <a:ext cx="3017520" cy="320040"/>
          </a:xfrm>
          <a:prstGeom prst="rect">
            <a:avLst/>
          </a:prstGeom>
          <a:noFill/>
          <a:ln/>
        </p:spPr>
        <p:txBody>
          <a:bodyPr wrap="square" lIns="0" tIns="0" rIns="0" bIns="0" rtlCol="0" anchor="t"/>
          <a:lstStyle/>
          <a:p>
            <a:pPr marL="0" indent="0">
              <a:buNone/>
            </a:pPr>
            <a:r>
              <a:rPr lang="en-US" sz="1500" b="1" kern="0" spc="100" dirty="0">
                <a:solidFill>
                  <a:srgbClr val="E6EEF8"/>
                </a:solidFill>
                <a:latin typeface="Arial Narrow" pitchFamily="34" charset="0"/>
                <a:ea typeface="Arial Narrow" pitchFamily="34" charset="-122"/>
                <a:cs typeface="Arial Narrow" pitchFamily="34" charset="-120"/>
              </a:rPr>
              <a:t>EXPLORATION</a:t>
            </a:r>
            <a:endParaRPr lang="en-US" sz="1500" dirty="0"/>
          </a:p>
        </p:txBody>
      </p:sp>
      <p:sp>
        <p:nvSpPr>
          <p:cNvPr id="29" name="Text 26"/>
          <p:cNvSpPr txBox="1"/>
          <p:nvPr/>
        </p:nvSpPr>
        <p:spPr>
          <a:xfrm>
            <a:off x="8412480" y="3364992"/>
            <a:ext cx="3017520" cy="411480"/>
          </a:xfrm>
          <a:prstGeom prst="rect">
            <a:avLst/>
          </a:prstGeom>
          <a:noFill/>
          <a:ln/>
        </p:spPr>
        <p:txBody>
          <a:bodyPr wrap="square" lIns="0" tIns="0" rIns="0" bIns="0" rtlCol="0" anchor="t"/>
          <a:lstStyle/>
          <a:p>
            <a:pPr marL="0" indent="0">
              <a:buNone/>
            </a:pPr>
            <a:r>
              <a:rPr lang="en-US" sz="1200" dirty="0">
                <a:solidFill>
                  <a:srgbClr val="E6EEF8"/>
                </a:solidFill>
                <a:latin typeface="Calibri" pitchFamily="34" charset="0"/>
                <a:ea typeface="Calibri" pitchFamily="34" charset="-122"/>
                <a:cs typeface="Calibri" pitchFamily="34" charset="-120"/>
              </a:rPr>
              <a:t>Survey unfamiliar spaces and report back</a:t>
            </a:r>
            <a:endParaRPr lang="en-US" sz="1200" dirty="0"/>
          </a:p>
        </p:txBody>
      </p:sp>
      <p:sp>
        <p:nvSpPr>
          <p:cNvPr id="30" name="Text 27"/>
          <p:cNvSpPr txBox="1"/>
          <p:nvPr/>
        </p:nvSpPr>
        <p:spPr>
          <a:xfrm>
            <a:off x="8412480" y="3822192"/>
            <a:ext cx="3017520" cy="365760"/>
          </a:xfrm>
          <a:prstGeom prst="rect">
            <a:avLst/>
          </a:prstGeom>
          <a:noFill/>
          <a:ln/>
        </p:spPr>
        <p:txBody>
          <a:bodyPr wrap="square" lIns="0" tIns="0" rIns="0" bIns="0" rtlCol="0" anchor="t"/>
          <a:lstStyle/>
          <a:p>
            <a:pPr marL="0" indent="0">
              <a:buNone/>
            </a:pPr>
            <a:r>
              <a:rPr lang="en-US" sz="1100" dirty="0">
                <a:solidFill>
                  <a:srgbClr val="5FB8B0"/>
                </a:solidFill>
                <a:latin typeface="Calibri" pitchFamily="34" charset="0"/>
                <a:ea typeface="Calibri" pitchFamily="34" charset="-122"/>
                <a:cs typeface="Calibri" pitchFamily="34" charset="-120"/>
              </a:rPr>
              <a:t>NEEDS:  Camera, proximity sensing, wireless link</a:t>
            </a:r>
            <a:endParaRPr lang="en-US" sz="1100" dirty="0"/>
          </a:p>
        </p:txBody>
      </p:sp>
      <p:sp>
        <p:nvSpPr>
          <p:cNvPr id="31" name="Shape 28"/>
          <p:cNvSpPr/>
          <p:nvPr/>
        </p:nvSpPr>
        <p:spPr>
          <a:xfrm>
            <a:off x="4663440" y="4389120"/>
            <a:ext cx="3383280" cy="1691640"/>
          </a:xfrm>
          <a:prstGeom prst="rect">
            <a:avLst/>
          </a:prstGeom>
          <a:solidFill>
            <a:srgbClr val="101C30"/>
          </a:solidFill>
          <a:ln w="12700">
            <a:solidFill>
              <a:srgbClr val="5FB8B0"/>
            </a:solidFill>
            <a:prstDash val="dash"/>
          </a:ln>
        </p:spPr>
      </p:sp>
      <p:sp>
        <p:nvSpPr>
          <p:cNvPr id="32" name="Shape 29"/>
          <p:cNvSpPr/>
          <p:nvPr/>
        </p:nvSpPr>
        <p:spPr>
          <a:xfrm>
            <a:off x="4846320" y="4498848"/>
            <a:ext cx="2011680" cy="256032"/>
          </a:xfrm>
          <a:prstGeom prst="rect">
            <a:avLst/>
          </a:prstGeom>
          <a:solidFill>
            <a:srgbClr val="0A1220"/>
          </a:solidFill>
          <a:ln w="9525">
            <a:solidFill>
              <a:srgbClr val="5FB8B0"/>
            </a:solidFill>
            <a:prstDash val="dash"/>
          </a:ln>
        </p:spPr>
      </p:sp>
      <p:sp>
        <p:nvSpPr>
          <p:cNvPr id="33" name="Text 30"/>
          <p:cNvSpPr txBox="1"/>
          <p:nvPr/>
        </p:nvSpPr>
        <p:spPr>
          <a:xfrm>
            <a:off x="4846320" y="4495365"/>
            <a:ext cx="2011680" cy="256032"/>
          </a:xfrm>
          <a:prstGeom prst="rect">
            <a:avLst/>
          </a:prstGeom>
          <a:noFill/>
          <a:ln/>
        </p:spPr>
        <p:txBody>
          <a:bodyPr wrap="square" lIns="0" tIns="0" rIns="0" bIns="0" rtlCol="0" anchor="ctr"/>
          <a:lstStyle/>
          <a:p>
            <a:pPr marL="0" indent="0" algn="ctr">
              <a:buNone/>
            </a:pPr>
            <a:r>
              <a:rPr lang="en-US" sz="900" b="1" kern="0" spc="200" dirty="0">
                <a:solidFill>
                  <a:srgbClr val="5FB8B0"/>
                </a:solidFill>
                <a:latin typeface="Calibri" pitchFamily="34" charset="0"/>
                <a:ea typeface="Calibri" pitchFamily="34" charset="-122"/>
                <a:cs typeface="Calibri" pitchFamily="34" charset="-120"/>
              </a:rPr>
              <a:t>POTENTIAL FUTURE USE</a:t>
            </a:r>
            <a:endParaRPr lang="en-US" sz="900" dirty="0"/>
          </a:p>
        </p:txBody>
      </p:sp>
      <p:sp>
        <p:nvSpPr>
          <p:cNvPr id="34" name="Text 31"/>
          <p:cNvSpPr txBox="1"/>
          <p:nvPr/>
        </p:nvSpPr>
        <p:spPr>
          <a:xfrm>
            <a:off x="4846320" y="4888557"/>
            <a:ext cx="3017520" cy="319605"/>
          </a:xfrm>
          <a:prstGeom prst="rect">
            <a:avLst/>
          </a:prstGeom>
          <a:noFill/>
          <a:ln/>
        </p:spPr>
        <p:txBody>
          <a:bodyPr wrap="square" lIns="0" tIns="0" rIns="0" bIns="0" rtlCol="0" anchor="t"/>
          <a:lstStyle/>
          <a:p>
            <a:pPr marL="0" indent="0">
              <a:buNone/>
            </a:pPr>
            <a:r>
              <a:rPr lang="en-US" sz="1500" b="1" kern="0" spc="100" dirty="0">
                <a:solidFill>
                  <a:srgbClr val="E6EEF8"/>
                </a:solidFill>
                <a:latin typeface="Arial Narrow" pitchFamily="34" charset="0"/>
                <a:ea typeface="Arial Narrow" pitchFamily="34" charset="-122"/>
                <a:cs typeface="Arial Narrow" pitchFamily="34" charset="-120"/>
              </a:rPr>
              <a:t>ENVIRONMENTAL MONITORING</a:t>
            </a:r>
            <a:endParaRPr lang="en-US" sz="1500" dirty="0"/>
          </a:p>
        </p:txBody>
      </p:sp>
      <p:sp>
        <p:nvSpPr>
          <p:cNvPr id="35" name="Text 32"/>
          <p:cNvSpPr txBox="1"/>
          <p:nvPr/>
        </p:nvSpPr>
        <p:spPr>
          <a:xfrm>
            <a:off x="4846320" y="5166361"/>
            <a:ext cx="3017520" cy="411480"/>
          </a:xfrm>
          <a:prstGeom prst="rect">
            <a:avLst/>
          </a:prstGeom>
          <a:noFill/>
          <a:ln/>
        </p:spPr>
        <p:txBody>
          <a:bodyPr wrap="square" lIns="0" tIns="0" rIns="0" bIns="0" rtlCol="0" anchor="t"/>
          <a:lstStyle/>
          <a:p>
            <a:pPr marL="0" indent="0">
              <a:buNone/>
            </a:pPr>
            <a:r>
              <a:rPr lang="en-US" sz="1200" dirty="0">
                <a:solidFill>
                  <a:srgbClr val="E6EEF8"/>
                </a:solidFill>
                <a:latin typeface="Calibri" pitchFamily="34" charset="0"/>
                <a:ea typeface="Calibri" pitchFamily="34" charset="-122"/>
                <a:cs typeface="Calibri" pitchFamily="34" charset="-120"/>
              </a:rPr>
              <a:t>Collect conditions at a </a:t>
            </a:r>
            <a:r>
              <a:rPr lang="en-US" sz="1200" dirty="0" smtClean="0">
                <a:solidFill>
                  <a:srgbClr val="E6EEF8"/>
                </a:solidFill>
                <a:latin typeface="Calibri" pitchFamily="34" charset="0"/>
                <a:ea typeface="Calibri" pitchFamily="34" charset="-122"/>
                <a:cs typeface="Calibri" pitchFamily="34" charset="-120"/>
              </a:rPr>
              <a:t>location and is very helpful for farmers in their farms</a:t>
            </a:r>
            <a:endParaRPr lang="en-US" sz="1200" dirty="0"/>
          </a:p>
        </p:txBody>
      </p:sp>
      <p:sp>
        <p:nvSpPr>
          <p:cNvPr id="36" name="Text 33"/>
          <p:cNvSpPr txBox="1"/>
          <p:nvPr/>
        </p:nvSpPr>
        <p:spPr>
          <a:xfrm>
            <a:off x="4846320" y="5650992"/>
            <a:ext cx="3017520" cy="365760"/>
          </a:xfrm>
          <a:prstGeom prst="rect">
            <a:avLst/>
          </a:prstGeom>
          <a:noFill/>
          <a:ln/>
        </p:spPr>
        <p:txBody>
          <a:bodyPr wrap="square" lIns="0" tIns="0" rIns="0" bIns="0" rtlCol="0" anchor="t"/>
          <a:lstStyle/>
          <a:p>
            <a:pPr marL="0" indent="0">
              <a:buNone/>
            </a:pPr>
            <a:r>
              <a:rPr lang="en-US" sz="1100" dirty="0">
                <a:solidFill>
                  <a:srgbClr val="5FB8B0"/>
                </a:solidFill>
                <a:latin typeface="Calibri" pitchFamily="34" charset="0"/>
                <a:ea typeface="Calibri" pitchFamily="34" charset="-122"/>
                <a:cs typeface="Calibri" pitchFamily="34" charset="-120"/>
              </a:rPr>
              <a:t>NEEDS:  Temperature sensing, wireless link</a:t>
            </a:r>
            <a:endParaRPr lang="en-US" sz="1100" dirty="0"/>
          </a:p>
        </p:txBody>
      </p:sp>
      <p:sp>
        <p:nvSpPr>
          <p:cNvPr id="37" name="Shape 34"/>
          <p:cNvSpPr/>
          <p:nvPr/>
        </p:nvSpPr>
        <p:spPr>
          <a:xfrm>
            <a:off x="8229600" y="4389120"/>
            <a:ext cx="3383280" cy="1691640"/>
          </a:xfrm>
          <a:prstGeom prst="rect">
            <a:avLst/>
          </a:prstGeom>
          <a:solidFill>
            <a:srgbClr val="101C30"/>
          </a:solidFill>
          <a:ln w="12700">
            <a:solidFill>
              <a:srgbClr val="C9A24B"/>
            </a:solidFill>
            <a:prstDash val="dash"/>
          </a:ln>
        </p:spPr>
      </p:sp>
      <p:sp>
        <p:nvSpPr>
          <p:cNvPr id="38" name="Text 35"/>
          <p:cNvSpPr txBox="1"/>
          <p:nvPr/>
        </p:nvSpPr>
        <p:spPr>
          <a:xfrm>
            <a:off x="8412480" y="4526280"/>
            <a:ext cx="3017520" cy="274320"/>
          </a:xfrm>
          <a:prstGeom prst="rect">
            <a:avLst/>
          </a:prstGeom>
          <a:noFill/>
          <a:ln/>
        </p:spPr>
        <p:txBody>
          <a:bodyPr wrap="square" lIns="0" tIns="0" rIns="0" bIns="0" rtlCol="0" anchor="t"/>
          <a:lstStyle/>
          <a:p>
            <a:pPr marL="0" indent="0">
              <a:buNone/>
            </a:pPr>
            <a:endParaRPr lang="en-US" sz="1100" dirty="0"/>
          </a:p>
        </p:txBody>
      </p:sp>
      <p:sp>
        <p:nvSpPr>
          <p:cNvPr id="39" name="Text 36"/>
          <p:cNvSpPr txBox="1"/>
          <p:nvPr/>
        </p:nvSpPr>
        <p:spPr>
          <a:xfrm>
            <a:off x="8412480" y="4892040"/>
            <a:ext cx="3017520" cy="274320"/>
          </a:xfrm>
          <a:prstGeom prst="rect">
            <a:avLst/>
          </a:prstGeom>
          <a:noFill/>
          <a:ln/>
        </p:spPr>
        <p:txBody>
          <a:bodyPr wrap="square" lIns="0" tIns="0" rIns="0" bIns="0" rtlCol="0" anchor="t"/>
          <a:lstStyle/>
          <a:p>
            <a:pPr marL="0" indent="0">
              <a:buNone/>
            </a:pPr>
            <a:r>
              <a:rPr lang="en-US" sz="1500" b="1" dirty="0" smtClean="0">
                <a:solidFill>
                  <a:srgbClr val="F8F8F8"/>
                </a:solidFill>
                <a:latin typeface="Arial Narrow" panose="020B0606020202030204" pitchFamily="34" charset="0"/>
              </a:rPr>
              <a:t>SPACE EXPLORATION</a:t>
            </a:r>
            <a:endParaRPr lang="en-US" sz="1500" b="1" dirty="0">
              <a:solidFill>
                <a:srgbClr val="F8F8F8"/>
              </a:solidFill>
              <a:latin typeface="Arial Narrow" panose="020B0606020202030204" pitchFamily="34" charset="0"/>
            </a:endParaRPr>
          </a:p>
        </p:txBody>
      </p:sp>
      <p:sp>
        <p:nvSpPr>
          <p:cNvPr id="6"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12</a:t>
            </a:fld>
            <a:endParaRPr lang="en-US"/>
          </a:p>
        </p:txBody>
      </p:sp>
      <p:cxnSp>
        <p:nvCxnSpPr>
          <p:cNvPr id="41" name="Straight Connector 40"/>
          <p:cNvCxnSpPr/>
          <p:nvPr/>
        </p:nvCxnSpPr>
        <p:spPr>
          <a:xfrm>
            <a:off x="304800" y="1947672"/>
            <a:ext cx="4110446" cy="0"/>
          </a:xfrm>
          <a:prstGeom prst="line">
            <a:avLst/>
          </a:prstGeom>
        </p:spPr>
        <p:style>
          <a:lnRef idx="1">
            <a:schemeClr val="accent1"/>
          </a:lnRef>
          <a:fillRef idx="0">
            <a:schemeClr val="accent1"/>
          </a:fillRef>
          <a:effectRef idx="0">
            <a:schemeClr val="accent1"/>
          </a:effectRef>
          <a:fontRef idx="minor">
            <a:schemeClr val="tx1"/>
          </a:fontRef>
        </p:style>
      </p:cxnSp>
      <p:pic>
        <p:nvPicPr>
          <p:cNvPr id="43" name="Picture 42"/>
          <p:cNvPicPr>
            <a:picLocks noChangeAspect="1"/>
          </p:cNvPicPr>
          <p:nvPr/>
        </p:nvPicPr>
        <p:blipFill>
          <a:blip r:embed="rId3"/>
          <a:stretch>
            <a:fillRect/>
          </a:stretch>
        </p:blipFill>
        <p:spPr>
          <a:xfrm>
            <a:off x="8412480" y="4503107"/>
            <a:ext cx="2024047" cy="268247"/>
          </a:xfrm>
          <a:prstGeom prst="rect">
            <a:avLst/>
          </a:prstGeom>
        </p:spPr>
      </p:pic>
      <p:pic>
        <p:nvPicPr>
          <p:cNvPr id="47" name="Picture 46"/>
          <p:cNvPicPr>
            <a:picLocks noChangeAspect="1"/>
          </p:cNvPicPr>
          <p:nvPr/>
        </p:nvPicPr>
        <p:blipFill>
          <a:blip r:embed="rId4"/>
          <a:stretch>
            <a:fillRect/>
          </a:stretch>
        </p:blipFill>
        <p:spPr>
          <a:xfrm>
            <a:off x="8412306" y="4499380"/>
            <a:ext cx="2011854" cy="274344"/>
          </a:xfrm>
          <a:prstGeom prst="rect">
            <a:avLst/>
          </a:prstGeom>
        </p:spPr>
      </p:pic>
      <p:sp>
        <p:nvSpPr>
          <p:cNvPr id="51" name="TextBox 50"/>
          <p:cNvSpPr txBox="1"/>
          <p:nvPr/>
        </p:nvSpPr>
        <p:spPr>
          <a:xfrm>
            <a:off x="8366760" y="5166360"/>
            <a:ext cx="3017520" cy="600164"/>
          </a:xfrm>
          <a:prstGeom prst="rect">
            <a:avLst/>
          </a:prstGeom>
          <a:noFill/>
        </p:spPr>
        <p:txBody>
          <a:bodyPr wrap="square" rtlCol="0">
            <a:spAutoFit/>
          </a:bodyPr>
          <a:lstStyle/>
          <a:p>
            <a:r>
              <a:rPr lang="en-US" sz="1100" dirty="0">
                <a:solidFill>
                  <a:srgbClr val="F8F8F8"/>
                </a:solidFill>
              </a:rPr>
              <a:t>H</a:t>
            </a:r>
            <a:r>
              <a:rPr lang="en-US" sz="1100" dirty="0" smtClean="0">
                <a:solidFill>
                  <a:srgbClr val="F8F8F8"/>
                </a:solidFill>
              </a:rPr>
              <a:t>ave </a:t>
            </a:r>
            <a:r>
              <a:rPr lang="en-US" sz="1100" dirty="0">
                <a:solidFill>
                  <a:srgbClr val="F8F8F8"/>
                </a:solidFill>
              </a:rPr>
              <a:t>potential applications in space exploration, assisting in planetary exploration missions, such as on Mars or </a:t>
            </a:r>
            <a:r>
              <a:rPr lang="en-US" sz="1100" dirty="0">
                <a:solidFill>
                  <a:srgbClr val="F8F8F8"/>
                </a:solidFill>
                <a:latin typeface="Calibri" panose="020F0502020204030204" pitchFamily="34" charset="0"/>
                <a:ea typeface="Calibri" panose="020F0502020204030204" pitchFamily="34" charset="0"/>
                <a:cs typeface="Calibri" panose="020F0502020204030204" pitchFamily="34" charset="0"/>
              </a:rPr>
              <a:t>other</a:t>
            </a:r>
            <a:r>
              <a:rPr lang="en-US" sz="1100" dirty="0">
                <a:solidFill>
                  <a:srgbClr val="F8F8F8"/>
                </a:solidFill>
              </a:rPr>
              <a:t> celestial bodies</a:t>
            </a:r>
            <a:endParaRPr lang="en-IN" sz="600" dirty="0">
              <a:solidFill>
                <a:srgbClr val="F8F8F8"/>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12  FEASIBILITY</a:t>
            </a:r>
            <a:endParaRPr lang="en-US" sz="1100" dirty="0"/>
          </a:p>
        </p:txBody>
      </p:sp>
      <p:sp>
        <p:nvSpPr>
          <p:cNvPr id="3" name="Text 46"/>
          <p:cNvSpPr>
            <a:spLocks noGrp="1"/>
          </p:cNvSpPr>
          <p:nvPr>
            <p:ph type="title" idx="147" hasCustomPrompt="1"/>
          </p:nvPr>
        </p:nvSpPr>
        <p:spPr>
          <a:xfrm>
            <a:off x="548640" y="777240"/>
            <a:ext cx="3749040" cy="1463040"/>
          </a:xfrm>
          <a:prstGeom prst="rect">
            <a:avLst/>
          </a:prstGeom>
          <a:noFill/>
          <a:ln/>
        </p:spPr>
        <p:txBody>
          <a:bodyPr wrap="square" lIns="0" tIns="0" rIns="0" bIns="0" rtlCol="0" anchor="t"/>
          <a:lstStyle/>
          <a:p>
            <a:pPr marL="0" indent="0" algn="l">
              <a:buNone/>
            </a:pPr>
            <a:r>
              <a:rPr lang="en-US" sz="3000" b="1" kern="0" spc="100" dirty="0">
                <a:solidFill>
                  <a:srgbClr val="E6EEF8"/>
                </a:solidFill>
              </a:rPr>
              <a:t>REALISTIC BECAUSE IT IS INCREMENTAL</a:t>
            </a:r>
            <a:endParaRPr lang="en-US" sz="3000" dirty="0"/>
          </a:p>
        </p:txBody>
      </p:sp>
      <p:sp>
        <p:nvSpPr>
          <p:cNvPr id="4" name="Text 46"/>
          <p:cNvSpPr>
            <a:spLocks noGrp="1"/>
          </p:cNvSpPr>
          <p:nvPr>
            <p:ph type="body" idx="148" hasCustomPrompt="1"/>
          </p:nvPr>
        </p:nvSpPr>
        <p:spPr>
          <a:xfrm>
            <a:off x="548640" y="2377440"/>
            <a:ext cx="3657600" cy="868680"/>
          </a:xfrm>
          <a:prstGeom prst="rect">
            <a:avLst/>
          </a:prstGeom>
          <a:noFill/>
          <a:ln/>
        </p:spPr>
        <p:txBody>
          <a:bodyPr wrap="square" lIns="0" tIns="0" rIns="0" bIns="0" rtlCol="0" anchor="t"/>
          <a:lstStyle/>
          <a:p>
            <a:pPr marL="0" indent="0">
              <a:buNone/>
            </a:pPr>
            <a:r>
              <a:rPr lang="en-US" sz="1400" b="1" dirty="0">
                <a:solidFill>
                  <a:srgbClr val="2EA8FF"/>
                </a:solidFill>
                <a:latin typeface="Calibri" pitchFamily="34" charset="0"/>
                <a:ea typeface="Calibri" pitchFamily="34" charset="-122"/>
                <a:cs typeface="Calibri" pitchFamily="34" charset="-120"/>
              </a:rPr>
              <a:t>The plan rests on what already works and on challenges we state openly.</a:t>
            </a:r>
            <a:endParaRPr lang="en-US" sz="14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Locomotion and voice control already work.</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Upgrades are modular, and human-in-the-loop operation means full autonomy is not required.</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The open challenges are real and shape our next steps.</a:t>
            </a:r>
            <a:endParaRPr lang="en-US" sz="1300" dirty="0"/>
          </a:p>
        </p:txBody>
      </p:sp>
      <p:sp>
        <p:nvSpPr>
          <p:cNvPr id="7" name="Shape 4"/>
          <p:cNvSpPr/>
          <p:nvPr/>
        </p:nvSpPr>
        <p:spPr>
          <a:xfrm>
            <a:off x="4663440" y="731520"/>
            <a:ext cx="3383280" cy="4297680"/>
          </a:xfrm>
          <a:prstGeom prst="rect">
            <a:avLst/>
          </a:prstGeom>
          <a:solidFill>
            <a:srgbClr val="101C30"/>
          </a:solidFill>
          <a:ln w="12700">
            <a:solidFill>
              <a:srgbClr val="2EA8FF"/>
            </a:solidFill>
            <a:prstDash val="solid"/>
          </a:ln>
        </p:spPr>
      </p:sp>
      <p:sp>
        <p:nvSpPr>
          <p:cNvPr id="8" name="Shape 5"/>
          <p:cNvSpPr/>
          <p:nvPr/>
        </p:nvSpPr>
        <p:spPr>
          <a:xfrm>
            <a:off x="8229600" y="731520"/>
            <a:ext cx="3383280" cy="4297680"/>
          </a:xfrm>
          <a:prstGeom prst="rect">
            <a:avLst/>
          </a:prstGeom>
          <a:solidFill>
            <a:srgbClr val="101C30"/>
          </a:solidFill>
          <a:ln w="12700">
            <a:solidFill>
              <a:srgbClr val="C9A24B"/>
            </a:solidFill>
            <a:prstDash val="dash"/>
          </a:ln>
        </p:spPr>
      </p:sp>
      <p:sp>
        <p:nvSpPr>
          <p:cNvPr id="9" name="Text 6"/>
          <p:cNvSpPr txBox="1"/>
          <p:nvPr/>
        </p:nvSpPr>
        <p:spPr>
          <a:xfrm>
            <a:off x="4937760" y="914400"/>
            <a:ext cx="2926080" cy="365760"/>
          </a:xfrm>
          <a:prstGeom prst="rect">
            <a:avLst/>
          </a:prstGeom>
          <a:noFill/>
          <a:ln/>
        </p:spPr>
        <p:txBody>
          <a:bodyPr wrap="square" lIns="0" tIns="0" rIns="0" bIns="0" rtlCol="0" anchor="t"/>
          <a:lstStyle/>
          <a:p>
            <a:pPr marL="0" indent="0">
              <a:buNone/>
            </a:pPr>
            <a:r>
              <a:rPr lang="en-US" sz="1700" b="1" kern="0" spc="300" dirty="0">
                <a:solidFill>
                  <a:srgbClr val="2EA8FF"/>
                </a:solidFill>
                <a:latin typeface="Arial Narrow" pitchFamily="34" charset="0"/>
                <a:ea typeface="Arial Narrow" pitchFamily="34" charset="-122"/>
                <a:cs typeface="Arial Narrow" pitchFamily="34" charset="-120"/>
              </a:rPr>
              <a:t>WHAT IS TRUE TODAY</a:t>
            </a:r>
            <a:endParaRPr lang="en-US" sz="1700" dirty="0"/>
          </a:p>
        </p:txBody>
      </p:sp>
      <p:sp>
        <p:nvSpPr>
          <p:cNvPr id="10" name="Text 7"/>
          <p:cNvSpPr txBox="1"/>
          <p:nvPr/>
        </p:nvSpPr>
        <p:spPr>
          <a:xfrm>
            <a:off x="4937760" y="1554480"/>
            <a:ext cx="2926080" cy="32918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E6EEF8"/>
                </a:solidFill>
                <a:latin typeface="Calibri" pitchFamily="34" charset="0"/>
                <a:ea typeface="Calibri" pitchFamily="34" charset="-122"/>
                <a:cs typeface="Calibri" pitchFamily="34" charset="-120"/>
              </a:rPr>
              <a:t>Locomotion works</a:t>
            </a:r>
            <a:endParaRPr lang="en-US" sz="1500" dirty="0"/>
          </a:p>
          <a:p>
            <a:pPr marL="177800" indent="-177800">
              <a:spcAft>
                <a:spcPts val="1200"/>
              </a:spcAft>
              <a:buSzPct val="100000"/>
              <a:buChar char="•"/>
            </a:pPr>
            <a:r>
              <a:rPr lang="en-US" sz="1500" dirty="0">
                <a:solidFill>
                  <a:srgbClr val="E6EEF8"/>
                </a:solidFill>
                <a:latin typeface="Calibri" pitchFamily="34" charset="0"/>
                <a:ea typeface="Calibri" pitchFamily="34" charset="-122"/>
                <a:cs typeface="Calibri" pitchFamily="34" charset="-120"/>
              </a:rPr>
              <a:t>Voice control works</a:t>
            </a:r>
            <a:endParaRPr lang="en-US" sz="1500" dirty="0"/>
          </a:p>
          <a:p>
            <a:pPr marL="177800" indent="-177800">
              <a:spcAft>
                <a:spcPts val="1200"/>
              </a:spcAft>
              <a:buSzPct val="100000"/>
              <a:buChar char="•"/>
            </a:pPr>
            <a:r>
              <a:rPr lang="en-US" sz="1500" dirty="0">
                <a:solidFill>
                  <a:srgbClr val="E6EEF8"/>
                </a:solidFill>
                <a:latin typeface="Calibri" pitchFamily="34" charset="0"/>
                <a:ea typeface="Calibri" pitchFamily="34" charset="-122"/>
                <a:cs typeface="Calibri" pitchFamily="34" charset="-120"/>
              </a:rPr>
              <a:t>Upgrades are modular and incremental</a:t>
            </a:r>
            <a:endParaRPr lang="en-US" sz="1500" dirty="0"/>
          </a:p>
          <a:p>
            <a:pPr marL="177800" indent="-177800">
              <a:spcAft>
                <a:spcPts val="1200"/>
              </a:spcAft>
              <a:buSzPct val="100000"/>
              <a:buChar char="•"/>
            </a:pPr>
            <a:r>
              <a:rPr lang="en-US" sz="1500" dirty="0">
                <a:solidFill>
                  <a:srgbClr val="E6EEF8"/>
                </a:solidFill>
                <a:latin typeface="Calibri" pitchFamily="34" charset="0"/>
                <a:ea typeface="Calibri" pitchFamily="34" charset="-122"/>
                <a:cs typeface="Calibri" pitchFamily="34" charset="-120"/>
              </a:rPr>
              <a:t>Human-in-the-loop: full autonomy not required</a:t>
            </a:r>
            <a:endParaRPr lang="en-US" sz="1500" dirty="0"/>
          </a:p>
        </p:txBody>
      </p:sp>
      <p:sp>
        <p:nvSpPr>
          <p:cNvPr id="11" name="Text 8"/>
          <p:cNvSpPr txBox="1"/>
          <p:nvPr/>
        </p:nvSpPr>
        <p:spPr>
          <a:xfrm>
            <a:off x="8503920" y="914400"/>
            <a:ext cx="2926080" cy="365760"/>
          </a:xfrm>
          <a:prstGeom prst="rect">
            <a:avLst/>
          </a:prstGeom>
          <a:noFill/>
          <a:ln/>
        </p:spPr>
        <p:txBody>
          <a:bodyPr wrap="square" lIns="0" tIns="0" rIns="0" bIns="0" rtlCol="0" anchor="t"/>
          <a:lstStyle/>
          <a:p>
            <a:pPr marL="0" indent="0">
              <a:buNone/>
            </a:pPr>
            <a:r>
              <a:rPr lang="en-US" sz="1700" b="1" kern="0" spc="300" dirty="0">
                <a:solidFill>
                  <a:srgbClr val="C9A24B"/>
                </a:solidFill>
                <a:latin typeface="Arial Narrow" pitchFamily="34" charset="0"/>
                <a:ea typeface="Arial Narrow" pitchFamily="34" charset="-122"/>
                <a:cs typeface="Arial Narrow" pitchFamily="34" charset="-120"/>
              </a:rPr>
              <a:t>HONEST CHALLENGES</a:t>
            </a:r>
            <a:endParaRPr lang="en-US" sz="1700" dirty="0"/>
          </a:p>
        </p:txBody>
      </p:sp>
      <p:sp>
        <p:nvSpPr>
          <p:cNvPr id="12" name="Text 9"/>
          <p:cNvSpPr txBox="1"/>
          <p:nvPr/>
        </p:nvSpPr>
        <p:spPr>
          <a:xfrm>
            <a:off x="8503920" y="1554480"/>
            <a:ext cx="2926080" cy="329184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E6EEF8"/>
                </a:solidFill>
                <a:latin typeface="Calibri" pitchFamily="34" charset="0"/>
                <a:ea typeface="Calibri" pitchFamily="34" charset="-122"/>
                <a:cs typeface="Calibri" pitchFamily="34" charset="-120"/>
              </a:rPr>
              <a:t>Servo power demand</a:t>
            </a:r>
            <a:endParaRPr lang="en-US" sz="1500" dirty="0"/>
          </a:p>
          <a:p>
            <a:pPr marL="177800" indent="-177800">
              <a:spcAft>
                <a:spcPts val="1200"/>
              </a:spcAft>
              <a:buSzPct val="100000"/>
              <a:buChar char="•"/>
            </a:pPr>
            <a:r>
              <a:rPr lang="en-US" sz="1500" dirty="0">
                <a:solidFill>
                  <a:srgbClr val="E6EEF8"/>
                </a:solidFill>
                <a:latin typeface="Calibri" pitchFamily="34" charset="0"/>
                <a:ea typeface="Calibri" pitchFamily="34" charset="-122"/>
                <a:cs typeface="Calibri" pitchFamily="34" charset="-120"/>
              </a:rPr>
              <a:t>Mechanical reliability and calibration</a:t>
            </a:r>
            <a:endParaRPr lang="en-US" sz="1500" dirty="0"/>
          </a:p>
          <a:p>
            <a:pPr marL="177800" indent="-177800">
              <a:spcAft>
                <a:spcPts val="1200"/>
              </a:spcAft>
              <a:buSzPct val="100000"/>
              <a:buChar char="•"/>
            </a:pPr>
            <a:r>
              <a:rPr lang="en-US" sz="1500" dirty="0">
                <a:solidFill>
                  <a:srgbClr val="E6EEF8"/>
                </a:solidFill>
                <a:latin typeface="Calibri" pitchFamily="34" charset="0"/>
                <a:ea typeface="Calibri" pitchFamily="34" charset="-122"/>
                <a:cs typeface="Calibri" pitchFamily="34" charset="-120"/>
              </a:rPr>
              <a:t>Environmental protection</a:t>
            </a:r>
            <a:endParaRPr lang="en-US" sz="1500" dirty="0"/>
          </a:p>
          <a:p>
            <a:pPr marL="177800" indent="-177800">
              <a:spcAft>
                <a:spcPts val="1200"/>
              </a:spcAft>
              <a:buSzPct val="100000"/>
              <a:buChar char="•"/>
            </a:pPr>
            <a:r>
              <a:rPr lang="en-US" sz="1500" dirty="0">
                <a:solidFill>
                  <a:srgbClr val="E6EEF8"/>
                </a:solidFill>
                <a:latin typeface="Calibri" pitchFamily="34" charset="0"/>
                <a:ea typeface="Calibri" pitchFamily="34" charset="-122"/>
                <a:cs typeface="Calibri" pitchFamily="34" charset="-120"/>
              </a:rPr>
              <a:t>Communication range</a:t>
            </a:r>
            <a:endParaRPr lang="en-US" sz="1500" dirty="0"/>
          </a:p>
        </p:txBody>
      </p:sp>
      <p:sp>
        <p:nvSpPr>
          <p:cNvPr id="13" name="Shape 10"/>
          <p:cNvSpPr/>
          <p:nvPr/>
        </p:nvSpPr>
        <p:spPr>
          <a:xfrm>
            <a:off x="4663440" y="5303520"/>
            <a:ext cx="6949440" cy="731520"/>
          </a:xfrm>
          <a:prstGeom prst="rect">
            <a:avLst/>
          </a:prstGeom>
          <a:solidFill>
            <a:srgbClr val="101C30"/>
          </a:solidFill>
          <a:ln w="12700">
            <a:solidFill>
              <a:srgbClr val="2EA8FF"/>
            </a:solidFill>
            <a:prstDash val="solid"/>
          </a:ln>
        </p:spPr>
      </p:sp>
      <p:sp>
        <p:nvSpPr>
          <p:cNvPr id="14" name="Text 11"/>
          <p:cNvSpPr txBox="1"/>
          <p:nvPr/>
        </p:nvSpPr>
        <p:spPr>
          <a:xfrm>
            <a:off x="4709160" y="5303520"/>
            <a:ext cx="6858000" cy="731520"/>
          </a:xfrm>
          <a:prstGeom prst="rect">
            <a:avLst/>
          </a:prstGeom>
          <a:noFill/>
          <a:ln/>
        </p:spPr>
        <p:txBody>
          <a:bodyPr wrap="square" lIns="0" tIns="0" rIns="0" bIns="0" rtlCol="0" anchor="ctr"/>
          <a:lstStyle/>
          <a:p>
            <a:pPr marL="0" indent="0" algn="ctr">
              <a:buNone/>
            </a:pPr>
            <a:r>
              <a:rPr lang="en-US" sz="1500" b="1" kern="0" spc="100" dirty="0">
                <a:solidFill>
                  <a:srgbClr val="2EA8FF"/>
                </a:solidFill>
                <a:latin typeface="Arial Narrow" pitchFamily="34" charset="0"/>
                <a:ea typeface="Arial Narrow" pitchFamily="34" charset="-122"/>
                <a:cs typeface="Arial Narrow" pitchFamily="34" charset="-120"/>
              </a:rPr>
              <a:t>ADD ONE MODULE AT A TIME  →  TEST  →  THE HUMAN DECIDES</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6"/>
          <p:cNvSpPr>
            <a:spLocks noGrp="1"/>
          </p:cNvSpPr>
          <p:nvPr>
            <p:ph type="body" idx="146" hasCustomPrompt="1"/>
          </p:nvPr>
        </p:nvSpPr>
        <p:spPr>
          <a:xfrm>
            <a:off x="548640" y="457200"/>
            <a:ext cx="3657600" cy="274320"/>
          </a:xfrm>
          <a:prstGeom prst="rect">
            <a:avLst/>
          </a:prstGeom>
          <a:noFill/>
          <a:ln/>
        </p:spPr>
        <p:txBody>
          <a:bodyPr wrap="square" lIns="0" tIns="0" rIns="0" bIns="0" rtlCol="0"/>
          <a:lstStyle/>
          <a:p>
            <a:pPr marL="0" indent="0">
              <a:buNone/>
            </a:pPr>
            <a:r>
              <a:rPr lang="en-US" sz="1100" b="1" kern="0" spc="400" dirty="0">
                <a:solidFill>
                  <a:srgbClr val="2EA8FF"/>
                </a:solidFill>
                <a:latin typeface="Calibri" pitchFamily="34" charset="0"/>
                <a:ea typeface="Calibri" pitchFamily="34" charset="-122"/>
                <a:cs typeface="Calibri" pitchFamily="34" charset="-120"/>
              </a:rPr>
              <a:t>13  ROADMAP</a:t>
            </a:r>
            <a:endParaRPr lang="en-US" sz="1100" dirty="0"/>
          </a:p>
        </p:txBody>
      </p:sp>
      <p:sp>
        <p:nvSpPr>
          <p:cNvPr id="3" name="Text 46"/>
          <p:cNvSpPr>
            <a:spLocks noGrp="1"/>
          </p:cNvSpPr>
          <p:nvPr>
            <p:ph type="title" idx="147" hasCustomPrompt="1"/>
          </p:nvPr>
        </p:nvSpPr>
        <p:spPr>
          <a:xfrm>
            <a:off x="548640" y="777240"/>
            <a:ext cx="3749040" cy="1463040"/>
          </a:xfrm>
          <a:prstGeom prst="rect">
            <a:avLst/>
          </a:prstGeom>
          <a:noFill/>
          <a:ln/>
        </p:spPr>
        <p:txBody>
          <a:bodyPr wrap="square" lIns="0" tIns="0" rIns="0" bIns="0" rtlCol="0" anchor="t"/>
          <a:lstStyle/>
          <a:p>
            <a:pPr marL="0" indent="0" algn="l">
              <a:buNone/>
            </a:pPr>
            <a:r>
              <a:rPr lang="en-US" sz="3000" b="1" kern="0" spc="100" dirty="0">
                <a:solidFill>
                  <a:srgbClr val="E6EEF8"/>
                </a:solidFill>
              </a:rPr>
              <a:t>THREE PHASES, ONE DIRECTION</a:t>
            </a:r>
            <a:endParaRPr lang="en-US" sz="3000" dirty="0"/>
          </a:p>
        </p:txBody>
      </p:sp>
      <p:sp>
        <p:nvSpPr>
          <p:cNvPr id="4" name="Text 46"/>
          <p:cNvSpPr>
            <a:spLocks noGrp="1"/>
          </p:cNvSpPr>
          <p:nvPr>
            <p:ph type="body" idx="148" hasCustomPrompt="1"/>
          </p:nvPr>
        </p:nvSpPr>
        <p:spPr>
          <a:xfrm>
            <a:off x="548640" y="2377440"/>
            <a:ext cx="3657600" cy="868680"/>
          </a:xfrm>
          <a:prstGeom prst="rect">
            <a:avLst/>
          </a:prstGeom>
          <a:noFill/>
          <a:ln/>
        </p:spPr>
        <p:txBody>
          <a:bodyPr wrap="square" lIns="0" tIns="0" rIns="0" bIns="0" rtlCol="0" anchor="t"/>
          <a:lstStyle/>
          <a:p>
            <a:pPr marL="0" indent="0">
              <a:buNone/>
            </a:pPr>
            <a:r>
              <a:rPr lang="en-US" sz="1400" b="1" dirty="0">
                <a:solidFill>
                  <a:srgbClr val="2EA8FF"/>
                </a:solidFill>
                <a:latin typeface="Calibri" pitchFamily="34" charset="0"/>
                <a:ea typeface="Calibri" pitchFamily="34" charset="-122"/>
                <a:cs typeface="Calibri" pitchFamily="34" charset="-120"/>
              </a:rPr>
              <a:t>Capability grows step by step, and the human stays in the loop throughout.</a:t>
            </a:r>
            <a:endParaRPr lang="en-US" sz="1400" dirty="0"/>
          </a:p>
        </p:txBody>
      </p:sp>
      <p:sp>
        <p:nvSpPr>
          <p:cNvPr id="5" name="Text 46"/>
          <p:cNvSpPr>
            <a:spLocks noGrp="1"/>
          </p:cNvSpPr>
          <p:nvPr>
            <p:ph type="body" idx="149" hasCustomPrompt="1"/>
          </p:nvPr>
        </p:nvSpPr>
        <p:spPr>
          <a:xfrm>
            <a:off x="548640" y="3337560"/>
            <a:ext cx="3657600" cy="2834640"/>
          </a:xfrm>
          <a:prstGeom prst="rect">
            <a:avLst/>
          </a:prstGeom>
          <a:noFill/>
          <a:ln/>
        </p:spPr>
        <p:txBody>
          <a:bodyPr wrap="square" lIns="0" tIns="0" rIns="0" bIns="0" rtlCol="0" anchor="t"/>
          <a:lstStyle/>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Phase 1 is complete and demonstrable.</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Phase 2 is proposed and adds sensing and communication.</a:t>
            </a:r>
            <a:endParaRPr lang="en-US" sz="1300" dirty="0"/>
          </a:p>
          <a:p>
            <a:pPr marL="0" indent="0">
              <a:spcAft>
                <a:spcPts val="900"/>
              </a:spcAft>
              <a:buNone/>
            </a:pPr>
            <a:r>
              <a:rPr lang="en-US" sz="1300" dirty="0">
                <a:solidFill>
                  <a:srgbClr val="8FA3BC"/>
                </a:solidFill>
                <a:latin typeface="Calibri" pitchFamily="34" charset="0"/>
                <a:ea typeface="Calibri" pitchFamily="34" charset="-122"/>
                <a:cs typeface="Calibri" pitchFamily="34" charset="-120"/>
              </a:rPr>
              <a:t>Phase 3 is future research toward semi-autonomy; the operator still decides.</a:t>
            </a:r>
            <a:endParaRPr lang="en-US" sz="1300" dirty="0"/>
          </a:p>
        </p:txBody>
      </p:sp>
      <p:sp>
        <p:nvSpPr>
          <p:cNvPr id="7" name="Shape 4"/>
          <p:cNvSpPr/>
          <p:nvPr/>
        </p:nvSpPr>
        <p:spPr>
          <a:xfrm>
            <a:off x="4663440" y="731520"/>
            <a:ext cx="6949440" cy="1691640"/>
          </a:xfrm>
          <a:prstGeom prst="rect">
            <a:avLst/>
          </a:prstGeom>
          <a:solidFill>
            <a:srgbClr val="101C30"/>
          </a:solidFill>
          <a:ln w="12700">
            <a:solidFill>
              <a:srgbClr val="2EA8FF"/>
            </a:solidFill>
            <a:prstDash val="solid"/>
          </a:ln>
        </p:spPr>
      </p:sp>
      <p:sp>
        <p:nvSpPr>
          <p:cNvPr id="8" name="Shape 5"/>
          <p:cNvSpPr/>
          <p:nvPr/>
        </p:nvSpPr>
        <p:spPr>
          <a:xfrm>
            <a:off x="4892040" y="914400"/>
            <a:ext cx="1645920" cy="256032"/>
          </a:xfrm>
          <a:prstGeom prst="rect">
            <a:avLst/>
          </a:prstGeom>
          <a:solidFill>
            <a:srgbClr val="0A1220"/>
          </a:solidFill>
          <a:ln w="9525">
            <a:solidFill>
              <a:srgbClr val="2EA8FF"/>
            </a:solidFill>
            <a:prstDash val="solid"/>
          </a:ln>
        </p:spPr>
      </p:sp>
      <p:sp>
        <p:nvSpPr>
          <p:cNvPr id="9" name="Text 6"/>
          <p:cNvSpPr txBox="1"/>
          <p:nvPr/>
        </p:nvSpPr>
        <p:spPr>
          <a:xfrm>
            <a:off x="4892040" y="914400"/>
            <a:ext cx="1645920" cy="256032"/>
          </a:xfrm>
          <a:prstGeom prst="rect">
            <a:avLst/>
          </a:prstGeom>
          <a:noFill/>
          <a:ln/>
        </p:spPr>
        <p:txBody>
          <a:bodyPr wrap="square" lIns="0" tIns="0" rIns="0" bIns="0" rtlCol="0" anchor="ctr"/>
          <a:lstStyle/>
          <a:p>
            <a:pPr marL="0" indent="0" algn="ctr">
              <a:buNone/>
            </a:pPr>
            <a:r>
              <a:rPr lang="en-US" sz="900" b="1" kern="0" spc="200" dirty="0">
                <a:solidFill>
                  <a:srgbClr val="2EA8FF"/>
                </a:solidFill>
                <a:latin typeface="Calibri" pitchFamily="34" charset="0"/>
                <a:ea typeface="Calibri" pitchFamily="34" charset="-122"/>
                <a:cs typeface="Calibri" pitchFamily="34" charset="-120"/>
              </a:rPr>
              <a:t>CURRENT</a:t>
            </a:r>
            <a:endParaRPr lang="en-US" sz="900" dirty="0"/>
          </a:p>
        </p:txBody>
      </p:sp>
      <p:sp>
        <p:nvSpPr>
          <p:cNvPr id="10" name="Text 7"/>
          <p:cNvSpPr txBox="1"/>
          <p:nvPr/>
        </p:nvSpPr>
        <p:spPr>
          <a:xfrm>
            <a:off x="4892040" y="1280160"/>
            <a:ext cx="2377440" cy="457200"/>
          </a:xfrm>
          <a:prstGeom prst="rect">
            <a:avLst/>
          </a:prstGeom>
          <a:noFill/>
          <a:ln/>
        </p:spPr>
        <p:txBody>
          <a:bodyPr wrap="square" lIns="0" tIns="0" rIns="0" bIns="0" rtlCol="0" anchor="t"/>
          <a:lstStyle/>
          <a:p>
            <a:pPr marL="0" indent="0">
              <a:buNone/>
            </a:pPr>
            <a:r>
              <a:rPr lang="en-US" sz="2600" b="1" dirty="0">
                <a:solidFill>
                  <a:srgbClr val="2EA8FF"/>
                </a:solidFill>
                <a:latin typeface="Arial Narrow" pitchFamily="34" charset="0"/>
                <a:ea typeface="Arial Narrow" pitchFamily="34" charset="-122"/>
                <a:cs typeface="Arial Narrow" pitchFamily="34" charset="-120"/>
              </a:rPr>
              <a:t>PHASE 1</a:t>
            </a:r>
            <a:endParaRPr lang="en-US" sz="2600" dirty="0"/>
          </a:p>
        </p:txBody>
      </p:sp>
      <p:sp>
        <p:nvSpPr>
          <p:cNvPr id="11" name="Text 8"/>
          <p:cNvSpPr txBox="1"/>
          <p:nvPr/>
        </p:nvSpPr>
        <p:spPr>
          <a:xfrm>
            <a:off x="4892040" y="1783080"/>
            <a:ext cx="2651760" cy="548640"/>
          </a:xfrm>
          <a:prstGeom prst="rect">
            <a:avLst/>
          </a:prstGeom>
          <a:noFill/>
          <a:ln/>
        </p:spPr>
        <p:txBody>
          <a:bodyPr wrap="square" lIns="0" tIns="0" rIns="0" bIns="0" rtlCol="0" anchor="t"/>
          <a:lstStyle/>
          <a:p>
            <a:pPr marL="0" indent="0">
              <a:buNone/>
            </a:pPr>
            <a:r>
              <a:rPr lang="en-US" sz="1100" b="1" kern="0" spc="200" dirty="0">
                <a:solidFill>
                  <a:srgbClr val="E6EEF8"/>
                </a:solidFill>
                <a:latin typeface="Calibri" pitchFamily="34" charset="0"/>
                <a:ea typeface="Calibri" pitchFamily="34" charset="-122"/>
                <a:cs typeface="Calibri" pitchFamily="34" charset="-120"/>
              </a:rPr>
              <a:t>MOBILITY AND CONTROL</a:t>
            </a:r>
            <a:endParaRPr lang="en-US" sz="1100" dirty="0"/>
          </a:p>
        </p:txBody>
      </p:sp>
      <p:sp>
        <p:nvSpPr>
          <p:cNvPr id="12" name="Text 9"/>
          <p:cNvSpPr txBox="1"/>
          <p:nvPr/>
        </p:nvSpPr>
        <p:spPr>
          <a:xfrm>
            <a:off x="7772400" y="1051560"/>
            <a:ext cx="3657600" cy="1188720"/>
          </a:xfrm>
          <a:prstGeom prst="rect">
            <a:avLst/>
          </a:prstGeom>
          <a:noFill/>
          <a:ln/>
        </p:spPr>
        <p:txBody>
          <a:bodyPr wrap="square" lIns="0" tIns="0" rIns="0" bIns="0" rtlCol="0" anchor="ctr"/>
          <a:lstStyle/>
          <a:p>
            <a:pPr marL="177800" indent="-177800">
              <a:spcAft>
                <a:spcPts val="500"/>
              </a:spcAft>
              <a:buSzPct val="100000"/>
              <a:buChar char="•"/>
            </a:pPr>
            <a:r>
              <a:rPr lang="en-US" sz="1500" dirty="0">
                <a:solidFill>
                  <a:srgbClr val="E6EEF8"/>
                </a:solidFill>
                <a:latin typeface="Calibri" pitchFamily="34" charset="0"/>
                <a:ea typeface="Calibri" pitchFamily="34" charset="-122"/>
                <a:cs typeface="Calibri" pitchFamily="34" charset="-120"/>
              </a:rPr>
              <a:t>12-servo quadruped</a:t>
            </a:r>
            <a:endParaRPr lang="en-US" sz="1500" dirty="0"/>
          </a:p>
          <a:p>
            <a:pPr marL="177800" indent="-177800">
              <a:spcAft>
                <a:spcPts val="500"/>
              </a:spcAft>
              <a:buSzPct val="100000"/>
              <a:buChar char="•"/>
            </a:pPr>
            <a:r>
              <a:rPr lang="en-US" sz="1500" dirty="0">
                <a:solidFill>
                  <a:srgbClr val="E6EEF8"/>
                </a:solidFill>
                <a:latin typeface="Calibri" pitchFamily="34" charset="0"/>
                <a:ea typeface="Calibri" pitchFamily="34" charset="-122"/>
                <a:cs typeface="Calibri" pitchFamily="34" charset="-120"/>
              </a:rPr>
              <a:t>Voice-commanded routines</a:t>
            </a:r>
            <a:endParaRPr lang="en-US" sz="1500" dirty="0"/>
          </a:p>
          <a:p>
            <a:pPr marL="177800" indent="-177800">
              <a:spcAft>
                <a:spcPts val="500"/>
              </a:spcAft>
              <a:buSzPct val="100000"/>
              <a:buChar char="•"/>
            </a:pPr>
            <a:r>
              <a:rPr lang="en-US" sz="1500" dirty="0">
                <a:solidFill>
                  <a:srgbClr val="E6EEF8"/>
                </a:solidFill>
                <a:latin typeface="Calibri" pitchFamily="34" charset="0"/>
                <a:ea typeface="Calibri" pitchFamily="34" charset="-122"/>
                <a:cs typeface="Calibri" pitchFamily="34" charset="-120"/>
              </a:rPr>
              <a:t>Alternating diagonal gait</a:t>
            </a:r>
            <a:endParaRPr lang="en-US" sz="1500" dirty="0"/>
          </a:p>
        </p:txBody>
      </p:sp>
      <p:sp>
        <p:nvSpPr>
          <p:cNvPr id="13" name="Shape 10"/>
          <p:cNvSpPr/>
          <p:nvPr/>
        </p:nvSpPr>
        <p:spPr>
          <a:xfrm>
            <a:off x="8138160" y="2441448"/>
            <a:ext cx="0" cy="146304"/>
          </a:xfrm>
          <a:prstGeom prst="line">
            <a:avLst/>
          </a:prstGeom>
          <a:noFill/>
          <a:ln w="15875">
            <a:solidFill>
              <a:srgbClr val="8FA3BC"/>
            </a:solidFill>
            <a:prstDash val="solid"/>
            <a:tailEnd type="triangle"/>
          </a:ln>
        </p:spPr>
      </p:sp>
      <p:sp>
        <p:nvSpPr>
          <p:cNvPr id="14" name="Shape 11"/>
          <p:cNvSpPr/>
          <p:nvPr/>
        </p:nvSpPr>
        <p:spPr>
          <a:xfrm>
            <a:off x="4663440" y="2606040"/>
            <a:ext cx="6949440" cy="1691640"/>
          </a:xfrm>
          <a:prstGeom prst="rect">
            <a:avLst/>
          </a:prstGeom>
          <a:solidFill>
            <a:srgbClr val="101C30"/>
          </a:solidFill>
          <a:ln w="12700">
            <a:solidFill>
              <a:srgbClr val="5FB8B0"/>
            </a:solidFill>
            <a:prstDash val="dash"/>
          </a:ln>
        </p:spPr>
      </p:sp>
      <p:sp>
        <p:nvSpPr>
          <p:cNvPr id="15" name="Shape 12"/>
          <p:cNvSpPr/>
          <p:nvPr/>
        </p:nvSpPr>
        <p:spPr>
          <a:xfrm>
            <a:off x="4892040" y="2788920"/>
            <a:ext cx="1645920" cy="256032"/>
          </a:xfrm>
          <a:prstGeom prst="rect">
            <a:avLst/>
          </a:prstGeom>
          <a:solidFill>
            <a:srgbClr val="0A1220"/>
          </a:solidFill>
          <a:ln w="9525">
            <a:solidFill>
              <a:srgbClr val="5FB8B0"/>
            </a:solidFill>
            <a:prstDash val="dash"/>
          </a:ln>
        </p:spPr>
      </p:sp>
      <p:sp>
        <p:nvSpPr>
          <p:cNvPr id="16" name="Text 13"/>
          <p:cNvSpPr txBox="1"/>
          <p:nvPr/>
        </p:nvSpPr>
        <p:spPr>
          <a:xfrm>
            <a:off x="4892040" y="2788920"/>
            <a:ext cx="1645920" cy="256032"/>
          </a:xfrm>
          <a:prstGeom prst="rect">
            <a:avLst/>
          </a:prstGeom>
          <a:noFill/>
          <a:ln/>
        </p:spPr>
        <p:txBody>
          <a:bodyPr wrap="square" lIns="0" tIns="0" rIns="0" bIns="0" rtlCol="0" anchor="ctr"/>
          <a:lstStyle/>
          <a:p>
            <a:pPr marL="0" indent="0" algn="ctr">
              <a:buNone/>
            </a:pPr>
            <a:r>
              <a:rPr lang="en-US" sz="900" b="1" kern="0" spc="200" dirty="0">
                <a:solidFill>
                  <a:srgbClr val="5FB8B0"/>
                </a:solidFill>
                <a:latin typeface="Calibri" pitchFamily="34" charset="0"/>
                <a:ea typeface="Calibri" pitchFamily="34" charset="-122"/>
                <a:cs typeface="Calibri" pitchFamily="34" charset="-120"/>
              </a:rPr>
              <a:t>PROPOSED</a:t>
            </a:r>
            <a:endParaRPr lang="en-US" sz="900" dirty="0"/>
          </a:p>
        </p:txBody>
      </p:sp>
      <p:sp>
        <p:nvSpPr>
          <p:cNvPr id="17" name="Text 14"/>
          <p:cNvSpPr txBox="1"/>
          <p:nvPr/>
        </p:nvSpPr>
        <p:spPr>
          <a:xfrm>
            <a:off x="4892040" y="3154680"/>
            <a:ext cx="2377440" cy="457200"/>
          </a:xfrm>
          <a:prstGeom prst="rect">
            <a:avLst/>
          </a:prstGeom>
          <a:noFill/>
          <a:ln/>
        </p:spPr>
        <p:txBody>
          <a:bodyPr wrap="square" lIns="0" tIns="0" rIns="0" bIns="0" rtlCol="0" anchor="t"/>
          <a:lstStyle/>
          <a:p>
            <a:pPr marL="0" indent="0">
              <a:buNone/>
            </a:pPr>
            <a:r>
              <a:rPr lang="en-US" sz="2600" b="1" dirty="0">
                <a:solidFill>
                  <a:srgbClr val="5FB8B0"/>
                </a:solidFill>
                <a:latin typeface="Arial Narrow" pitchFamily="34" charset="0"/>
                <a:ea typeface="Arial Narrow" pitchFamily="34" charset="-122"/>
                <a:cs typeface="Arial Narrow" pitchFamily="34" charset="-120"/>
              </a:rPr>
              <a:t>PHASE 2</a:t>
            </a:r>
            <a:endParaRPr lang="en-US" sz="2600" dirty="0"/>
          </a:p>
        </p:txBody>
      </p:sp>
      <p:sp>
        <p:nvSpPr>
          <p:cNvPr id="18" name="Text 15"/>
          <p:cNvSpPr txBox="1"/>
          <p:nvPr/>
        </p:nvSpPr>
        <p:spPr>
          <a:xfrm>
            <a:off x="4892040" y="3657600"/>
            <a:ext cx="2651760" cy="548640"/>
          </a:xfrm>
          <a:prstGeom prst="rect">
            <a:avLst/>
          </a:prstGeom>
          <a:noFill/>
          <a:ln/>
        </p:spPr>
        <p:txBody>
          <a:bodyPr wrap="square" lIns="0" tIns="0" rIns="0" bIns="0" rtlCol="0" anchor="t"/>
          <a:lstStyle/>
          <a:p>
            <a:pPr marL="0" indent="0">
              <a:buNone/>
            </a:pPr>
            <a:r>
              <a:rPr lang="en-US" sz="1100" b="1" kern="0" spc="200" dirty="0">
                <a:solidFill>
                  <a:srgbClr val="E6EEF8"/>
                </a:solidFill>
                <a:latin typeface="Calibri" pitchFamily="34" charset="0"/>
                <a:ea typeface="Calibri" pitchFamily="34" charset="-122"/>
                <a:cs typeface="Calibri" pitchFamily="34" charset="-120"/>
              </a:rPr>
              <a:t>SENSING AND COMMUNICATION</a:t>
            </a:r>
            <a:endParaRPr lang="en-US" sz="1100" dirty="0"/>
          </a:p>
        </p:txBody>
      </p:sp>
      <p:sp>
        <p:nvSpPr>
          <p:cNvPr id="19" name="Text 16"/>
          <p:cNvSpPr txBox="1"/>
          <p:nvPr/>
        </p:nvSpPr>
        <p:spPr>
          <a:xfrm>
            <a:off x="7772400" y="2926080"/>
            <a:ext cx="3657600" cy="1188720"/>
          </a:xfrm>
          <a:prstGeom prst="rect">
            <a:avLst/>
          </a:prstGeom>
          <a:noFill/>
          <a:ln/>
        </p:spPr>
        <p:txBody>
          <a:bodyPr wrap="square" lIns="0" tIns="0" rIns="0" bIns="0" rtlCol="0" anchor="ctr"/>
          <a:lstStyle/>
          <a:p>
            <a:pPr marL="177800" indent="-177800">
              <a:spcAft>
                <a:spcPts val="500"/>
              </a:spcAft>
              <a:buSzPct val="100000"/>
              <a:buChar char="•"/>
            </a:pPr>
            <a:r>
              <a:rPr lang="en-US" sz="1500" dirty="0">
                <a:solidFill>
                  <a:srgbClr val="E6EEF8"/>
                </a:solidFill>
                <a:latin typeface="Calibri" pitchFamily="34" charset="0"/>
                <a:ea typeface="Calibri" pitchFamily="34" charset="-122"/>
                <a:cs typeface="Calibri" pitchFamily="34" charset="-120"/>
              </a:rPr>
              <a:t>Camera and LED illumination</a:t>
            </a:r>
            <a:endParaRPr lang="en-US" sz="1500" dirty="0"/>
          </a:p>
          <a:p>
            <a:pPr marL="177800" indent="-177800">
              <a:spcAft>
                <a:spcPts val="500"/>
              </a:spcAft>
              <a:buSzPct val="100000"/>
              <a:buChar char="•"/>
            </a:pPr>
            <a:r>
              <a:rPr lang="en-US" sz="1500" dirty="0">
                <a:solidFill>
                  <a:srgbClr val="E6EEF8"/>
                </a:solidFill>
                <a:latin typeface="Calibri" pitchFamily="34" charset="0"/>
                <a:ea typeface="Calibri" pitchFamily="34" charset="-122"/>
                <a:cs typeface="Calibri" pitchFamily="34" charset="-120"/>
              </a:rPr>
              <a:t>Proximity and temperature sensing</a:t>
            </a:r>
            <a:endParaRPr lang="en-US" sz="1500" dirty="0"/>
          </a:p>
          <a:p>
            <a:pPr marL="177800" indent="-177800">
              <a:spcAft>
                <a:spcPts val="500"/>
              </a:spcAft>
              <a:buSzPct val="100000"/>
              <a:buChar char="•"/>
            </a:pPr>
            <a:r>
              <a:rPr lang="en-US" sz="1500" dirty="0">
                <a:solidFill>
                  <a:srgbClr val="E6EEF8"/>
                </a:solidFill>
                <a:latin typeface="Calibri" pitchFamily="34" charset="0"/>
                <a:ea typeface="Calibri" pitchFamily="34" charset="-122"/>
                <a:cs typeface="Calibri" pitchFamily="34" charset="-120"/>
              </a:rPr>
              <a:t>Wireless video and data link</a:t>
            </a:r>
            <a:endParaRPr lang="en-US" sz="1500" dirty="0"/>
          </a:p>
        </p:txBody>
      </p:sp>
      <p:sp>
        <p:nvSpPr>
          <p:cNvPr id="20" name="Shape 17"/>
          <p:cNvSpPr/>
          <p:nvPr/>
        </p:nvSpPr>
        <p:spPr>
          <a:xfrm>
            <a:off x="8138160" y="4315968"/>
            <a:ext cx="0" cy="146304"/>
          </a:xfrm>
          <a:prstGeom prst="line">
            <a:avLst/>
          </a:prstGeom>
          <a:noFill/>
          <a:ln w="15875">
            <a:solidFill>
              <a:srgbClr val="8FA3BC"/>
            </a:solidFill>
            <a:prstDash val="solid"/>
            <a:tailEnd type="triangle"/>
          </a:ln>
        </p:spPr>
      </p:sp>
      <p:sp>
        <p:nvSpPr>
          <p:cNvPr id="21" name="Shape 18"/>
          <p:cNvSpPr/>
          <p:nvPr/>
        </p:nvSpPr>
        <p:spPr>
          <a:xfrm>
            <a:off x="4663440" y="4480560"/>
            <a:ext cx="6949440" cy="1691640"/>
          </a:xfrm>
          <a:prstGeom prst="rect">
            <a:avLst/>
          </a:prstGeom>
          <a:solidFill>
            <a:srgbClr val="101C30"/>
          </a:solidFill>
          <a:ln w="12700">
            <a:solidFill>
              <a:srgbClr val="C9A24B"/>
            </a:solidFill>
            <a:prstDash val="dash"/>
          </a:ln>
        </p:spPr>
      </p:sp>
      <p:sp>
        <p:nvSpPr>
          <p:cNvPr id="22" name="Shape 19"/>
          <p:cNvSpPr/>
          <p:nvPr/>
        </p:nvSpPr>
        <p:spPr>
          <a:xfrm>
            <a:off x="4892040" y="4663440"/>
            <a:ext cx="1645920" cy="256032"/>
          </a:xfrm>
          <a:prstGeom prst="rect">
            <a:avLst/>
          </a:prstGeom>
          <a:solidFill>
            <a:srgbClr val="0A1220"/>
          </a:solidFill>
          <a:ln w="9525">
            <a:solidFill>
              <a:srgbClr val="C9A24B"/>
            </a:solidFill>
            <a:prstDash val="dash"/>
          </a:ln>
        </p:spPr>
      </p:sp>
      <p:sp>
        <p:nvSpPr>
          <p:cNvPr id="23" name="Text 20"/>
          <p:cNvSpPr txBox="1"/>
          <p:nvPr/>
        </p:nvSpPr>
        <p:spPr>
          <a:xfrm>
            <a:off x="4892040" y="4663440"/>
            <a:ext cx="1645920" cy="256032"/>
          </a:xfrm>
          <a:prstGeom prst="rect">
            <a:avLst/>
          </a:prstGeom>
          <a:noFill/>
          <a:ln/>
        </p:spPr>
        <p:txBody>
          <a:bodyPr wrap="square" lIns="0" tIns="0" rIns="0" bIns="0" rtlCol="0" anchor="ctr"/>
          <a:lstStyle/>
          <a:p>
            <a:pPr marL="0" indent="0" algn="ctr">
              <a:buNone/>
            </a:pPr>
            <a:r>
              <a:rPr lang="en-US" sz="900" b="1" kern="0" spc="200" dirty="0">
                <a:solidFill>
                  <a:srgbClr val="C9A24B"/>
                </a:solidFill>
                <a:latin typeface="Calibri" pitchFamily="34" charset="0"/>
                <a:ea typeface="Calibri" pitchFamily="34" charset="-122"/>
                <a:cs typeface="Calibri" pitchFamily="34" charset="-120"/>
              </a:rPr>
              <a:t>FUTURE RESEARCH</a:t>
            </a:r>
            <a:endParaRPr lang="en-US" sz="900" dirty="0"/>
          </a:p>
        </p:txBody>
      </p:sp>
      <p:sp>
        <p:nvSpPr>
          <p:cNvPr id="24" name="Text 21"/>
          <p:cNvSpPr txBox="1"/>
          <p:nvPr/>
        </p:nvSpPr>
        <p:spPr>
          <a:xfrm>
            <a:off x="4892040" y="5029200"/>
            <a:ext cx="2377440" cy="457200"/>
          </a:xfrm>
          <a:prstGeom prst="rect">
            <a:avLst/>
          </a:prstGeom>
          <a:noFill/>
          <a:ln/>
        </p:spPr>
        <p:txBody>
          <a:bodyPr wrap="square" lIns="0" tIns="0" rIns="0" bIns="0" rtlCol="0" anchor="t"/>
          <a:lstStyle/>
          <a:p>
            <a:pPr marL="0" indent="0">
              <a:buNone/>
            </a:pPr>
            <a:r>
              <a:rPr lang="en-US" sz="2600" b="1" dirty="0">
                <a:solidFill>
                  <a:srgbClr val="C9A24B"/>
                </a:solidFill>
                <a:latin typeface="Arial Narrow" pitchFamily="34" charset="0"/>
                <a:ea typeface="Arial Narrow" pitchFamily="34" charset="-122"/>
                <a:cs typeface="Arial Narrow" pitchFamily="34" charset="-120"/>
              </a:rPr>
              <a:t>PHASE 3</a:t>
            </a:r>
            <a:endParaRPr lang="en-US" sz="2600" dirty="0"/>
          </a:p>
        </p:txBody>
      </p:sp>
      <p:sp>
        <p:nvSpPr>
          <p:cNvPr id="25" name="Text 22"/>
          <p:cNvSpPr txBox="1"/>
          <p:nvPr/>
        </p:nvSpPr>
        <p:spPr>
          <a:xfrm>
            <a:off x="4892040" y="5532120"/>
            <a:ext cx="2651760" cy="548640"/>
          </a:xfrm>
          <a:prstGeom prst="rect">
            <a:avLst/>
          </a:prstGeom>
          <a:noFill/>
          <a:ln/>
        </p:spPr>
        <p:txBody>
          <a:bodyPr wrap="square" lIns="0" tIns="0" rIns="0" bIns="0" rtlCol="0" anchor="t"/>
          <a:lstStyle/>
          <a:p>
            <a:pPr marL="0" indent="0">
              <a:buNone/>
            </a:pPr>
            <a:r>
              <a:rPr lang="en-US" sz="1100" b="1" kern="0" spc="200" dirty="0">
                <a:solidFill>
                  <a:srgbClr val="E6EEF8"/>
                </a:solidFill>
                <a:latin typeface="Calibri" pitchFamily="34" charset="0"/>
                <a:ea typeface="Calibri" pitchFamily="34" charset="-122"/>
                <a:cs typeface="Calibri" pitchFamily="34" charset="-120"/>
              </a:rPr>
              <a:t>PERCEPTION AND SEMI-AUTONOMY</a:t>
            </a:r>
            <a:endParaRPr lang="en-US" sz="1100" dirty="0"/>
          </a:p>
        </p:txBody>
      </p:sp>
      <p:sp>
        <p:nvSpPr>
          <p:cNvPr id="26" name="Text 23"/>
          <p:cNvSpPr txBox="1"/>
          <p:nvPr/>
        </p:nvSpPr>
        <p:spPr>
          <a:xfrm>
            <a:off x="7772400" y="4800600"/>
            <a:ext cx="3657600" cy="1188720"/>
          </a:xfrm>
          <a:prstGeom prst="rect">
            <a:avLst/>
          </a:prstGeom>
          <a:noFill/>
          <a:ln/>
        </p:spPr>
        <p:txBody>
          <a:bodyPr wrap="square" lIns="0" tIns="0" rIns="0" bIns="0" rtlCol="0" anchor="ctr"/>
          <a:lstStyle/>
          <a:p>
            <a:pPr marL="177800" indent="-177800">
              <a:spcAft>
                <a:spcPts val="500"/>
              </a:spcAft>
              <a:buSzPct val="100000"/>
              <a:buChar char="•"/>
            </a:pPr>
            <a:r>
              <a:rPr lang="en-US" sz="1500" dirty="0">
                <a:solidFill>
                  <a:srgbClr val="E6EEF8"/>
                </a:solidFill>
                <a:latin typeface="Calibri" pitchFamily="34" charset="0"/>
                <a:ea typeface="Calibri" pitchFamily="34" charset="-122"/>
                <a:cs typeface="Calibri" pitchFamily="34" charset="-120"/>
              </a:rPr>
              <a:t>Raspberry Pi processing</a:t>
            </a:r>
            <a:endParaRPr lang="en-US" sz="1500" dirty="0"/>
          </a:p>
          <a:p>
            <a:pPr marL="177800" indent="-177800">
              <a:spcAft>
                <a:spcPts val="500"/>
              </a:spcAft>
              <a:buSzPct val="100000"/>
              <a:buChar char="•"/>
            </a:pPr>
            <a:r>
              <a:rPr lang="en-US" sz="1500" dirty="0">
                <a:solidFill>
                  <a:srgbClr val="E6EEF8"/>
                </a:solidFill>
                <a:latin typeface="Calibri" pitchFamily="34" charset="0"/>
                <a:ea typeface="Calibri" pitchFamily="34" charset="-122"/>
                <a:cs typeface="Calibri" pitchFamily="34" charset="-120"/>
              </a:rPr>
              <a:t>Sensor fusion and computer vision</a:t>
            </a:r>
            <a:endParaRPr lang="en-US" sz="1500" dirty="0"/>
          </a:p>
          <a:p>
            <a:pPr marL="177800" indent="-177800">
              <a:spcAft>
                <a:spcPts val="500"/>
              </a:spcAft>
              <a:buSzPct val="100000"/>
              <a:buChar char="•"/>
            </a:pPr>
            <a:r>
              <a:rPr lang="en-US" sz="1500" dirty="0">
                <a:solidFill>
                  <a:srgbClr val="E6EEF8"/>
                </a:solidFill>
                <a:latin typeface="Calibri" pitchFamily="34" charset="0"/>
                <a:ea typeface="Calibri" pitchFamily="34" charset="-122"/>
                <a:cs typeface="Calibri" pitchFamily="34" charset="-120"/>
              </a:rPr>
              <a:t>Obstacle awareness, adaptive gait</a:t>
            </a:r>
            <a:endParaRPr lang="en-US" sz="1500" dirty="0"/>
          </a:p>
        </p:txBody>
      </p:sp>
      <p:sp>
        <p:nvSpPr>
          <p:cNvPr id="6"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3BC"/>
                </a:solidFill>
              </a:defRPr>
            </a:lvl1pPr>
          </a:lstStyle>
          <a:p>
            <a:pPr algn="l"/>
            <a:fld id="{F7021451-1387-4CA6-816F-3879F97B5CBC}" type="slidenum">
              <a:rPr lang="en-US" b="0"/>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8046720" y="1417320"/>
            <a:ext cx="4023360" cy="4023360"/>
          </a:xfrm>
          <a:prstGeom prst="ellipse">
            <a:avLst/>
          </a:prstGeom>
          <a:ln w="6350">
            <a:solidFill>
              <a:srgbClr val="2EA8FF"/>
            </a:solidFill>
            <a:prstDash val="solid"/>
          </a:ln>
        </p:spPr>
      </p:sp>
      <p:sp>
        <p:nvSpPr>
          <p:cNvPr id="3" name="Shape 1"/>
          <p:cNvSpPr/>
          <p:nvPr/>
        </p:nvSpPr>
        <p:spPr>
          <a:xfrm>
            <a:off x="8503920" y="1874520"/>
            <a:ext cx="3108960" cy="3108960"/>
          </a:xfrm>
          <a:prstGeom prst="ellipse">
            <a:avLst/>
          </a:prstGeom>
          <a:ln w="9525">
            <a:solidFill>
              <a:srgbClr val="5FB8B0"/>
            </a:solidFill>
            <a:prstDash val="dash"/>
          </a:ln>
        </p:spPr>
      </p:sp>
      <p:sp>
        <p:nvSpPr>
          <p:cNvPr id="4" name="Shape 2"/>
          <p:cNvSpPr/>
          <p:nvPr/>
        </p:nvSpPr>
        <p:spPr>
          <a:xfrm>
            <a:off x="8961120" y="2331720"/>
            <a:ext cx="2194560" cy="2194560"/>
          </a:xfrm>
          <a:prstGeom prst="ellipse">
            <a:avLst/>
          </a:prstGeom>
          <a:ln w="9525">
            <a:solidFill>
              <a:srgbClr val="2EA8FF"/>
            </a:solidFill>
            <a:prstDash val="solid"/>
          </a:ln>
        </p:spPr>
      </p:sp>
      <p:sp>
        <p:nvSpPr>
          <p:cNvPr id="5" name="Text 3"/>
          <p:cNvSpPr txBox="1"/>
          <p:nvPr/>
        </p:nvSpPr>
        <p:spPr>
          <a:xfrm>
            <a:off x="548640" y="731520"/>
            <a:ext cx="5486400" cy="274320"/>
          </a:xfrm>
          <a:prstGeom prst="rect">
            <a:avLst/>
          </a:prstGeom>
          <a:noFill/>
          <a:ln/>
        </p:spPr>
        <p:txBody>
          <a:bodyPr wrap="square" lIns="0" tIns="0" rIns="0" bIns="0" rtlCol="0" anchor="t"/>
          <a:lstStyle/>
          <a:p>
            <a:pPr marL="0" indent="0">
              <a:buNone/>
            </a:pPr>
            <a:r>
              <a:rPr lang="en-US" sz="1100" b="1" kern="0" spc="400" dirty="0">
                <a:solidFill>
                  <a:srgbClr val="2EA8FF"/>
                </a:solidFill>
                <a:latin typeface="Calibri" pitchFamily="34" charset="0"/>
                <a:ea typeface="Calibri" pitchFamily="34" charset="-122"/>
                <a:cs typeface="Calibri" pitchFamily="34" charset="-120"/>
              </a:rPr>
              <a:t>14  CLOSING</a:t>
            </a:r>
            <a:endParaRPr lang="en-US" sz="1100" dirty="0"/>
          </a:p>
        </p:txBody>
      </p:sp>
      <p:sp>
        <p:nvSpPr>
          <p:cNvPr id="6" name="Text 4"/>
          <p:cNvSpPr txBox="1"/>
          <p:nvPr/>
        </p:nvSpPr>
        <p:spPr>
          <a:xfrm>
            <a:off x="548640" y="1097280"/>
            <a:ext cx="7315200" cy="1554480"/>
          </a:xfrm>
          <a:prstGeom prst="rect">
            <a:avLst/>
          </a:prstGeom>
          <a:noFill/>
          <a:ln/>
        </p:spPr>
        <p:txBody>
          <a:bodyPr wrap="square" lIns="0" tIns="0" rIns="0" bIns="0" rtlCol="0" anchor="t"/>
          <a:lstStyle/>
          <a:p>
            <a:pPr marL="0" indent="0">
              <a:buNone/>
            </a:pPr>
            <a:r>
              <a:rPr lang="en-US" sz="4800" b="1" dirty="0">
                <a:solidFill>
                  <a:srgbClr val="E6EEF8"/>
                </a:solidFill>
                <a:latin typeface="Arial Narrow" pitchFamily="34" charset="0"/>
                <a:ea typeface="Arial Narrow" pitchFamily="34" charset="-122"/>
                <a:cs typeface="Arial Narrow" pitchFamily="34" charset="-120"/>
              </a:rPr>
              <a:t>PLUTO EXTENDS HUMAN REACH</a:t>
            </a:r>
            <a:endParaRPr lang="en-US" sz="4800" dirty="0"/>
          </a:p>
        </p:txBody>
      </p:sp>
      <p:sp>
        <p:nvSpPr>
          <p:cNvPr id="7" name="Text 5"/>
          <p:cNvSpPr txBox="1"/>
          <p:nvPr/>
        </p:nvSpPr>
        <p:spPr>
          <a:xfrm>
            <a:off x="548640" y="2743200"/>
            <a:ext cx="6400800" cy="548640"/>
          </a:xfrm>
          <a:prstGeom prst="rect">
            <a:avLst/>
          </a:prstGeom>
          <a:noFill/>
          <a:ln/>
        </p:spPr>
        <p:txBody>
          <a:bodyPr wrap="square" lIns="0" tIns="0" rIns="0" bIns="0" rtlCol="0" anchor="t"/>
          <a:lstStyle/>
          <a:p>
            <a:pPr marL="0" indent="0">
              <a:buNone/>
            </a:pPr>
            <a:r>
              <a:rPr lang="en-US" sz="2600" b="1" kern="0" spc="200" dirty="0">
                <a:solidFill>
                  <a:srgbClr val="2EA8FF"/>
                </a:solidFill>
                <a:latin typeface="Arial Narrow" pitchFamily="34" charset="0"/>
                <a:ea typeface="Arial Narrow" pitchFamily="34" charset="-122"/>
                <a:cs typeface="Arial Narrow" pitchFamily="34" charset="-120"/>
              </a:rPr>
              <a:t>H</a:t>
            </a:r>
            <a:r>
              <a:rPr lang="en-US" sz="2600" b="1" kern="0" spc="200" dirty="0" smtClean="0">
                <a:solidFill>
                  <a:srgbClr val="2EA8FF"/>
                </a:solidFill>
                <a:latin typeface="Arial Narrow" pitchFamily="34" charset="0"/>
                <a:ea typeface="Arial Narrow" pitchFamily="34" charset="-122"/>
                <a:cs typeface="Arial Narrow" pitchFamily="34" charset="-120"/>
              </a:rPr>
              <a:t>uman decides Bot acts…</a:t>
            </a:r>
            <a:endParaRPr lang="en-US" sz="2600" dirty="0"/>
          </a:p>
        </p:txBody>
      </p:sp>
      <p:sp>
        <p:nvSpPr>
          <p:cNvPr id="8" name="Text 6"/>
          <p:cNvSpPr txBox="1"/>
          <p:nvPr/>
        </p:nvSpPr>
        <p:spPr>
          <a:xfrm>
            <a:off x="548640" y="3474720"/>
            <a:ext cx="6583680" cy="155448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8FA3BC"/>
                </a:solidFill>
                <a:latin typeface="Calibri" pitchFamily="34" charset="0"/>
                <a:ea typeface="Calibri" pitchFamily="34" charset="-122"/>
                <a:cs typeface="Calibri" pitchFamily="34" charset="-120"/>
              </a:rPr>
              <a:t>The innovation: voice interaction, 12-actuator coordination and embedded control, together on a modular platform</a:t>
            </a:r>
            <a:endParaRPr lang="en-US" sz="1500" dirty="0"/>
          </a:p>
          <a:p>
            <a:pPr marL="177800" indent="-177800">
              <a:spcAft>
                <a:spcPts val="800"/>
              </a:spcAft>
              <a:buSzPct val="100000"/>
              <a:buChar char="•"/>
            </a:pPr>
            <a:r>
              <a:rPr lang="en-US" sz="1500" dirty="0" smtClean="0">
                <a:solidFill>
                  <a:srgbClr val="8FA3BC"/>
                </a:solidFill>
                <a:latin typeface="Calibri" pitchFamily="34" charset="0"/>
                <a:ea typeface="Calibri" pitchFamily="34" charset="-122"/>
                <a:cs typeface="Calibri" pitchFamily="34" charset="-120"/>
              </a:rPr>
              <a:t>A </a:t>
            </a:r>
            <a:r>
              <a:rPr lang="en-US" sz="1500" dirty="0" smtClean="0">
                <a:solidFill>
                  <a:srgbClr val="8FA3BC"/>
                </a:solidFill>
                <a:latin typeface="Calibri" pitchFamily="34" charset="0"/>
                <a:ea typeface="Calibri" pitchFamily="34" charset="-122"/>
                <a:cs typeface="Calibri" pitchFamily="34" charset="-120"/>
              </a:rPr>
              <a:t>quadruped robot works on voic</a:t>
            </a:r>
            <a:r>
              <a:rPr lang="en-US" sz="1500" dirty="0" smtClean="0">
                <a:solidFill>
                  <a:srgbClr val="8FA3BC"/>
                </a:solidFill>
                <a:latin typeface="Calibri" pitchFamily="34" charset="0"/>
                <a:ea typeface="Calibri" pitchFamily="34" charset="-122"/>
                <a:cs typeface="Calibri" pitchFamily="34" charset="-120"/>
              </a:rPr>
              <a:t>e commands </a:t>
            </a:r>
            <a:endParaRPr lang="en-US" sz="1500" dirty="0"/>
          </a:p>
          <a:p>
            <a:pPr marL="177800" indent="-177800">
              <a:spcAft>
                <a:spcPts val="800"/>
              </a:spcAft>
              <a:buSzPct val="100000"/>
              <a:buChar char="•"/>
            </a:pPr>
            <a:r>
              <a:rPr lang="en-US" sz="1500" dirty="0">
                <a:solidFill>
                  <a:srgbClr val="8FA3BC"/>
                </a:solidFill>
                <a:latin typeface="Calibri" pitchFamily="34" charset="0"/>
                <a:ea typeface="Calibri" pitchFamily="34" charset="-122"/>
                <a:cs typeface="Calibri" pitchFamily="34" charset="-120"/>
              </a:rPr>
              <a:t>Next: sensing and communication (proposed)</a:t>
            </a:r>
            <a:endParaRPr lang="en-US" sz="1500" dirty="0"/>
          </a:p>
        </p:txBody>
      </p:sp>
      <p:sp>
        <p:nvSpPr>
          <p:cNvPr id="9" name="Shape 7"/>
          <p:cNvSpPr/>
          <p:nvPr/>
        </p:nvSpPr>
        <p:spPr>
          <a:xfrm>
            <a:off x="548640" y="5029200"/>
            <a:ext cx="2103120" cy="777240"/>
          </a:xfrm>
          <a:prstGeom prst="rect">
            <a:avLst/>
          </a:prstGeom>
          <a:solidFill>
            <a:srgbClr val="101C30"/>
          </a:solidFill>
          <a:ln w="12700">
            <a:solidFill>
              <a:srgbClr val="2EA8FF"/>
            </a:solidFill>
            <a:prstDash val="solid"/>
          </a:ln>
        </p:spPr>
      </p:sp>
      <p:sp>
        <p:nvSpPr>
          <p:cNvPr id="10" name="Text 8"/>
          <p:cNvSpPr txBox="1"/>
          <p:nvPr/>
        </p:nvSpPr>
        <p:spPr>
          <a:xfrm>
            <a:off x="685800" y="5166360"/>
            <a:ext cx="1828800" cy="365760"/>
          </a:xfrm>
          <a:prstGeom prst="rect">
            <a:avLst/>
          </a:prstGeom>
          <a:noFill/>
          <a:ln/>
        </p:spPr>
        <p:txBody>
          <a:bodyPr wrap="square" lIns="0" tIns="0" rIns="0" bIns="0" rtlCol="0" anchor="t"/>
          <a:lstStyle/>
          <a:p>
            <a:pPr marL="0" indent="0">
              <a:buNone/>
            </a:pPr>
            <a:r>
              <a:rPr lang="en-US" sz="1400" b="1" kern="0" spc="200" dirty="0">
                <a:solidFill>
                  <a:srgbClr val="2EA8FF"/>
                </a:solidFill>
                <a:latin typeface="Arial Narrow" pitchFamily="34" charset="0"/>
                <a:ea typeface="Arial Narrow" pitchFamily="34" charset="-122"/>
                <a:cs typeface="Arial Narrow" pitchFamily="34" charset="-120"/>
              </a:rPr>
              <a:t>MODULAR</a:t>
            </a:r>
            <a:endParaRPr lang="en-US" sz="1400" dirty="0"/>
          </a:p>
        </p:txBody>
      </p:sp>
      <p:sp>
        <p:nvSpPr>
          <p:cNvPr id="11" name="Text 9"/>
          <p:cNvSpPr txBox="1"/>
          <p:nvPr/>
        </p:nvSpPr>
        <p:spPr>
          <a:xfrm>
            <a:off x="685800" y="5440680"/>
            <a:ext cx="1828800" cy="274320"/>
          </a:xfrm>
          <a:prstGeom prst="rect">
            <a:avLst/>
          </a:prstGeom>
          <a:noFill/>
          <a:ln/>
        </p:spPr>
        <p:txBody>
          <a:bodyPr wrap="square" lIns="0" tIns="0" rIns="0" bIns="0" rtlCol="0" anchor="t"/>
          <a:lstStyle/>
          <a:p>
            <a:pPr marL="0" indent="0">
              <a:buNone/>
            </a:pPr>
            <a:r>
              <a:rPr lang="en-US" sz="1100" dirty="0">
                <a:solidFill>
                  <a:srgbClr val="8FA3BC"/>
                </a:solidFill>
                <a:latin typeface="Calibri" pitchFamily="34" charset="0"/>
                <a:ea typeface="Calibri" pitchFamily="34" charset="-122"/>
                <a:cs typeface="Calibri" pitchFamily="34" charset="-120"/>
              </a:rPr>
              <a:t>platform</a:t>
            </a:r>
            <a:endParaRPr lang="en-US" sz="1100" dirty="0"/>
          </a:p>
        </p:txBody>
      </p:sp>
      <p:sp>
        <p:nvSpPr>
          <p:cNvPr id="12" name="Shape 10"/>
          <p:cNvSpPr/>
          <p:nvPr/>
        </p:nvSpPr>
        <p:spPr>
          <a:xfrm>
            <a:off x="2834640" y="5029200"/>
            <a:ext cx="2103120" cy="777240"/>
          </a:xfrm>
          <a:prstGeom prst="rect">
            <a:avLst/>
          </a:prstGeom>
          <a:solidFill>
            <a:srgbClr val="101C30"/>
          </a:solidFill>
          <a:ln w="12700">
            <a:solidFill>
              <a:srgbClr val="2EA8FF"/>
            </a:solidFill>
            <a:prstDash val="solid"/>
          </a:ln>
        </p:spPr>
      </p:sp>
      <p:sp>
        <p:nvSpPr>
          <p:cNvPr id="13" name="Text 11"/>
          <p:cNvSpPr txBox="1"/>
          <p:nvPr/>
        </p:nvSpPr>
        <p:spPr>
          <a:xfrm>
            <a:off x="2971800" y="5166360"/>
            <a:ext cx="1828800" cy="365760"/>
          </a:xfrm>
          <a:prstGeom prst="rect">
            <a:avLst/>
          </a:prstGeom>
          <a:noFill/>
          <a:ln/>
        </p:spPr>
        <p:txBody>
          <a:bodyPr wrap="square" lIns="0" tIns="0" rIns="0" bIns="0" rtlCol="0" anchor="t"/>
          <a:lstStyle/>
          <a:p>
            <a:pPr marL="0" indent="0">
              <a:buNone/>
            </a:pPr>
            <a:r>
              <a:rPr lang="en-US" sz="1400" b="1" kern="0" spc="200" dirty="0">
                <a:solidFill>
                  <a:srgbClr val="2EA8FF"/>
                </a:solidFill>
                <a:latin typeface="Arial Narrow" pitchFamily="34" charset="0"/>
                <a:ea typeface="Arial Narrow" pitchFamily="34" charset="-122"/>
                <a:cs typeface="Arial Narrow" pitchFamily="34" charset="-120"/>
              </a:rPr>
              <a:t>COORDINATED</a:t>
            </a:r>
            <a:endParaRPr lang="en-US" sz="1400" dirty="0"/>
          </a:p>
        </p:txBody>
      </p:sp>
      <p:sp>
        <p:nvSpPr>
          <p:cNvPr id="14" name="Text 12"/>
          <p:cNvSpPr txBox="1"/>
          <p:nvPr/>
        </p:nvSpPr>
        <p:spPr>
          <a:xfrm>
            <a:off x="2971800" y="5440680"/>
            <a:ext cx="1828800" cy="274320"/>
          </a:xfrm>
          <a:prstGeom prst="rect">
            <a:avLst/>
          </a:prstGeom>
          <a:noFill/>
          <a:ln/>
        </p:spPr>
        <p:txBody>
          <a:bodyPr wrap="square" lIns="0" tIns="0" rIns="0" bIns="0" rtlCol="0" anchor="t"/>
          <a:lstStyle/>
          <a:p>
            <a:pPr marL="0" indent="0">
              <a:buNone/>
            </a:pPr>
            <a:r>
              <a:rPr lang="en-US" sz="1100" dirty="0">
                <a:solidFill>
                  <a:srgbClr val="8FA3BC"/>
                </a:solidFill>
                <a:latin typeface="Calibri" pitchFamily="34" charset="0"/>
                <a:ea typeface="Calibri" pitchFamily="34" charset="-122"/>
                <a:cs typeface="Calibri" pitchFamily="34" charset="-120"/>
              </a:rPr>
              <a:t>12-joint motion</a:t>
            </a:r>
            <a:endParaRPr lang="en-US" sz="1100" dirty="0"/>
          </a:p>
        </p:txBody>
      </p:sp>
      <p:sp>
        <p:nvSpPr>
          <p:cNvPr id="15" name="Shape 13"/>
          <p:cNvSpPr/>
          <p:nvPr/>
        </p:nvSpPr>
        <p:spPr>
          <a:xfrm>
            <a:off x="5120640" y="5029200"/>
            <a:ext cx="2103120" cy="777240"/>
          </a:xfrm>
          <a:prstGeom prst="rect">
            <a:avLst/>
          </a:prstGeom>
          <a:solidFill>
            <a:srgbClr val="101C30"/>
          </a:solidFill>
          <a:ln w="12700">
            <a:solidFill>
              <a:srgbClr val="2EA8FF"/>
            </a:solidFill>
            <a:prstDash val="solid"/>
          </a:ln>
        </p:spPr>
      </p:sp>
      <p:sp>
        <p:nvSpPr>
          <p:cNvPr id="16" name="Text 14"/>
          <p:cNvSpPr txBox="1"/>
          <p:nvPr/>
        </p:nvSpPr>
        <p:spPr>
          <a:xfrm>
            <a:off x="5257800" y="5166360"/>
            <a:ext cx="1828800" cy="365760"/>
          </a:xfrm>
          <a:prstGeom prst="rect">
            <a:avLst/>
          </a:prstGeom>
          <a:noFill/>
          <a:ln/>
        </p:spPr>
        <p:txBody>
          <a:bodyPr wrap="square" lIns="0" tIns="0" rIns="0" bIns="0" rtlCol="0" anchor="t"/>
          <a:lstStyle/>
          <a:p>
            <a:pPr marL="0" indent="0">
              <a:buNone/>
            </a:pPr>
            <a:r>
              <a:rPr lang="en-US" sz="1400" b="1" kern="0" spc="200" dirty="0">
                <a:solidFill>
                  <a:srgbClr val="2EA8FF"/>
                </a:solidFill>
                <a:latin typeface="Arial Narrow" pitchFamily="34" charset="0"/>
                <a:ea typeface="Arial Narrow" pitchFamily="34" charset="-122"/>
                <a:cs typeface="Arial Narrow" pitchFamily="34" charset="-120"/>
              </a:rPr>
              <a:t>CLEAR PATH</a:t>
            </a:r>
            <a:endParaRPr lang="en-US" sz="1400" dirty="0"/>
          </a:p>
        </p:txBody>
      </p:sp>
      <p:sp>
        <p:nvSpPr>
          <p:cNvPr id="17" name="Text 15"/>
          <p:cNvSpPr txBox="1"/>
          <p:nvPr/>
        </p:nvSpPr>
        <p:spPr>
          <a:xfrm>
            <a:off x="5257800" y="5440680"/>
            <a:ext cx="1828800" cy="274320"/>
          </a:xfrm>
          <a:prstGeom prst="rect">
            <a:avLst/>
          </a:prstGeom>
          <a:noFill/>
          <a:ln/>
        </p:spPr>
        <p:txBody>
          <a:bodyPr wrap="square" lIns="0" tIns="0" rIns="0" bIns="0" rtlCol="0" anchor="t"/>
          <a:lstStyle/>
          <a:p>
            <a:pPr marL="0" indent="0">
              <a:buNone/>
            </a:pPr>
            <a:r>
              <a:rPr lang="en-US" sz="1100" dirty="0">
                <a:solidFill>
                  <a:srgbClr val="8FA3BC"/>
                </a:solidFill>
                <a:latin typeface="Calibri" pitchFamily="34" charset="0"/>
                <a:ea typeface="Calibri" pitchFamily="34" charset="-122"/>
                <a:cs typeface="Calibri" pitchFamily="34" charset="-120"/>
              </a:rPr>
              <a:t>human in the loop</a:t>
            </a:r>
            <a:endParaRPr lang="en-US" sz="1100" dirty="0"/>
          </a:p>
        </p:txBody>
      </p:sp>
      <p:sp>
        <p:nvSpPr>
          <p:cNvPr id="18" name="Text 16"/>
          <p:cNvSpPr txBox="1"/>
          <p:nvPr/>
        </p:nvSpPr>
        <p:spPr>
          <a:xfrm>
            <a:off x="548640" y="6035040"/>
            <a:ext cx="6400800" cy="365760"/>
          </a:xfrm>
          <a:prstGeom prst="rect">
            <a:avLst/>
          </a:prstGeom>
          <a:noFill/>
          <a:ln/>
        </p:spPr>
        <p:txBody>
          <a:bodyPr wrap="square" lIns="0" tIns="0" rIns="0" bIns="0" rtlCol="0" anchor="t"/>
          <a:lstStyle/>
          <a:p>
            <a:pPr marL="0" indent="0">
              <a:buNone/>
            </a:pPr>
            <a:r>
              <a:rPr lang="en-US" sz="1600" b="1" kern="0" spc="400" dirty="0">
                <a:solidFill>
                  <a:srgbClr val="E6EEF8"/>
                </a:solidFill>
                <a:latin typeface="Calibri" pitchFamily="34" charset="0"/>
                <a:ea typeface="Calibri" pitchFamily="34" charset="-122"/>
                <a:cs typeface="Calibri" pitchFamily="34" charset="-120"/>
              </a:rPr>
              <a:t>THANK </a:t>
            </a:r>
            <a:r>
              <a:rPr lang="en-US" sz="1600" b="1" kern="0" spc="400" dirty="0" smtClean="0">
                <a:solidFill>
                  <a:srgbClr val="E6EEF8"/>
                </a:solidFill>
                <a:latin typeface="Calibri" pitchFamily="34" charset="0"/>
                <a:ea typeface="Calibri" pitchFamily="34" charset="-122"/>
                <a:cs typeface="Calibri" pitchFamily="34" charset="-120"/>
              </a:rPr>
              <a:t>YOU !!</a:t>
            </a:r>
            <a:endParaRPr lang="en-US" sz="16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LUTO HUD">
  <a:themeElements>
    <a:clrScheme name="PLUTO HUD">
      <a:dk1>
        <a:srgbClr val="0A1220"/>
      </a:dk1>
      <a:lt1>
        <a:srgbClr val="E6EEF8"/>
      </a:lt1>
      <a:dk2>
        <a:srgbClr val="101C30"/>
      </a:dk2>
      <a:lt2>
        <a:srgbClr val="8FA3BC"/>
      </a:lt2>
      <a:accent1>
        <a:srgbClr val="2EA8FF"/>
      </a:accent1>
      <a:accent2>
        <a:srgbClr val="5FB8B0"/>
      </a:accent2>
      <a:accent3>
        <a:srgbClr val="C9A24B"/>
      </a:accent3>
      <a:accent4>
        <a:srgbClr val="12203A"/>
      </a:accent4>
      <a:accent5>
        <a:srgbClr val="3D5A80"/>
      </a:accent5>
      <a:accent6>
        <a:srgbClr val="FF6B5E"/>
      </a:accent6>
      <a:hlink>
        <a:srgbClr val="2EA8FF"/>
      </a:hlink>
      <a:folHlink>
        <a:srgbClr val="8FA3BC"/>
      </a:folHlink>
    </a:clrScheme>
    <a:fontScheme name="PLUTO HUD">
      <a:majorFont>
        <a:latin typeface="Arial Narr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TotalTime>
  <Words>2159</Words>
  <Application>Microsoft Office PowerPoint</Application>
  <PresentationFormat>Widescreen</PresentationFormat>
  <Paragraphs>380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Arial Narrow</vt:lpstr>
      <vt:lpstr>Calibri</vt:lpstr>
      <vt:lpstr>PLUTO HUD</vt:lpstr>
      <vt:lpstr>PowerPoint Presentation</vt:lpstr>
      <vt:lpstr>SOME PLACES ARE HARD TO SEE INTO</vt:lpstr>
      <vt:lpstr>A ROBO SCOUT THAT GOES FIRST</vt:lpstr>
      <vt:lpstr>LEGS: A CHOICE WITH A COST</vt:lpstr>
      <vt:lpstr>WORKING BEHIND THE VOICE COMMANDS</vt:lpstr>
      <vt:lpstr>THE CHALLENGE IS COORDINATION</vt:lpstr>
      <vt:lpstr>THREE PARTS, THREE CLEAR JOBS</vt:lpstr>
      <vt:lpstr>WALKING IN DIAGONAL PAIRS</vt:lpstr>
      <vt:lpstr>PRESENTING PLUTO: A SCOUT BOT</vt:lpstr>
      <vt:lpstr>TURNING COMMAND TO MOTION</vt:lpstr>
      <vt:lpstr>PROPOSED: GIVE PLUTO SENSES</vt:lpstr>
      <vt:lpstr>WHERE IT COULD BE USEFUL</vt:lpstr>
      <vt:lpstr>REALISTIC BECAUSE IT IS INCREMENTAL</vt:lpstr>
      <vt:lpstr>THREE PHASES, ONE DIRECTION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PLUTO / RoboDog</dc:title>
  <dc:subject>PptxGenJS Presentation</dc:subject>
  <dc:creator>Team PLUTON, ROBOCLUB</dc:creator>
  <cp:lastModifiedBy>Admin</cp:lastModifiedBy>
  <cp:revision>21</cp:revision>
  <dcterms:created xsi:type="dcterms:W3CDTF">2026-10-02T19:24:44Z</dcterms:created>
  <dcterms:modified xsi:type="dcterms:W3CDTF">2026-10-03T09:01:20Z</dcterms:modified>
</cp:coreProperties>
</file>